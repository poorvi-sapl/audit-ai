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71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475488" y="19385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System Design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" y="2432304"/>
            <a:ext cx="47548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968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SOP-driven architecture  ·  3-stage fine-tuning  ·  RAG knowledge base  ·  Math library  ·  Workpaper classification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Technical Documentation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02336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32588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AuditAI is and the problem it solves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01952"/>
            <a:ext cx="402336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01952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9476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 Architecture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17627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document feeds fine-tuning, RAG, and math engine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23744"/>
            <a:ext cx="402336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56946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Engagement Schema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279806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client types, three fields, all combinations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45536"/>
            <a:ext cx="402336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4553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31912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 Classification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41985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at upload, 8 workpaper types confirmed by audit team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67328"/>
            <a:ext cx="402336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67328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81304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Fine-Tuning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1248" y="404164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→ audit domain → firm-specific (SOP-driven)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389120"/>
            <a:ext cx="402336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8912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443484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466344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store, SOP retrieval, context injection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1280160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1280160"/>
            <a:ext cx="402336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28016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132588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 &amp; Tools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03520" y="155448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TOOL_MANIFEST, materiality engine, SOP-defined formulas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28032" y="1901952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28032" y="1901952"/>
            <a:ext cx="402336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1901952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19476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End to End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03520" y="217627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 upload to AI output, every step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28032" y="2523744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28032" y="2523744"/>
            <a:ext cx="402336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523744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256946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303520" y="279806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engagements, workpapers, findings tables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28032" y="3145536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28032" y="3145536"/>
            <a:ext cx="40233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14553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31912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Sign-off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303520" y="341985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 and the QC Partner gate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28032" y="3767328"/>
            <a:ext cx="422452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28032" y="3767328"/>
            <a:ext cx="40233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767328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381304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303520" y="404164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A→E execution sequence and dependencies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AuditAI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04164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04164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auditors spend hours reviewing documents that follow predictable patterns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2494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calculations done manually and inconsistently across engagements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761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documentation and SEFA schedules require deep domain knowledge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tool understands GAAS, GAGAS, and Uniform Guidance simultaneously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37856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Firm-specific templates and house style not captured by generic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2062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171907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SOP-Driven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9744" y="19385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manual drives fine-tuning, RAG retrieval, and math calculations simultaneously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9744" y="228600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250545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training on AICPA, Yellow Book, Uniform Guidance, HCLLP templates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28529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30723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 retrieves precise guidance per workpaper type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34198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9744" y="363931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materiality, SEFA totals, questioned costs with Partner-approved thresholds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9744" y="39867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QC-Gated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42062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calculation thresholds require QC Partner sign-off before deployment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SOP DOCUMENT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document. Three jobs. Source of truth for the whole system.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is the firm's audit manual — every procedure, formula, and threshold in one place. AuditAI reads it three different ways, each serving a different part of the system.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01568" y="1682496"/>
            <a:ext cx="2432304" cy="621792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01568" y="1682496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SOP Document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99032" y="2322576"/>
            <a:ext cx="64373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9032" y="2322576"/>
            <a:ext cx="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016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2322576"/>
            <a:ext cx="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36408" y="2322576"/>
            <a:ext cx="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468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24688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83464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346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8529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163823"/>
            <a:ext cx="2249424" cy="219455"/>
          </a:xfrm>
          <a:prstGeom prst="roundRect">
            <a:avLst>
              <a:gd name="adj" fmla="val 20833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82296" y="316714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— baked in during training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564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teaches the model WHAT procedure to follow per workpaper type. Baked into model weights during Stage 2 and Stage 3 training.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4370832"/>
            <a:ext cx="228600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4370832"/>
            <a:ext cx="226771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sections → training examples → model weights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1568" y="2743200"/>
            <a:ext cx="2468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01568" y="2743200"/>
            <a:ext cx="24688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1296" y="283464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28346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77056" y="28529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11296" y="3163824"/>
            <a:ext cx="2249424" cy="246888"/>
          </a:xfrm>
          <a:prstGeom prst="roundRect">
            <a:avLst>
              <a:gd name="adj" fmla="val 208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2816145"/>
            <a:ext cx="2468880" cy="914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retrieved live at inference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11296" y="34564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is chunked and stored in Qdrant. When a procedure is ambiguous, the AI retrieves the relevant SOP section as live prompt context.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11296" y="4370832"/>
            <a:ext cx="228600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9584" y="4370832"/>
            <a:ext cx="226771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chunks → Qdrant index → top-k retrieval → prompt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37376" y="2743200"/>
            <a:ext cx="2468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37376" y="2743200"/>
            <a:ext cx="24688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47104" y="283464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28346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12864" y="285292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Engine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47104" y="3163824"/>
            <a:ext cx="2286000" cy="237744"/>
          </a:xfrm>
          <a:prstGeom prst="roundRect">
            <a:avLst>
              <a:gd name="adj" fmla="val 208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3186684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— defines calculation logic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47104" y="34564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defines the exact formulas and threshold logic. The math library code is a direct translation of the SOP's numerical procedures.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47104" y="4370832"/>
            <a:ext cx="2286000" cy="51206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4370832"/>
            <a:ext cx="226771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formulas → thresholds.yaml → materiality.py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CLIENT &amp; ENGAGEMENT SCHEMA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client types. Three fields. All combinations.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45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" y="1737360"/>
            <a:ext cx="21031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 NOT NULL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 |  Govt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286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accounting standard. NPO → FASB/GAAP. Govt → GASB. Every downstream calculation — including SOP formula selection — branches on this field.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7432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is_gagas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19856" y="1737360"/>
            <a:ext cx="21031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NOT NULL DEFAULT FALSE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19856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 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856" y="2286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Book applies. Always true for Govt. True for NPO only when they receive government grants. Controls which SOP sections the RAG retrieves.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7432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has_single_audit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45936" y="1737360"/>
            <a:ext cx="21031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NOT NULL DEFAULT FALSE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  false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45936" y="2286000"/>
            <a:ext cx="2542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expenditures exceed $750K. Triggers SEFA schedule, compliance tests, and OMB supplement workpapers.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813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real engagement combinations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987552" cy="2377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89888" y="4096512"/>
            <a:ext cx="1005840" cy="2377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89888" y="4096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is_gagas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32304" y="4096512"/>
            <a:ext cx="1024128" cy="2377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40965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has_single_audit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11296" y="4096512"/>
            <a:ext cx="1298448" cy="2377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409651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label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64608" y="4096512"/>
            <a:ext cx="3877056" cy="2377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09651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35254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3525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389888" y="4352544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44752" y="435254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32304" y="4352544"/>
            <a:ext cx="10241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7168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11296" y="4352544"/>
            <a:ext cx="12984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4352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NPO-GAAS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64608" y="4352544"/>
            <a:ext cx="3877056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435254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non-profit, AICPA GAAS only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553712"/>
            <a:ext cx="987552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5537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389888" y="4553712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44752" y="45537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432304" y="4553712"/>
            <a:ext cx="1024128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87168" y="4553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11296" y="4553712"/>
            <a:ext cx="1298448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NPO-GAGAS + SA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64608" y="4553712"/>
            <a:ext cx="3877056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455371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with federal grants — Yellow Book + Single Audit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754880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" y="475488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389888" y="4754880"/>
            <a:ext cx="10058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44752" y="475488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32304" y="4754880"/>
            <a:ext cx="10241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87168" y="4754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511296" y="4754880"/>
            <a:ext cx="12984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Govt-GAGAS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64608" y="4754880"/>
            <a:ext cx="3877056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9472" y="475488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audit under Yellow Book, no federal threshold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4956048"/>
            <a:ext cx="987552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49560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389888" y="4956048"/>
            <a:ext cx="10058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444752" y="495604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432304" y="4956048"/>
            <a:ext cx="1024128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87168" y="4956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511296" y="4956048"/>
            <a:ext cx="1298448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66160" y="49560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Govt-GAGAS + SA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64608" y="4956048"/>
            <a:ext cx="3877056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19472" y="4956048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under Yellow Book plus Single Audit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WORKPAPER CLASSIFICATION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one label. The label drives everything.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3716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labels collected at upload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1755648"/>
            <a:ext cx="256032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label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· ALG · GAAS · GAGAS · SA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2340864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331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" y="2523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Excel · Word · Any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292608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916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sensitivity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3108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· Time static · Time sensitive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" y="3511296"/>
            <a:ext cx="25603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35021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 type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· HCLLP · PPC · Letter · Confirmation · AP · TW · Supporting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" y="4096512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40873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phase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Risk assessment · Materiality · FS section · IC · 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280160"/>
            <a:ext cx="429768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0016" y="137160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 type — confirmed by audit 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0016" y="177393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1773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3248" y="175564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Client — client-provided document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0016" y="215341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1534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13248" y="213512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Harshwal — auditor-created workpaper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0016" y="2532888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2532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13248" y="251460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Publishing Company template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291236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29123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13248" y="2894076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letters — rep letter, engagement letter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0016" y="329184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3291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13248" y="3273552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balance confirmation documents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0016" y="36713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36713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13248" y="365302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 — step-by-step procedures checklist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0016" y="405079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0016" y="4050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13248" y="403250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Workpaper — working calculations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0016" y="4430268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44302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13248" y="44119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supporting documents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 TRAINING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Fine-Tuning — SOP drives Stage 2 and Stage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8503920" cy="420624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2618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92224" y="1261872"/>
            <a:ext cx="0" cy="420624"/>
          </a:xfrm>
          <a:prstGeom prst="line">
            <a:avLst/>
          </a:prstGeom>
          <a:noFill/>
          <a:ln w="9525">
            <a:solidFill>
              <a:srgbClr val="334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298448"/>
            <a:ext cx="6821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defines WHAT procedures the model learns in Stage 2 and the firm-specific rules it learns in Stage 3. Without the SOP, fine-tuning produces a generic model. With it, the model knows exactly how HCLLP audits.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279806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810512"/>
            <a:ext cx="2798064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92024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1929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1945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5786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 starting point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0358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English, reasoning, documents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4930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domain knowledge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9502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not yet involved at this stage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645152"/>
            <a:ext cx="279806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64515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not involved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63824" y="3108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10128" y="1810512"/>
            <a:ext cx="279806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1810512"/>
            <a:ext cx="27980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8144" y="192024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59936" y="1929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38144" y="21945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Domain Fine-Tune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38144" y="25786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procedures translated to training examples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8144" y="30358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AICPA standards, Yellow Book, Uniform Guidance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38144" y="34930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 Compliance Supplement requirements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38144" y="39502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GASB/FASB accounting guidance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4645152"/>
            <a:ext cx="2798064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464515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SOP → training examples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3108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72784" y="1810512"/>
            <a:ext cx="279806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72784" y="1810512"/>
            <a:ext cx="2798064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192024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22592" y="1929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Firm-Specific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21945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Fine-Tune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25786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firm-specific rules baked into weights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0358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house style and workpaper formats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0" y="34930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NPO and Govt engagement patterns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39502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/ HCLLP / PPC template formats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72784" y="4645152"/>
            <a:ext cx="2798064" cy="2011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464515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SOP → firm patterns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RAG KNOWLEDGE BASE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SOP stored and retrieved at runtime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0F204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896" y="1280160"/>
            <a:ext cx="1280160" cy="5486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09344" y="16459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55648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280160"/>
            <a:ext cx="12801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55648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label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54096" y="16459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80160"/>
            <a:ext cx="1280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16459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45152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1280160"/>
            <a:ext cx="1280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45152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+ regs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16459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9904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1280160"/>
            <a:ext cx="1280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9904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88352" y="16459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34656" y="1280160"/>
            <a:ext cx="1280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34656" y="1280160"/>
            <a:ext cx="1280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34656" y="1627632"/>
            <a:ext cx="12801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2395728"/>
            <a:ext cx="4078224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395728"/>
            <a:ext cx="54864" cy="2450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48716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 Qdrant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" y="2761488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is the first document chunked and indexed. Every other regulation sits alongside it. When a workpaper is processed, chunks from all sources compete — the most relevant wins.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0352" y="3328416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3284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HCLLP SOP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63040" y="332841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Firm's own audit procedures — first source queried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3639312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6393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AICPA GAAS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63040" y="36393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AU-C sections, attestation standards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0352" y="3950208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950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GAGAS YB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463040" y="395020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Book independence and reporting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" y="426110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2611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📙 Uniform Guidance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463040" y="426110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CFR 200 procurement and compliance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0352" y="4572000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45720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OMB Supplement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463040" y="457200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Program-by-program testing reference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45152" y="2395728"/>
            <a:ext cx="4224528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45152" y="2395728"/>
            <a:ext cx="54864" cy="2450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248716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Filter Logic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09744" y="276148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filters narrow the retrieval. Everything else — including SOP sections and regulation chunks — competes on semantic similarity alone.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809744" y="3310128"/>
            <a:ext cx="969264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331012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workpaper_type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33872" y="33101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the correct guidance category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09744" y="3712464"/>
            <a:ext cx="969264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9744" y="3712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33872" y="371246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current regulation version is used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09744" y="4114800"/>
            <a:ext cx="969264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9744" y="411480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subtype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33872" y="411480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districts use same GASB chunks as Govt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MATH LIBRARY &amp; TOOL_MANIFEST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routing — SOP defines what each tool calculates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8503920" cy="402336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261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→ thresholds.yaml → math library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9504" y="1261872"/>
            <a:ext cx="0" cy="402336"/>
          </a:xfrm>
          <a:prstGeom prst="line">
            <a:avLst/>
          </a:prstGeom>
          <a:noFill/>
          <a:ln w="9525">
            <a:solidFill>
              <a:srgbClr val="334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298448"/>
            <a:ext cx="570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specifies each calculation's formula, base, and thresholds. These are codified in thresholds.yaml by the QC Partner and read by the math library at runtime.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145536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47872" y="1737360"/>
            <a:ext cx="5321808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73736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run (SOP-derived calculation functions)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314553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1680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· trial_balance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47872" y="2011680"/>
            <a:ext cx="5321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011680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materiality_checker   ·   account_tieout_tool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3145536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0008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(audit program)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47872" y="2350008"/>
            <a:ext cx="532180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2350008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risk_summarizer   ·   procedure_completeness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314553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88336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47872" y="2688336"/>
            <a:ext cx="5321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2688336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confirmation_diff_checker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26664"/>
            <a:ext cx="3145536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26664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· bank rec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47872" y="3026664"/>
            <a:ext cx="532180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3026664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reconciliation_diff_checker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364992"/>
            <a:ext cx="314553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64992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· sefa_schedule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47872" y="3364992"/>
            <a:ext cx="5321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36499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program_completeness_tool   ·   cfda_validator   ·   threshold_checker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3145536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03320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· finding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47872" y="3703320"/>
            <a:ext cx="532180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3703320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finding_structure_checker   ·   questioned_costs_calculator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314553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041648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(rep letter)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47872" y="4041648"/>
            <a:ext cx="5321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9312" y="4041648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representation_completeness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379976"/>
            <a:ext cx="3145536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79976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547872" y="4379976"/>
            <a:ext cx="532180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379976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— no tools, passed to LLM with SOP context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8503920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materiality_checker reads thresholds.yaml (QC Partner–approved, SOP-derived values) → branches on client_type → flags accounts above threshold → passes to LLM as facts.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 FLOW END TO 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 upload to AI output — every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35024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35024"/>
            <a:ext cx="347472" cy="78638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35024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426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uploads file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168249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applied: workpaper_type, framework, phase, time_sensitivity, file_format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35024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35024"/>
            <a:ext cx="347472" cy="78638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35024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1426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ingests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5232" y="168249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engagement_labels.csv validates type. DB stores to workpapers table with engagement FK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31136"/>
            <a:ext cx="347472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32257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reads AuditState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2578608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client_type, is_gagas, has_single_audit from engagements table into routing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31136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31136"/>
            <a:ext cx="347472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31136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32257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lookup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578608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workpaper_type → tool list. Each SOP-derived tool called with full AuditState context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27248"/>
            <a:ext cx="34747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27248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" y="321868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 executes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3474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materiality_checker reads thresholds.yaml (SOP-derived) → computes thresholds per client_type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27248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127248"/>
            <a:ext cx="34747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27248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321868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fires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85232" y="3474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queried on workpaper_type + year. SOP chunks + regulation chunks returned as context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023360"/>
            <a:ext cx="347472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23360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" y="411480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4672" y="4370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+ SOP/regulation chunks + workpaper content injected into prompt template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023360"/>
            <a:ext cx="424281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23360"/>
            <a:ext cx="347472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23360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411480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output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85232" y="4370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 (SOP-trained) produces review, flagged items, and suggested findings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DATABASE SCHEMA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tables — engagements, workpapers,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1280160"/>
            <a:ext cx="2798064" cy="31089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80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" y="1609344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0934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35024" y="160934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" y="1947672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94767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35024" y="194767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" y="2286000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28600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35024" y="228600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 NOT NULL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8608" y="2286000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| Govt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9184" y="2624328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62432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is_gagas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35024" y="2624328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NOT NULL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78608" y="2624328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Book applies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" y="2962656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96265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has_single_audit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35024" y="2962656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NOT NULL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78608" y="2962656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threshold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9184" y="3300984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30098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other_subtype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35024" y="330098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 NULLABLE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3300984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districts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9184" y="3639312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63931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35024" y="363931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" y="3977640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97764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35024" y="397764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1280160"/>
            <a:ext cx="279806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1280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10128" y="1609344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160934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15968" y="160934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10128" y="1947672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194767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engagement_id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15968" y="194767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FK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59552" y="1947672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10128" y="2286000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228600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workpaper_type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15968" y="228600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ENUM(8 types)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59552" y="2286000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PBC|HCLLP|PPC|...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10128" y="2624328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1568" y="262432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framework_label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315968" y="2624328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59552" y="2624328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NPO|ALG|GAAS|...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10128" y="2962656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1568" y="296265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audit_phase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15968" y="2962656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59552" y="2962656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from PM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310128" y="3300984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01568" y="330098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time_sensitivity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315968" y="330098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559552" y="3300984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Timeless|Static|...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310128" y="3639312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01568" y="363931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file_format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315968" y="363931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559552" y="3639312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PDF|Excel|Word|Any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310128" y="3977640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01568" y="397764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file_path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15968" y="397764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91072" y="1280160"/>
            <a:ext cx="2798064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82512" y="1280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291072" y="1609344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160934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296912" y="160934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291072" y="1947672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194767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engagement_id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296912" y="194767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FK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540496" y="1947672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291072" y="2286000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82512" y="228600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workpaper_id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296912" y="228600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FK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540496" y="2286000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workpapers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291072" y="2624328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82512" y="262432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finding_ref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296912" y="2624328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540496" y="2624328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2024-001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291072" y="2962656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82512" y="296265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finding_type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296912" y="2962656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540496" y="2962656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weakness...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291072" y="3300984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82512" y="330098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296912" y="330098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91072" y="3639312"/>
            <a:ext cx="279806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82512" y="363931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296912" y="3639312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91072" y="3977640"/>
            <a:ext cx="2798064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82512" y="397764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296912" y="3977640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29184" y="4846320"/>
            <a:ext cx="8540496" cy="201168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0624" y="4846320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engagement_type ENUM · jurisdiction · currency columns  (India/ICAI-SA out of scope — always US/USD)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CONFIGURATION &amp; SIGN-OFF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 — SOP thresholds codified, QC Partner approved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395020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3584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1008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config system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6362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→ yaml → math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938529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defines the formula logic. The QC Partner translates the SOP's threshold values into thresholds.yaml. The math library reads the yaml at runtime.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34086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controls everything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420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materiality percentages across all engagements come from this single file. Change it once — it applies everywhere.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90779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null gate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10896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ship as null. materiality_checker raises a ValueError if any value is still null — calculation is blocked until the Partner signs off.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67588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git commit — timestamped, attributed, and available for peer review.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404164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Change-controlled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24281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changes when the QC Partner makes a deliberate update. Never edited casually or by a developer.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280160"/>
            <a:ext cx="4389120" cy="3584448"/>
          </a:xfrm>
          <a:prstGeom prst="rect">
            <a:avLst/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1371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6864" y="19659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 SOP-defined values — QC Partner sign-off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221284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npo: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6864" y="245973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base: total_expenses  # per SOP section 4.2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6864" y="2706624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planning_pct: null    # FILL IN — QC Partner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26864" y="295351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performance_pct: null # FILL IN — QC Partner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20040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trivial_pct: null     # FILL IN — QC Partner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26864" y="344728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govt: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26864" y="369417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base: revenues_or_exp_larger  # GASB standard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26864" y="3941064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planning_pct: null    # FILL IN — QC Partner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418795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performance_pct: null # FILL IN — QC Partner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26864" y="443484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trivial_pct: null     # FILL IN — QC Partner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919472"/>
            <a:ext cx="8503920" cy="164592"/>
          </a:xfrm>
          <a:prstGeom prst="rect">
            <a:avLst/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9194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SOP defines logic  →  QC Partner approves values  →  null → filled  →  git commit  →  system unlocks  →  Phase 1 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EXECUTION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A→E — ordered by dependency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16736"/>
            <a:ext cx="1664208" cy="3493008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16736"/>
            <a:ext cx="166420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Removal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0665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ICAI-SA from ENUM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jurisdiction &amp; currency columns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india: from thresholds.yaml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36027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M-11 Hindi OCR out of scope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411480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training tracks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48256" y="1316736"/>
            <a:ext cx="1664208" cy="34930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1316736"/>
            <a:ext cx="16642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39696" y="14996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Restructure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57984" y="173736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17373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9696" y="20665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client_type, is_gagas,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has_single_audit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39696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other_subtype VARCHAR(50)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30906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engagement_type column entirely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36027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AuditState fields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11480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call sites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1316736"/>
            <a:ext cx="1664208" cy="34930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1316736"/>
            <a:ext cx="16642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14996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Fix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58768" y="173736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58768" y="17373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20665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sefa → sefa_schedule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finding → finding_documentation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0" y="30906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planning → planning_document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0" y="36027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final_report to ENUM + manifest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0" y="411480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commit for all changes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49824" y="1316736"/>
            <a:ext cx="1664208" cy="34930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9824" y="1316736"/>
            <a:ext cx="166420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41264" y="14996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Config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59552" y="173736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17373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41264" y="20665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YAML to NPO + Govt only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41264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materiality.py signature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41264" y="30906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tabs from sign-off HTML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41264" y="36027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QC Partner review session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50608" y="1316736"/>
            <a:ext cx="1664208" cy="34930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0608" y="1316736"/>
            <a:ext cx="166420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42048" y="14996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Phases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260336" y="1737360"/>
            <a:ext cx="1444752" cy="219456"/>
          </a:xfrm>
          <a:prstGeom prst="roundRect">
            <a:avLst>
              <a:gd name="adj" fmla="val 20833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0336" y="17373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PM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42048" y="20665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complete phase list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42048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guess the ENUM values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242048" y="309067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full ordered list from audit team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42048" y="36027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ENUM only when confirmed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7472" y="4882896"/>
            <a:ext cx="850392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48828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run in the same session  ·  D takes 15 min after B  ·  E blocked until audit team delivers the complete phase list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321040" y="48920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42032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7772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— one SOP,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engines.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0720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0358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drives fine-tuning training, RAG retrieval, and math library formulas simultaneously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419856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4838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7124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training: general → audit domain (SOP-taught) → HCLLP firm-specific (SOP patterns)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96512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16052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43891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 — SOP chunks + GAAS, GAGAS, Uniform Guidance, GASB/FASB retrieved at inference 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74320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743200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80720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30358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maps 8 workpaper types to SOP-derived calculation functions per client_type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4198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419856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4838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37124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 + is_gagas + has_single_audit covers all real NPO and Govt engagement combinations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40965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4096512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416052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Gate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43891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 — all-null values force QC Partner sign-off before deployment; SOP values codified here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  ·  AuditAI  ·  Internal Technical Documentation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2497</Words>
  <Application>Microsoft Office PowerPoint</Application>
  <PresentationFormat>On-screen Show (16:9)</PresentationFormat>
  <Paragraphs>459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AuditAI — Technical Architecture</dc:title>
  <dc:subject>PptxGenJS Presentation</dc:subject>
  <dc:creator>PptxGenJS</dc:creator>
  <cp:lastModifiedBy>Poorvi Yadav</cp:lastModifiedBy>
  <cp:revision>2</cp:revision>
  <dcterms:created xsi:type="dcterms:W3CDTF">2026-04-30T09:57:10Z</dcterms:created>
  <dcterms:modified xsi:type="dcterms:W3CDTF">2026-04-30T10:26:20Z</dcterms:modified>
</cp:coreProperties>
</file>