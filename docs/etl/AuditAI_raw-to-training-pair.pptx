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7C7B"/>
          </a:solidFill>
          <a:ln w="12700">
            <a:solidFill>
              <a:srgbClr val="0E7C7B"/>
            </a:solidFill>
            <a:prstDash val="solid"/>
          </a:ln>
        </p:spPr>
      </p:sp>
      <p:sp>
        <p:nvSpPr>
          <p:cNvPr id="3" name="Shape 1"/>
          <p:cNvSpPr/>
          <p:nvPr/>
        </p:nvSpPr>
        <p:spPr>
          <a:xfrm>
            <a:off x="6858000" y="0"/>
            <a:ext cx="2286000" cy="5143500"/>
          </a:xfrm>
          <a:prstGeom prst="rect">
            <a:avLst/>
          </a:prstGeom>
          <a:solidFill>
            <a:srgbClr val="161B22"/>
          </a:solidFill>
          <a:ln w="12700">
            <a:solidFill>
              <a:srgbClr val="161B22"/>
            </a:solidFill>
            <a:prstDash val="solid"/>
          </a:ln>
        </p:spPr>
      </p:sp>
      <p:pic>
        <p:nvPicPr>
          <p:cNvPr id="4" name="Image 0" descr="preencoded.png">    </p:cNvPr>
          <p:cNvPicPr>
            <a:picLocks noChangeAspect="1"/>
          </p:cNvPicPr>
          <p:nvPr/>
        </p:nvPicPr>
        <p:blipFill>
          <a:blip r:embed="rId1"/>
          <a:stretch>
            <a:fillRect/>
          </a:stretch>
        </p:blipFill>
        <p:spPr>
          <a:xfrm>
            <a:off x="7406640" y="502920"/>
            <a:ext cx="502920" cy="502920"/>
          </a:xfrm>
          <a:prstGeom prst="rect">
            <a:avLst/>
          </a:prstGeom>
        </p:spPr>
      </p:pic>
      <p:pic>
        <p:nvPicPr>
          <p:cNvPr id="5" name="Image 1" descr="preencoded.png">    </p:cNvPr>
          <p:cNvPicPr>
            <a:picLocks noChangeAspect="1"/>
          </p:cNvPicPr>
          <p:nvPr/>
        </p:nvPicPr>
        <p:blipFill>
          <a:blip r:embed="rId2"/>
          <a:stretch>
            <a:fillRect/>
          </a:stretch>
        </p:blipFill>
        <p:spPr>
          <a:xfrm>
            <a:off x="7406640" y="1618488"/>
            <a:ext cx="502920" cy="502920"/>
          </a:xfrm>
          <a:prstGeom prst="rect">
            <a:avLst/>
          </a:prstGeom>
        </p:spPr>
      </p:pic>
      <p:pic>
        <p:nvPicPr>
          <p:cNvPr id="6" name="Image 2" descr="preencoded.png">    </p:cNvPr>
          <p:cNvPicPr>
            <a:picLocks noChangeAspect="1"/>
          </p:cNvPicPr>
          <p:nvPr/>
        </p:nvPicPr>
        <p:blipFill>
          <a:blip r:embed="rId3"/>
          <a:stretch>
            <a:fillRect/>
          </a:stretch>
        </p:blipFill>
        <p:spPr>
          <a:xfrm>
            <a:off x="7406640" y="2734056"/>
            <a:ext cx="502920" cy="502920"/>
          </a:xfrm>
          <a:prstGeom prst="rect">
            <a:avLst/>
          </a:prstGeom>
        </p:spPr>
      </p:pic>
      <p:pic>
        <p:nvPicPr>
          <p:cNvPr id="7" name="Image 3" descr="preencoded.png">    </p:cNvPr>
          <p:cNvPicPr>
            <a:picLocks noChangeAspect="1"/>
          </p:cNvPicPr>
          <p:nvPr/>
        </p:nvPicPr>
        <p:blipFill>
          <a:blip r:embed="rId4"/>
          <a:stretch>
            <a:fillRect/>
          </a:stretch>
        </p:blipFill>
        <p:spPr>
          <a:xfrm>
            <a:off x="7406640" y="3849624"/>
            <a:ext cx="502920" cy="502920"/>
          </a:xfrm>
          <a:prstGeom prst="rect">
            <a:avLst/>
          </a:prstGeom>
        </p:spPr>
      </p:pic>
      <p:sp>
        <p:nvSpPr>
          <p:cNvPr id="8" name="Text 2"/>
          <p:cNvSpPr/>
          <p:nvPr/>
        </p:nvSpPr>
        <p:spPr>
          <a:xfrm>
            <a:off x="7086600" y="1024128"/>
            <a:ext cx="1920240" cy="201168"/>
          </a:xfrm>
          <a:prstGeom prst="rect">
            <a:avLst/>
          </a:prstGeom>
          <a:noFill/>
          <a:ln/>
        </p:spPr>
        <p:txBody>
          <a:bodyPr wrap="square" lIns="0" tIns="0" rIns="0" bIns="0" rtlCol="0" anchor="ctr"/>
          <a:lstStyle/>
          <a:p>
            <a:pPr algn="ctr" indent="0" marL="0">
              <a:buNone/>
            </a:pPr>
            <a:r>
              <a:rPr lang="en-US" sz="900" dirty="0">
                <a:solidFill>
                  <a:srgbClr val="6B8BA4"/>
                </a:solidFill>
                <a:latin typeface="Calibri" pitchFamily="34" charset="0"/>
                <a:ea typeface="Calibri" pitchFamily="34" charset="-122"/>
                <a:cs typeface="Calibri" pitchFamily="34" charset="-120"/>
              </a:rPr>
              <a:t>Raw workpaper</a:t>
            </a:r>
            <a:endParaRPr lang="en-US" sz="900" dirty="0"/>
          </a:p>
        </p:txBody>
      </p:sp>
      <p:sp>
        <p:nvSpPr>
          <p:cNvPr id="9" name="Text 3"/>
          <p:cNvSpPr/>
          <p:nvPr/>
        </p:nvSpPr>
        <p:spPr>
          <a:xfrm>
            <a:off x="7086600" y="2139696"/>
            <a:ext cx="1920240" cy="201168"/>
          </a:xfrm>
          <a:prstGeom prst="rect">
            <a:avLst/>
          </a:prstGeom>
          <a:noFill/>
          <a:ln/>
        </p:spPr>
        <p:txBody>
          <a:bodyPr wrap="square" lIns="0" tIns="0" rIns="0" bIns="0" rtlCol="0" anchor="ctr"/>
          <a:lstStyle/>
          <a:p>
            <a:pPr algn="ctr" indent="0" marL="0">
              <a:buNone/>
            </a:pPr>
            <a:r>
              <a:rPr lang="en-US" sz="900" dirty="0">
                <a:solidFill>
                  <a:srgbClr val="6B8BA4"/>
                </a:solidFill>
                <a:latin typeface="Calibri" pitchFamily="34" charset="0"/>
                <a:ea typeface="Calibri" pitchFamily="34" charset="-122"/>
                <a:cs typeface="Calibri" pitchFamily="34" charset="-120"/>
              </a:rPr>
              <a:t>Format extract</a:t>
            </a:r>
            <a:endParaRPr lang="en-US" sz="900" dirty="0"/>
          </a:p>
        </p:txBody>
      </p:sp>
      <p:sp>
        <p:nvSpPr>
          <p:cNvPr id="10" name="Text 4"/>
          <p:cNvSpPr/>
          <p:nvPr/>
        </p:nvSpPr>
        <p:spPr>
          <a:xfrm>
            <a:off x="7086600" y="3255264"/>
            <a:ext cx="1920240" cy="201168"/>
          </a:xfrm>
          <a:prstGeom prst="rect">
            <a:avLst/>
          </a:prstGeom>
          <a:noFill/>
          <a:ln/>
        </p:spPr>
        <p:txBody>
          <a:bodyPr wrap="square" lIns="0" tIns="0" rIns="0" bIns="0" rtlCol="0" anchor="ctr"/>
          <a:lstStyle/>
          <a:p>
            <a:pPr algn="ctr" indent="0" marL="0">
              <a:buNone/>
            </a:pPr>
            <a:r>
              <a:rPr lang="en-US" sz="900" dirty="0">
                <a:solidFill>
                  <a:srgbClr val="6B8BA4"/>
                </a:solidFill>
                <a:latin typeface="Calibri" pitchFamily="34" charset="0"/>
                <a:ea typeface="Calibri" pitchFamily="34" charset="-122"/>
                <a:cs typeface="Calibri" pitchFamily="34" charset="-120"/>
              </a:rPr>
              <a:t>Local LLM</a:t>
            </a:r>
            <a:endParaRPr lang="en-US" sz="900" dirty="0"/>
          </a:p>
        </p:txBody>
      </p:sp>
      <p:sp>
        <p:nvSpPr>
          <p:cNvPr id="11" name="Text 5"/>
          <p:cNvSpPr/>
          <p:nvPr/>
        </p:nvSpPr>
        <p:spPr>
          <a:xfrm>
            <a:off x="7086600" y="4370832"/>
            <a:ext cx="1920240" cy="201168"/>
          </a:xfrm>
          <a:prstGeom prst="rect">
            <a:avLst/>
          </a:prstGeom>
          <a:noFill/>
          <a:ln/>
        </p:spPr>
        <p:txBody>
          <a:bodyPr wrap="square" lIns="0" tIns="0" rIns="0" bIns="0" rtlCol="0" anchor="ctr"/>
          <a:lstStyle/>
          <a:p>
            <a:pPr algn="ctr" indent="0" marL="0">
              <a:buNone/>
            </a:pPr>
            <a:r>
              <a:rPr lang="en-US" sz="900" dirty="0">
                <a:solidFill>
                  <a:srgbClr val="6B8BA4"/>
                </a:solidFill>
                <a:latin typeface="Calibri" pitchFamily="34" charset="0"/>
                <a:ea typeface="Calibri" pitchFamily="34" charset="-122"/>
                <a:cs typeface="Calibri" pitchFamily="34" charset="-120"/>
              </a:rPr>
              <a:t>JSONL pair</a:t>
            </a:r>
            <a:endParaRPr lang="en-US" sz="900" dirty="0"/>
          </a:p>
        </p:txBody>
      </p:sp>
      <p:sp>
        <p:nvSpPr>
          <p:cNvPr id="12" name="Shape 6"/>
          <p:cNvSpPr/>
          <p:nvPr/>
        </p:nvSpPr>
        <p:spPr>
          <a:xfrm>
            <a:off x="7653528" y="1005840"/>
            <a:ext cx="18288" cy="621792"/>
          </a:xfrm>
          <a:prstGeom prst="rect">
            <a:avLst/>
          </a:prstGeom>
          <a:solidFill>
            <a:srgbClr val="2D4A5A"/>
          </a:solidFill>
          <a:ln w="12700">
            <a:solidFill>
              <a:srgbClr val="2D4A5A"/>
            </a:solidFill>
            <a:prstDash val="solid"/>
          </a:ln>
        </p:spPr>
      </p:sp>
      <p:sp>
        <p:nvSpPr>
          <p:cNvPr id="13" name="Shape 7"/>
          <p:cNvSpPr/>
          <p:nvPr/>
        </p:nvSpPr>
        <p:spPr>
          <a:xfrm>
            <a:off x="7653528" y="2121408"/>
            <a:ext cx="18288" cy="621792"/>
          </a:xfrm>
          <a:prstGeom prst="rect">
            <a:avLst/>
          </a:prstGeom>
          <a:solidFill>
            <a:srgbClr val="2D4A5A"/>
          </a:solidFill>
          <a:ln w="12700">
            <a:solidFill>
              <a:srgbClr val="2D4A5A"/>
            </a:solidFill>
            <a:prstDash val="solid"/>
          </a:ln>
        </p:spPr>
      </p:sp>
      <p:sp>
        <p:nvSpPr>
          <p:cNvPr id="14" name="Shape 8"/>
          <p:cNvSpPr/>
          <p:nvPr/>
        </p:nvSpPr>
        <p:spPr>
          <a:xfrm>
            <a:off x="7653528" y="3236976"/>
            <a:ext cx="18288" cy="621792"/>
          </a:xfrm>
          <a:prstGeom prst="rect">
            <a:avLst/>
          </a:prstGeom>
          <a:solidFill>
            <a:srgbClr val="2D4A5A"/>
          </a:solidFill>
          <a:ln w="12700">
            <a:solidFill>
              <a:srgbClr val="2D4A5A"/>
            </a:solidFill>
            <a:prstDash val="solid"/>
          </a:ln>
        </p:spPr>
      </p:sp>
      <p:sp>
        <p:nvSpPr>
          <p:cNvPr id="15" name="Text 9"/>
          <p:cNvSpPr/>
          <p:nvPr/>
        </p:nvSpPr>
        <p:spPr>
          <a:xfrm>
            <a:off x="475488" y="640080"/>
            <a:ext cx="6217920" cy="64008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Raw Workpaper</a:t>
            </a:r>
            <a:endParaRPr lang="en-US" sz="4000" dirty="0"/>
          </a:p>
        </p:txBody>
      </p:sp>
      <p:sp>
        <p:nvSpPr>
          <p:cNvPr id="16" name="Text 10"/>
          <p:cNvSpPr/>
          <p:nvPr/>
        </p:nvSpPr>
        <p:spPr>
          <a:xfrm>
            <a:off x="475488" y="1261872"/>
            <a:ext cx="6217920" cy="512064"/>
          </a:xfrm>
          <a:prstGeom prst="rect">
            <a:avLst/>
          </a:prstGeom>
          <a:noFill/>
          <a:ln/>
        </p:spPr>
        <p:txBody>
          <a:bodyPr wrap="square" lIns="0" tIns="0" rIns="0" bIns="0" rtlCol="0" anchor="ctr"/>
          <a:lstStyle/>
          <a:p>
            <a:pPr indent="0" marL="0">
              <a:buNone/>
            </a:pPr>
            <a:r>
              <a:rPr lang="en-US" sz="3000" i="1" dirty="0">
                <a:solidFill>
                  <a:srgbClr val="1A9A9C"/>
                </a:solidFill>
                <a:latin typeface="Calibri" pitchFamily="34" charset="0"/>
                <a:ea typeface="Calibri" pitchFamily="34" charset="-122"/>
                <a:cs typeface="Calibri" pitchFamily="34" charset="-120"/>
              </a:rPr>
              <a:t>to Fine-Tuning Pair</a:t>
            </a:r>
            <a:endParaRPr lang="en-US" sz="3000" dirty="0"/>
          </a:p>
        </p:txBody>
      </p:sp>
      <p:sp>
        <p:nvSpPr>
          <p:cNvPr id="17" name="Shape 11"/>
          <p:cNvSpPr/>
          <p:nvPr/>
        </p:nvSpPr>
        <p:spPr>
          <a:xfrm>
            <a:off x="475488" y="1874520"/>
            <a:ext cx="6217920" cy="13716"/>
          </a:xfrm>
          <a:prstGeom prst="rect">
            <a:avLst/>
          </a:prstGeom>
          <a:solidFill>
            <a:srgbClr val="0E7C7B"/>
          </a:solidFill>
          <a:ln w="12700">
            <a:solidFill>
              <a:srgbClr val="0E7C7B"/>
            </a:solidFill>
            <a:prstDash val="solid"/>
          </a:ln>
        </p:spPr>
      </p:sp>
      <p:sp>
        <p:nvSpPr>
          <p:cNvPr id="18" name="Text 12"/>
          <p:cNvSpPr/>
          <p:nvPr/>
        </p:nvSpPr>
        <p:spPr>
          <a:xfrm>
            <a:off x="475488" y="1993392"/>
            <a:ext cx="6217920" cy="274320"/>
          </a:xfrm>
          <a:prstGeom prst="rect">
            <a:avLst/>
          </a:prstGeom>
          <a:noFill/>
          <a:ln/>
        </p:spPr>
        <p:txBody>
          <a:bodyPr wrap="square" lIns="0" tIns="0" rIns="0" bIns="0" rtlCol="0" anchor="ctr"/>
          <a:lstStyle/>
          <a:p>
            <a:pPr indent="0" marL="0">
              <a:buNone/>
            </a:pPr>
            <a:r>
              <a:rPr lang="en-US" sz="1300" dirty="0">
                <a:solidFill>
                  <a:srgbClr val="7B9EAE"/>
                </a:solidFill>
                <a:latin typeface="Calibri" pitchFamily="34" charset="0"/>
                <a:ea typeface="Calibri" pitchFamily="34" charset="-122"/>
                <a:cs typeface="Calibri" pitchFamily="34" charset="-120"/>
              </a:rPr>
              <a:t>End-to-end pipeline for AuditAI training data generation</a:t>
            </a:r>
            <a:endParaRPr lang="en-US" sz="1300" dirty="0"/>
          </a:p>
        </p:txBody>
      </p:sp>
      <p:sp>
        <p:nvSpPr>
          <p:cNvPr id="19" name="Shape 13"/>
          <p:cNvSpPr/>
          <p:nvPr/>
        </p:nvSpPr>
        <p:spPr>
          <a:xfrm>
            <a:off x="475488" y="2395728"/>
            <a:ext cx="1444752" cy="274320"/>
          </a:xfrm>
          <a:prstGeom prst="rect">
            <a:avLst/>
          </a:prstGeom>
          <a:solidFill>
            <a:srgbClr val="0A3040"/>
          </a:solidFill>
          <a:ln w="12700">
            <a:solidFill>
              <a:srgbClr val="0E7C7B"/>
            </a:solidFill>
            <a:prstDash val="solid"/>
          </a:ln>
        </p:spPr>
      </p:sp>
      <p:sp>
        <p:nvSpPr>
          <p:cNvPr id="20" name="Text 14"/>
          <p:cNvSpPr/>
          <p:nvPr/>
        </p:nvSpPr>
        <p:spPr>
          <a:xfrm>
            <a:off x="475488" y="2395728"/>
            <a:ext cx="1444752" cy="274320"/>
          </a:xfrm>
          <a:prstGeom prst="rect">
            <a:avLst/>
          </a:prstGeom>
          <a:noFill/>
          <a:ln/>
        </p:spPr>
        <p:txBody>
          <a:bodyPr wrap="square" lIns="0" tIns="0" rIns="0" bIns="0" rtlCol="0" anchor="ctr"/>
          <a:lstStyle/>
          <a:p>
            <a:pPr algn="ctr" indent="0" marL="0">
              <a:buNone/>
            </a:pPr>
            <a:r>
              <a:rPr lang="en-US" sz="850" dirty="0">
                <a:solidFill>
                  <a:srgbClr val="6BBFBF"/>
                </a:solidFill>
                <a:latin typeface="Calibri" pitchFamily="34" charset="0"/>
                <a:ea typeface="Calibri" pitchFamily="34" charset="-122"/>
                <a:cs typeface="Calibri" pitchFamily="34" charset="-120"/>
              </a:rPr>
              <a:t>Format routing</a:t>
            </a:r>
            <a:endParaRPr lang="en-US" sz="850" dirty="0"/>
          </a:p>
        </p:txBody>
      </p:sp>
      <p:sp>
        <p:nvSpPr>
          <p:cNvPr id="21" name="Shape 15"/>
          <p:cNvSpPr/>
          <p:nvPr/>
        </p:nvSpPr>
        <p:spPr>
          <a:xfrm>
            <a:off x="2048256" y="2395728"/>
            <a:ext cx="1444752" cy="274320"/>
          </a:xfrm>
          <a:prstGeom prst="rect">
            <a:avLst/>
          </a:prstGeom>
          <a:solidFill>
            <a:srgbClr val="0A3040"/>
          </a:solidFill>
          <a:ln w="12700">
            <a:solidFill>
              <a:srgbClr val="0E7C7B"/>
            </a:solidFill>
            <a:prstDash val="solid"/>
          </a:ln>
        </p:spPr>
      </p:sp>
      <p:sp>
        <p:nvSpPr>
          <p:cNvPr id="22" name="Text 16"/>
          <p:cNvSpPr/>
          <p:nvPr/>
        </p:nvSpPr>
        <p:spPr>
          <a:xfrm>
            <a:off x="2048256" y="2395728"/>
            <a:ext cx="1444752" cy="274320"/>
          </a:xfrm>
          <a:prstGeom prst="rect">
            <a:avLst/>
          </a:prstGeom>
          <a:noFill/>
          <a:ln/>
        </p:spPr>
        <p:txBody>
          <a:bodyPr wrap="square" lIns="0" tIns="0" rIns="0" bIns="0" rtlCol="0" anchor="ctr"/>
          <a:lstStyle/>
          <a:p>
            <a:pPr algn="ctr" indent="0" marL="0">
              <a:buNone/>
            </a:pPr>
            <a:r>
              <a:rPr lang="en-US" sz="850" dirty="0">
                <a:solidFill>
                  <a:srgbClr val="6BBFBF"/>
                </a:solidFill>
                <a:latin typeface="Calibri" pitchFamily="34" charset="0"/>
                <a:ea typeface="Calibri" pitchFamily="34" charset="-122"/>
                <a:cs typeface="Calibri" pitchFamily="34" charset="-120"/>
              </a:rPr>
              <a:t>Layer 1: Docling + Surya</a:t>
            </a:r>
            <a:endParaRPr lang="en-US" sz="850" dirty="0"/>
          </a:p>
        </p:txBody>
      </p:sp>
      <p:sp>
        <p:nvSpPr>
          <p:cNvPr id="23" name="Shape 17"/>
          <p:cNvSpPr/>
          <p:nvPr/>
        </p:nvSpPr>
        <p:spPr>
          <a:xfrm>
            <a:off x="3621024" y="2395728"/>
            <a:ext cx="1444752" cy="274320"/>
          </a:xfrm>
          <a:prstGeom prst="rect">
            <a:avLst/>
          </a:prstGeom>
          <a:solidFill>
            <a:srgbClr val="0A3040"/>
          </a:solidFill>
          <a:ln w="12700">
            <a:solidFill>
              <a:srgbClr val="0E7C7B"/>
            </a:solidFill>
            <a:prstDash val="solid"/>
          </a:ln>
        </p:spPr>
      </p:sp>
      <p:sp>
        <p:nvSpPr>
          <p:cNvPr id="24" name="Text 18"/>
          <p:cNvSpPr/>
          <p:nvPr/>
        </p:nvSpPr>
        <p:spPr>
          <a:xfrm>
            <a:off x="3621024" y="2395728"/>
            <a:ext cx="1444752" cy="274320"/>
          </a:xfrm>
          <a:prstGeom prst="rect">
            <a:avLst/>
          </a:prstGeom>
          <a:noFill/>
          <a:ln/>
        </p:spPr>
        <p:txBody>
          <a:bodyPr wrap="square" lIns="0" tIns="0" rIns="0" bIns="0" rtlCol="0" anchor="ctr"/>
          <a:lstStyle/>
          <a:p>
            <a:pPr algn="ctr" indent="0" marL="0">
              <a:buNone/>
            </a:pPr>
            <a:r>
              <a:rPr lang="en-US" sz="850" dirty="0">
                <a:solidFill>
                  <a:srgbClr val="6BBFBF"/>
                </a:solidFill>
                <a:latin typeface="Calibri" pitchFamily="34" charset="0"/>
                <a:ea typeface="Calibri" pitchFamily="34" charset="-122"/>
                <a:cs typeface="Calibri" pitchFamily="34" charset="-120"/>
              </a:rPr>
              <a:t>Data normalization</a:t>
            </a:r>
            <a:endParaRPr lang="en-US" sz="850" dirty="0"/>
          </a:p>
        </p:txBody>
      </p:sp>
      <p:sp>
        <p:nvSpPr>
          <p:cNvPr id="25" name="Shape 19"/>
          <p:cNvSpPr/>
          <p:nvPr/>
        </p:nvSpPr>
        <p:spPr>
          <a:xfrm>
            <a:off x="5193792" y="2395728"/>
            <a:ext cx="1444752" cy="274320"/>
          </a:xfrm>
          <a:prstGeom prst="rect">
            <a:avLst/>
          </a:prstGeom>
          <a:solidFill>
            <a:srgbClr val="0A3040"/>
          </a:solidFill>
          <a:ln w="12700">
            <a:solidFill>
              <a:srgbClr val="0E7C7B"/>
            </a:solidFill>
            <a:prstDash val="solid"/>
          </a:ln>
        </p:spPr>
      </p:sp>
      <p:sp>
        <p:nvSpPr>
          <p:cNvPr id="26" name="Text 20"/>
          <p:cNvSpPr/>
          <p:nvPr/>
        </p:nvSpPr>
        <p:spPr>
          <a:xfrm>
            <a:off x="5193792" y="2395728"/>
            <a:ext cx="1444752" cy="274320"/>
          </a:xfrm>
          <a:prstGeom prst="rect">
            <a:avLst/>
          </a:prstGeom>
          <a:noFill/>
          <a:ln/>
        </p:spPr>
        <p:txBody>
          <a:bodyPr wrap="square" lIns="0" tIns="0" rIns="0" bIns="0" rtlCol="0" anchor="ctr"/>
          <a:lstStyle/>
          <a:p>
            <a:pPr algn="ctr" indent="0" marL="0">
              <a:buNone/>
            </a:pPr>
            <a:r>
              <a:rPr lang="en-US" sz="850" dirty="0">
                <a:solidFill>
                  <a:srgbClr val="6BBFBF"/>
                </a:solidFill>
                <a:latin typeface="Calibri" pitchFamily="34" charset="0"/>
                <a:ea typeface="Calibri" pitchFamily="34" charset="-122"/>
                <a:cs typeface="Calibri" pitchFamily="34" charset="-120"/>
              </a:rPr>
              <a:t>PII stripping</a:t>
            </a:r>
            <a:endParaRPr lang="en-US" sz="850" dirty="0"/>
          </a:p>
        </p:txBody>
      </p:sp>
      <p:sp>
        <p:nvSpPr>
          <p:cNvPr id="27" name="Shape 21"/>
          <p:cNvSpPr/>
          <p:nvPr/>
        </p:nvSpPr>
        <p:spPr>
          <a:xfrm>
            <a:off x="475488" y="2779776"/>
            <a:ext cx="1444752" cy="274320"/>
          </a:xfrm>
          <a:prstGeom prst="rect">
            <a:avLst/>
          </a:prstGeom>
          <a:solidFill>
            <a:srgbClr val="0A3040"/>
          </a:solidFill>
          <a:ln w="12700">
            <a:solidFill>
              <a:srgbClr val="0E7C7B"/>
            </a:solidFill>
            <a:prstDash val="solid"/>
          </a:ln>
        </p:spPr>
      </p:sp>
      <p:sp>
        <p:nvSpPr>
          <p:cNvPr id="28" name="Text 22"/>
          <p:cNvSpPr/>
          <p:nvPr/>
        </p:nvSpPr>
        <p:spPr>
          <a:xfrm>
            <a:off x="475488" y="2779776"/>
            <a:ext cx="1444752" cy="274320"/>
          </a:xfrm>
          <a:prstGeom prst="rect">
            <a:avLst/>
          </a:prstGeom>
          <a:noFill/>
          <a:ln/>
        </p:spPr>
        <p:txBody>
          <a:bodyPr wrap="square" lIns="0" tIns="0" rIns="0" bIns="0" rtlCol="0" anchor="ctr"/>
          <a:lstStyle/>
          <a:p>
            <a:pPr algn="ctr" indent="0" marL="0">
              <a:buNone/>
            </a:pPr>
            <a:r>
              <a:rPr lang="en-US" sz="850" dirty="0">
                <a:solidFill>
                  <a:srgbClr val="6BBFBF"/>
                </a:solidFill>
                <a:latin typeface="Calibri" pitchFamily="34" charset="0"/>
                <a:ea typeface="Calibri" pitchFamily="34" charset="-122"/>
                <a:cs typeface="Calibri" pitchFamily="34" charset="-120"/>
              </a:rPr>
              <a:t>Local LLM extraction</a:t>
            </a:r>
            <a:endParaRPr lang="en-US" sz="850" dirty="0"/>
          </a:p>
        </p:txBody>
      </p:sp>
      <p:sp>
        <p:nvSpPr>
          <p:cNvPr id="29" name="Shape 23"/>
          <p:cNvSpPr/>
          <p:nvPr/>
        </p:nvSpPr>
        <p:spPr>
          <a:xfrm>
            <a:off x="2048256" y="2779776"/>
            <a:ext cx="1444752" cy="274320"/>
          </a:xfrm>
          <a:prstGeom prst="rect">
            <a:avLst/>
          </a:prstGeom>
          <a:solidFill>
            <a:srgbClr val="0A3040"/>
          </a:solidFill>
          <a:ln w="12700">
            <a:solidFill>
              <a:srgbClr val="0E7C7B"/>
            </a:solidFill>
            <a:prstDash val="solid"/>
          </a:ln>
        </p:spPr>
      </p:sp>
      <p:sp>
        <p:nvSpPr>
          <p:cNvPr id="30" name="Text 24"/>
          <p:cNvSpPr/>
          <p:nvPr/>
        </p:nvSpPr>
        <p:spPr>
          <a:xfrm>
            <a:off x="2048256" y="2779776"/>
            <a:ext cx="1444752" cy="274320"/>
          </a:xfrm>
          <a:prstGeom prst="rect">
            <a:avLst/>
          </a:prstGeom>
          <a:noFill/>
          <a:ln/>
        </p:spPr>
        <p:txBody>
          <a:bodyPr wrap="square" lIns="0" tIns="0" rIns="0" bIns="0" rtlCol="0" anchor="ctr"/>
          <a:lstStyle/>
          <a:p>
            <a:pPr algn="ctr" indent="0" marL="0">
              <a:buNone/>
            </a:pPr>
            <a:r>
              <a:rPr lang="en-US" sz="850" dirty="0">
                <a:solidFill>
                  <a:srgbClr val="6BBFBF"/>
                </a:solidFill>
                <a:latin typeface="Calibri" pitchFamily="34" charset="0"/>
                <a:ea typeface="Calibri" pitchFamily="34" charset="-122"/>
                <a:cs typeface="Calibri" pitchFamily="34" charset="-120"/>
              </a:rPr>
              <a:t>JSONL assembly</a:t>
            </a:r>
            <a:endParaRPr lang="en-US" sz="850" dirty="0"/>
          </a:p>
        </p:txBody>
      </p:sp>
      <p:sp>
        <p:nvSpPr>
          <p:cNvPr id="31" name="Shape 25"/>
          <p:cNvSpPr/>
          <p:nvPr/>
        </p:nvSpPr>
        <p:spPr>
          <a:xfrm>
            <a:off x="3621024" y="2779776"/>
            <a:ext cx="1444752" cy="274320"/>
          </a:xfrm>
          <a:prstGeom prst="rect">
            <a:avLst/>
          </a:prstGeom>
          <a:solidFill>
            <a:srgbClr val="0A3040"/>
          </a:solidFill>
          <a:ln w="12700">
            <a:solidFill>
              <a:srgbClr val="0E7C7B"/>
            </a:solidFill>
            <a:prstDash val="solid"/>
          </a:ln>
        </p:spPr>
      </p:sp>
      <p:sp>
        <p:nvSpPr>
          <p:cNvPr id="32" name="Text 26"/>
          <p:cNvSpPr/>
          <p:nvPr/>
        </p:nvSpPr>
        <p:spPr>
          <a:xfrm>
            <a:off x="3621024" y="2779776"/>
            <a:ext cx="1444752" cy="274320"/>
          </a:xfrm>
          <a:prstGeom prst="rect">
            <a:avLst/>
          </a:prstGeom>
          <a:noFill/>
          <a:ln/>
        </p:spPr>
        <p:txBody>
          <a:bodyPr wrap="square" lIns="0" tIns="0" rIns="0" bIns="0" rtlCol="0" anchor="ctr"/>
          <a:lstStyle/>
          <a:p>
            <a:pPr algn="ctr" indent="0" marL="0">
              <a:buNone/>
            </a:pPr>
            <a:r>
              <a:rPr lang="en-US" sz="850" dirty="0">
                <a:solidFill>
                  <a:srgbClr val="6BBFBF"/>
                </a:solidFill>
                <a:latin typeface="Calibri" pitchFamily="34" charset="0"/>
                <a:ea typeface="Calibri" pitchFamily="34" charset="-122"/>
                <a:cs typeface="Calibri" pitchFamily="34" charset="-120"/>
              </a:rPr>
              <a:t>Quality gates</a:t>
            </a:r>
            <a:endParaRPr lang="en-US" sz="850" dirty="0"/>
          </a:p>
        </p:txBody>
      </p:sp>
      <p:sp>
        <p:nvSpPr>
          <p:cNvPr id="33" name="Text 27"/>
          <p:cNvSpPr/>
          <p:nvPr/>
        </p:nvSpPr>
        <p:spPr>
          <a:xfrm>
            <a:off x="475488" y="4773168"/>
            <a:ext cx="8229600" cy="182880"/>
          </a:xfrm>
          <a:prstGeom prst="rect">
            <a:avLst/>
          </a:prstGeom>
          <a:noFill/>
          <a:ln/>
        </p:spPr>
        <p:txBody>
          <a:bodyPr wrap="square" lIns="0" tIns="0" rIns="0" bIns="0" rtlCol="0" anchor="ctr"/>
          <a:lstStyle/>
          <a:p>
            <a:pPr indent="0" marL="0">
              <a:buNone/>
            </a:pPr>
            <a:r>
              <a:rPr lang="en-US" sz="900" dirty="0">
                <a:solidFill>
                  <a:srgbClr val="2D4A5A"/>
                </a:solidFill>
                <a:latin typeface="Calibri" pitchFamily="34" charset="0"/>
                <a:ea typeface="Calibri" pitchFamily="34" charset="-122"/>
                <a:cs typeface="Calibri" pitchFamily="34" charset="-120"/>
              </a:rPr>
              <a:t>Harshwal &amp; Company LLP  ·  AuditAI Engineering  ·  Internal Reference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7C7B"/>
          </a:solidFill>
          <a:ln w="12700">
            <a:solidFill>
              <a:srgbClr val="0E7C7B"/>
            </a:solidFill>
            <a:prstDash val="solid"/>
          </a:ln>
        </p:spPr>
      </p:sp>
      <p:sp>
        <p:nvSpPr>
          <p:cNvPr id="3" name="Text 1"/>
          <p:cNvSpPr/>
          <p:nvPr/>
        </p:nvSpPr>
        <p:spPr>
          <a:xfrm>
            <a:off x="347472" y="182880"/>
            <a:ext cx="8503920" cy="347472"/>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Complete pipeline — raw workpaper to JSONL fine-tuning pair</a:t>
            </a:r>
            <a:endParaRPr lang="en-US" sz="1800" dirty="0"/>
          </a:p>
        </p:txBody>
      </p:sp>
      <p:sp>
        <p:nvSpPr>
          <p:cNvPr id="4" name="Text 2"/>
          <p:cNvSpPr/>
          <p:nvPr/>
        </p:nvSpPr>
        <p:spPr>
          <a:xfrm>
            <a:off x="347472" y="512064"/>
            <a:ext cx="8503920" cy="219456"/>
          </a:xfrm>
          <a:prstGeom prst="rect">
            <a:avLst/>
          </a:prstGeom>
          <a:noFill/>
          <a:ln/>
        </p:spPr>
        <p:txBody>
          <a:bodyPr wrap="square" lIns="0" tIns="0" rIns="0" bIns="0" rtlCol="0" anchor="ctr"/>
          <a:lstStyle/>
          <a:p>
            <a:pPr indent="0" marL="0">
              <a:buNone/>
            </a:pPr>
            <a:r>
              <a:rPr lang="en-US" sz="1100" dirty="0">
                <a:solidFill>
                  <a:srgbClr val="7B9EAE"/>
                </a:solidFill>
                <a:latin typeface="Calibri" pitchFamily="34" charset="0"/>
                <a:ea typeface="Calibri" pitchFamily="34" charset="-122"/>
                <a:cs typeface="Calibri" pitchFamily="34" charset="-120"/>
              </a:rPr>
              <a:t>Every workpaper passes through exactly these stages, in this order, before touching training data</a:t>
            </a:r>
            <a:endParaRPr lang="en-US" sz="1100" dirty="0"/>
          </a:p>
        </p:txBody>
      </p:sp>
      <p:sp>
        <p:nvSpPr>
          <p:cNvPr id="5" name="Shape 3"/>
          <p:cNvSpPr/>
          <p:nvPr/>
        </p:nvSpPr>
        <p:spPr>
          <a:xfrm>
            <a:off x="292608" y="1005840"/>
            <a:ext cx="822960" cy="1389888"/>
          </a:xfrm>
          <a:prstGeom prst="rect">
            <a:avLst/>
          </a:prstGeom>
          <a:solidFill>
            <a:srgbClr val="1C2333"/>
          </a:solidFill>
          <a:ln w="12700">
            <a:solidFill>
              <a:srgbClr val="4A5568"/>
            </a:solidFill>
            <a:prstDash val="solid"/>
          </a:ln>
        </p:spPr>
      </p:sp>
      <p:sp>
        <p:nvSpPr>
          <p:cNvPr id="6" name="Shape 4"/>
          <p:cNvSpPr/>
          <p:nvPr/>
        </p:nvSpPr>
        <p:spPr>
          <a:xfrm>
            <a:off x="292608" y="1005840"/>
            <a:ext cx="822960" cy="36576"/>
          </a:xfrm>
          <a:prstGeom prst="rect">
            <a:avLst/>
          </a:prstGeom>
          <a:solidFill>
            <a:srgbClr val="4A5568"/>
          </a:solidFill>
          <a:ln w="12700">
            <a:solidFill>
              <a:srgbClr val="4A5568"/>
            </a:solidFill>
            <a:prstDash val="solid"/>
          </a:ln>
        </p:spPr>
      </p:sp>
      <p:pic>
        <p:nvPicPr>
          <p:cNvPr id="7" name="Image 0" descr="preencoded.png">    </p:cNvPr>
          <p:cNvPicPr>
            <a:picLocks noChangeAspect="1"/>
          </p:cNvPicPr>
          <p:nvPr/>
        </p:nvPicPr>
        <p:blipFill>
          <a:blip r:embed="rId1"/>
          <a:stretch>
            <a:fillRect/>
          </a:stretch>
        </p:blipFill>
        <p:spPr>
          <a:xfrm>
            <a:off x="557784" y="1133856"/>
            <a:ext cx="292608" cy="292608"/>
          </a:xfrm>
          <a:prstGeom prst="rect">
            <a:avLst/>
          </a:prstGeom>
        </p:spPr>
      </p:pic>
      <p:sp>
        <p:nvSpPr>
          <p:cNvPr id="8" name="Shape 5"/>
          <p:cNvSpPr/>
          <p:nvPr/>
        </p:nvSpPr>
        <p:spPr>
          <a:xfrm>
            <a:off x="585216" y="1042416"/>
            <a:ext cx="201168" cy="201168"/>
          </a:xfrm>
          <a:prstGeom prst="ellipse">
            <a:avLst/>
          </a:prstGeom>
          <a:solidFill>
            <a:srgbClr val="4A5568"/>
          </a:solidFill>
          <a:ln w="12700">
            <a:solidFill>
              <a:srgbClr val="4A5568"/>
            </a:solidFill>
            <a:prstDash val="solid"/>
          </a:ln>
        </p:spPr>
      </p:sp>
      <p:sp>
        <p:nvSpPr>
          <p:cNvPr id="9" name="Text 6"/>
          <p:cNvSpPr/>
          <p:nvPr/>
        </p:nvSpPr>
        <p:spPr>
          <a:xfrm>
            <a:off x="585216" y="1042416"/>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0" name="Text 7"/>
          <p:cNvSpPr/>
          <p:nvPr/>
        </p:nvSpPr>
        <p:spPr>
          <a:xfrm>
            <a:off x="329184" y="1463040"/>
            <a:ext cx="749808" cy="43891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Format</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router</a:t>
            </a:r>
            <a:endParaRPr lang="en-US" sz="850" dirty="0"/>
          </a:p>
        </p:txBody>
      </p:sp>
      <p:sp>
        <p:nvSpPr>
          <p:cNvPr id="11" name="Text 8"/>
          <p:cNvSpPr/>
          <p:nvPr/>
        </p:nvSpPr>
        <p:spPr>
          <a:xfrm>
            <a:off x="329184" y="1920240"/>
            <a:ext cx="749808" cy="347472"/>
          </a:xfrm>
          <a:prstGeom prst="rect">
            <a:avLst/>
          </a:prstGeom>
          <a:noFill/>
          <a:ln/>
        </p:spPr>
        <p:txBody>
          <a:bodyPr wrap="square" lIns="0" tIns="0" rIns="0" bIns="0" rtlCol="0" anchor="ctr"/>
          <a:lstStyle/>
          <a:p>
            <a:pPr algn="ctr" indent="0" marL="0">
              <a:buNone/>
            </a:pPr>
            <a:r>
              <a:rPr lang="en-US" sz="750" dirty="0">
                <a:solidFill>
                  <a:srgbClr val="7B9EAE"/>
                </a:solidFill>
                <a:latin typeface="Calibri" pitchFamily="34" charset="0"/>
                <a:ea typeface="Calibri" pitchFamily="34" charset="-122"/>
                <a:cs typeface="Calibri" pitchFamily="34" charset="-120"/>
              </a:rPr>
              <a:t>detect file type</a:t>
            </a:r>
            <a:endParaRPr lang="en-US" sz="750" dirty="0"/>
          </a:p>
        </p:txBody>
      </p:sp>
      <p:sp>
        <p:nvSpPr>
          <p:cNvPr id="12" name="Shape 9"/>
          <p:cNvSpPr/>
          <p:nvPr/>
        </p:nvSpPr>
        <p:spPr>
          <a:xfrm>
            <a:off x="1120140" y="1664208"/>
            <a:ext cx="54864" cy="18288"/>
          </a:xfrm>
          <a:prstGeom prst="rect">
            <a:avLst/>
          </a:prstGeom>
          <a:solidFill>
            <a:srgbClr val="4A5568"/>
          </a:solidFill>
          <a:ln w="12700">
            <a:solidFill>
              <a:srgbClr val="4A5568"/>
            </a:solidFill>
            <a:prstDash val="solid"/>
          </a:ln>
        </p:spPr>
      </p:sp>
      <p:sp>
        <p:nvSpPr>
          <p:cNvPr id="13" name="Shape 10"/>
          <p:cNvSpPr/>
          <p:nvPr/>
        </p:nvSpPr>
        <p:spPr>
          <a:xfrm>
            <a:off x="1170432" y="1005840"/>
            <a:ext cx="822960" cy="1389888"/>
          </a:xfrm>
          <a:prstGeom prst="rect">
            <a:avLst/>
          </a:prstGeom>
          <a:solidFill>
            <a:srgbClr val="1C2333"/>
          </a:solidFill>
          <a:ln w="12700">
            <a:solidFill>
              <a:srgbClr val="0E7C7B"/>
            </a:solidFill>
            <a:prstDash val="solid"/>
          </a:ln>
        </p:spPr>
      </p:sp>
      <p:sp>
        <p:nvSpPr>
          <p:cNvPr id="14" name="Shape 11"/>
          <p:cNvSpPr/>
          <p:nvPr/>
        </p:nvSpPr>
        <p:spPr>
          <a:xfrm>
            <a:off x="1170432" y="1005840"/>
            <a:ext cx="822960" cy="36576"/>
          </a:xfrm>
          <a:prstGeom prst="rect">
            <a:avLst/>
          </a:prstGeom>
          <a:solidFill>
            <a:srgbClr val="0E7C7B"/>
          </a:solidFill>
          <a:ln w="12700">
            <a:solidFill>
              <a:srgbClr val="0E7C7B"/>
            </a:solidFill>
            <a:prstDash val="solid"/>
          </a:ln>
        </p:spPr>
      </p:sp>
      <p:pic>
        <p:nvPicPr>
          <p:cNvPr id="15" name="Image 1" descr="preencoded.png">    </p:cNvPr>
          <p:cNvPicPr>
            <a:picLocks noChangeAspect="1"/>
          </p:cNvPicPr>
          <p:nvPr/>
        </p:nvPicPr>
        <p:blipFill>
          <a:blip r:embed="rId2"/>
          <a:stretch>
            <a:fillRect/>
          </a:stretch>
        </p:blipFill>
        <p:spPr>
          <a:xfrm>
            <a:off x="1435608" y="1133856"/>
            <a:ext cx="292608" cy="292608"/>
          </a:xfrm>
          <a:prstGeom prst="rect">
            <a:avLst/>
          </a:prstGeom>
        </p:spPr>
      </p:pic>
      <p:sp>
        <p:nvSpPr>
          <p:cNvPr id="16" name="Shape 12"/>
          <p:cNvSpPr/>
          <p:nvPr/>
        </p:nvSpPr>
        <p:spPr>
          <a:xfrm>
            <a:off x="1463040" y="1042416"/>
            <a:ext cx="201168" cy="201168"/>
          </a:xfrm>
          <a:prstGeom prst="ellipse">
            <a:avLst/>
          </a:prstGeom>
          <a:solidFill>
            <a:srgbClr val="0E7C7B"/>
          </a:solidFill>
          <a:ln w="12700">
            <a:solidFill>
              <a:srgbClr val="0E7C7B"/>
            </a:solidFill>
            <a:prstDash val="solid"/>
          </a:ln>
        </p:spPr>
      </p:sp>
      <p:sp>
        <p:nvSpPr>
          <p:cNvPr id="17" name="Text 13"/>
          <p:cNvSpPr/>
          <p:nvPr/>
        </p:nvSpPr>
        <p:spPr>
          <a:xfrm>
            <a:off x="1463040" y="1042416"/>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8" name="Text 14"/>
          <p:cNvSpPr/>
          <p:nvPr/>
        </p:nvSpPr>
        <p:spPr>
          <a:xfrm>
            <a:off x="1207008" y="1463040"/>
            <a:ext cx="749808" cy="43891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Layer 1</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extraction</a:t>
            </a:r>
            <a:endParaRPr lang="en-US" sz="850" dirty="0"/>
          </a:p>
        </p:txBody>
      </p:sp>
      <p:sp>
        <p:nvSpPr>
          <p:cNvPr id="19" name="Text 15"/>
          <p:cNvSpPr/>
          <p:nvPr/>
        </p:nvSpPr>
        <p:spPr>
          <a:xfrm>
            <a:off x="1207008" y="1920240"/>
            <a:ext cx="749808" cy="347472"/>
          </a:xfrm>
          <a:prstGeom prst="rect">
            <a:avLst/>
          </a:prstGeom>
          <a:noFill/>
          <a:ln/>
        </p:spPr>
        <p:txBody>
          <a:bodyPr wrap="square" lIns="0" tIns="0" rIns="0" bIns="0" rtlCol="0" anchor="ctr"/>
          <a:lstStyle/>
          <a:p>
            <a:pPr algn="ctr" indent="0" marL="0">
              <a:buNone/>
            </a:pPr>
            <a:r>
              <a:rPr lang="en-US" sz="750" dirty="0">
                <a:solidFill>
                  <a:srgbClr val="7B9EAE"/>
                </a:solidFill>
                <a:latin typeface="Calibri" pitchFamily="34" charset="0"/>
                <a:ea typeface="Calibri" pitchFamily="34" charset="-122"/>
                <a:cs typeface="Calibri" pitchFamily="34" charset="-120"/>
              </a:rPr>
              <a:t>Docling · Surya</a:t>
            </a:r>
            <a:endParaRPr lang="en-US" sz="750" dirty="0"/>
          </a:p>
        </p:txBody>
      </p:sp>
      <p:sp>
        <p:nvSpPr>
          <p:cNvPr id="20" name="Shape 16"/>
          <p:cNvSpPr/>
          <p:nvPr/>
        </p:nvSpPr>
        <p:spPr>
          <a:xfrm>
            <a:off x="1997964" y="1664208"/>
            <a:ext cx="54864" cy="18288"/>
          </a:xfrm>
          <a:prstGeom prst="rect">
            <a:avLst/>
          </a:prstGeom>
          <a:solidFill>
            <a:srgbClr val="0E7C7B"/>
          </a:solidFill>
          <a:ln w="12700">
            <a:solidFill>
              <a:srgbClr val="0E7C7B"/>
            </a:solidFill>
            <a:prstDash val="solid"/>
          </a:ln>
        </p:spPr>
      </p:sp>
      <p:sp>
        <p:nvSpPr>
          <p:cNvPr id="21" name="Shape 17"/>
          <p:cNvSpPr/>
          <p:nvPr/>
        </p:nvSpPr>
        <p:spPr>
          <a:xfrm>
            <a:off x="2048256" y="1005840"/>
            <a:ext cx="822960" cy="1389888"/>
          </a:xfrm>
          <a:prstGeom prst="rect">
            <a:avLst/>
          </a:prstGeom>
          <a:solidFill>
            <a:srgbClr val="1C2333"/>
          </a:solidFill>
          <a:ln w="12700">
            <a:solidFill>
              <a:srgbClr val="0E7C7B"/>
            </a:solidFill>
            <a:prstDash val="solid"/>
          </a:ln>
        </p:spPr>
      </p:sp>
      <p:sp>
        <p:nvSpPr>
          <p:cNvPr id="22" name="Shape 18"/>
          <p:cNvSpPr/>
          <p:nvPr/>
        </p:nvSpPr>
        <p:spPr>
          <a:xfrm>
            <a:off x="2048256" y="1005840"/>
            <a:ext cx="822960" cy="36576"/>
          </a:xfrm>
          <a:prstGeom prst="rect">
            <a:avLst/>
          </a:prstGeom>
          <a:solidFill>
            <a:srgbClr val="0E7C7B"/>
          </a:solidFill>
          <a:ln w="12700">
            <a:solidFill>
              <a:srgbClr val="0E7C7B"/>
            </a:solidFill>
            <a:prstDash val="solid"/>
          </a:ln>
        </p:spPr>
      </p:sp>
      <p:pic>
        <p:nvPicPr>
          <p:cNvPr id="23" name="Image 2" descr="preencoded.png">    </p:cNvPr>
          <p:cNvPicPr>
            <a:picLocks noChangeAspect="1"/>
          </p:cNvPicPr>
          <p:nvPr/>
        </p:nvPicPr>
        <p:blipFill>
          <a:blip r:embed="rId3"/>
          <a:stretch>
            <a:fillRect/>
          </a:stretch>
        </p:blipFill>
        <p:spPr>
          <a:xfrm>
            <a:off x="2313432" y="1133856"/>
            <a:ext cx="292608" cy="292608"/>
          </a:xfrm>
          <a:prstGeom prst="rect">
            <a:avLst/>
          </a:prstGeom>
        </p:spPr>
      </p:pic>
      <p:sp>
        <p:nvSpPr>
          <p:cNvPr id="24" name="Shape 19"/>
          <p:cNvSpPr/>
          <p:nvPr/>
        </p:nvSpPr>
        <p:spPr>
          <a:xfrm>
            <a:off x="2340864" y="1042416"/>
            <a:ext cx="201168" cy="201168"/>
          </a:xfrm>
          <a:prstGeom prst="ellipse">
            <a:avLst/>
          </a:prstGeom>
          <a:solidFill>
            <a:srgbClr val="0E7C7B"/>
          </a:solidFill>
          <a:ln w="12700">
            <a:solidFill>
              <a:srgbClr val="0E7C7B"/>
            </a:solidFill>
            <a:prstDash val="solid"/>
          </a:ln>
        </p:spPr>
      </p:sp>
      <p:sp>
        <p:nvSpPr>
          <p:cNvPr id="25" name="Text 20"/>
          <p:cNvSpPr/>
          <p:nvPr/>
        </p:nvSpPr>
        <p:spPr>
          <a:xfrm>
            <a:off x="2340864" y="1042416"/>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6" name="Text 21"/>
          <p:cNvSpPr/>
          <p:nvPr/>
        </p:nvSpPr>
        <p:spPr>
          <a:xfrm>
            <a:off x="2084832" y="1463040"/>
            <a:ext cx="749808" cy="43891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Normalize</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&amp; clean</a:t>
            </a:r>
            <a:endParaRPr lang="en-US" sz="850" dirty="0"/>
          </a:p>
        </p:txBody>
      </p:sp>
      <p:sp>
        <p:nvSpPr>
          <p:cNvPr id="27" name="Text 22"/>
          <p:cNvSpPr/>
          <p:nvPr/>
        </p:nvSpPr>
        <p:spPr>
          <a:xfrm>
            <a:off x="2084832" y="1920240"/>
            <a:ext cx="749808" cy="347472"/>
          </a:xfrm>
          <a:prstGeom prst="rect">
            <a:avLst/>
          </a:prstGeom>
          <a:noFill/>
          <a:ln/>
        </p:spPr>
        <p:txBody>
          <a:bodyPr wrap="square" lIns="0" tIns="0" rIns="0" bIns="0" rtlCol="0" anchor="ctr"/>
          <a:lstStyle/>
          <a:p>
            <a:pPr algn="ctr" indent="0" marL="0">
              <a:buNone/>
            </a:pPr>
            <a:r>
              <a:rPr lang="en-US" sz="750" dirty="0">
                <a:solidFill>
                  <a:srgbClr val="7B9EAE"/>
                </a:solidFill>
                <a:latin typeface="Calibri" pitchFamily="34" charset="0"/>
                <a:ea typeface="Calibri" pitchFamily="34" charset="-122"/>
                <a:cs typeface="Calibri" pitchFamily="34" charset="-120"/>
              </a:rPr>
              <a:t>WorkpaperRecord</a:t>
            </a:r>
            <a:endParaRPr lang="en-US" sz="750" dirty="0"/>
          </a:p>
        </p:txBody>
      </p:sp>
      <p:sp>
        <p:nvSpPr>
          <p:cNvPr id="28" name="Shape 23"/>
          <p:cNvSpPr/>
          <p:nvPr/>
        </p:nvSpPr>
        <p:spPr>
          <a:xfrm>
            <a:off x="2875788" y="1664208"/>
            <a:ext cx="54864" cy="18288"/>
          </a:xfrm>
          <a:prstGeom prst="rect">
            <a:avLst/>
          </a:prstGeom>
          <a:solidFill>
            <a:srgbClr val="0E7C7B"/>
          </a:solidFill>
          <a:ln w="12700">
            <a:solidFill>
              <a:srgbClr val="0E7C7B"/>
            </a:solidFill>
            <a:prstDash val="solid"/>
          </a:ln>
        </p:spPr>
      </p:sp>
      <p:sp>
        <p:nvSpPr>
          <p:cNvPr id="29" name="Shape 24"/>
          <p:cNvSpPr/>
          <p:nvPr/>
        </p:nvSpPr>
        <p:spPr>
          <a:xfrm>
            <a:off x="2926080" y="1005840"/>
            <a:ext cx="822960" cy="1389888"/>
          </a:xfrm>
          <a:prstGeom prst="rect">
            <a:avLst/>
          </a:prstGeom>
          <a:solidFill>
            <a:srgbClr val="1C2333"/>
          </a:solidFill>
          <a:ln w="12700">
            <a:solidFill>
              <a:srgbClr val="C0392B"/>
            </a:solidFill>
            <a:prstDash val="solid"/>
          </a:ln>
        </p:spPr>
      </p:sp>
      <p:sp>
        <p:nvSpPr>
          <p:cNvPr id="30" name="Shape 25"/>
          <p:cNvSpPr/>
          <p:nvPr/>
        </p:nvSpPr>
        <p:spPr>
          <a:xfrm>
            <a:off x="2926080" y="1005840"/>
            <a:ext cx="822960" cy="36576"/>
          </a:xfrm>
          <a:prstGeom prst="rect">
            <a:avLst/>
          </a:prstGeom>
          <a:solidFill>
            <a:srgbClr val="C0392B"/>
          </a:solidFill>
          <a:ln w="12700">
            <a:solidFill>
              <a:srgbClr val="C0392B"/>
            </a:solidFill>
            <a:prstDash val="solid"/>
          </a:ln>
        </p:spPr>
      </p:sp>
      <p:pic>
        <p:nvPicPr>
          <p:cNvPr id="31" name="Image 3" descr="preencoded.png">    </p:cNvPr>
          <p:cNvPicPr>
            <a:picLocks noChangeAspect="1"/>
          </p:cNvPicPr>
          <p:nvPr/>
        </p:nvPicPr>
        <p:blipFill>
          <a:blip r:embed="rId4"/>
          <a:stretch>
            <a:fillRect/>
          </a:stretch>
        </p:blipFill>
        <p:spPr>
          <a:xfrm>
            <a:off x="3191256" y="1133856"/>
            <a:ext cx="292608" cy="292608"/>
          </a:xfrm>
          <a:prstGeom prst="rect">
            <a:avLst/>
          </a:prstGeom>
        </p:spPr>
      </p:pic>
      <p:sp>
        <p:nvSpPr>
          <p:cNvPr id="32" name="Shape 26"/>
          <p:cNvSpPr/>
          <p:nvPr/>
        </p:nvSpPr>
        <p:spPr>
          <a:xfrm>
            <a:off x="3218688" y="1042416"/>
            <a:ext cx="201168" cy="201168"/>
          </a:xfrm>
          <a:prstGeom prst="ellipse">
            <a:avLst/>
          </a:prstGeom>
          <a:solidFill>
            <a:srgbClr val="C0392B"/>
          </a:solidFill>
          <a:ln w="12700">
            <a:solidFill>
              <a:srgbClr val="C0392B"/>
            </a:solidFill>
            <a:prstDash val="solid"/>
          </a:ln>
        </p:spPr>
      </p:sp>
      <p:sp>
        <p:nvSpPr>
          <p:cNvPr id="33" name="Text 27"/>
          <p:cNvSpPr/>
          <p:nvPr/>
        </p:nvSpPr>
        <p:spPr>
          <a:xfrm>
            <a:off x="3218688" y="1042416"/>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34" name="Text 28"/>
          <p:cNvSpPr/>
          <p:nvPr/>
        </p:nvSpPr>
        <p:spPr>
          <a:xfrm>
            <a:off x="2962656" y="1463040"/>
            <a:ext cx="749808" cy="43891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PII</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strip</a:t>
            </a:r>
            <a:endParaRPr lang="en-US" sz="850" dirty="0"/>
          </a:p>
        </p:txBody>
      </p:sp>
      <p:sp>
        <p:nvSpPr>
          <p:cNvPr id="35" name="Text 29"/>
          <p:cNvSpPr/>
          <p:nvPr/>
        </p:nvSpPr>
        <p:spPr>
          <a:xfrm>
            <a:off x="2962656" y="1920240"/>
            <a:ext cx="749808" cy="347472"/>
          </a:xfrm>
          <a:prstGeom prst="rect">
            <a:avLst/>
          </a:prstGeom>
          <a:noFill/>
          <a:ln/>
        </p:spPr>
        <p:txBody>
          <a:bodyPr wrap="square" lIns="0" tIns="0" rIns="0" bIns="0" rtlCol="0" anchor="ctr"/>
          <a:lstStyle/>
          <a:p>
            <a:pPr algn="ctr" indent="0" marL="0">
              <a:buNone/>
            </a:pPr>
            <a:r>
              <a:rPr lang="en-US" sz="750" dirty="0">
                <a:solidFill>
                  <a:srgbClr val="7B9EAE"/>
                </a:solidFill>
                <a:latin typeface="Calibri" pitchFamily="34" charset="0"/>
                <a:ea typeface="Calibri" pitchFamily="34" charset="-122"/>
                <a:cs typeface="Calibri" pitchFamily="34" charset="-120"/>
              </a:rPr>
              <a:t>spaCy NER</a:t>
            </a:r>
            <a:endParaRPr lang="en-US" sz="750" dirty="0"/>
          </a:p>
        </p:txBody>
      </p:sp>
      <p:sp>
        <p:nvSpPr>
          <p:cNvPr id="36" name="Shape 30"/>
          <p:cNvSpPr/>
          <p:nvPr/>
        </p:nvSpPr>
        <p:spPr>
          <a:xfrm>
            <a:off x="3753612" y="1664208"/>
            <a:ext cx="54864" cy="18288"/>
          </a:xfrm>
          <a:prstGeom prst="rect">
            <a:avLst/>
          </a:prstGeom>
          <a:solidFill>
            <a:srgbClr val="C0392B"/>
          </a:solidFill>
          <a:ln w="12700">
            <a:solidFill>
              <a:srgbClr val="C0392B"/>
            </a:solidFill>
            <a:prstDash val="solid"/>
          </a:ln>
        </p:spPr>
      </p:sp>
      <p:sp>
        <p:nvSpPr>
          <p:cNvPr id="37" name="Shape 31"/>
          <p:cNvSpPr/>
          <p:nvPr/>
        </p:nvSpPr>
        <p:spPr>
          <a:xfrm>
            <a:off x="3803904" y="1005840"/>
            <a:ext cx="822960" cy="1389888"/>
          </a:xfrm>
          <a:prstGeom prst="rect">
            <a:avLst/>
          </a:prstGeom>
          <a:solidFill>
            <a:srgbClr val="1C2333"/>
          </a:solidFill>
          <a:ln w="12700">
            <a:solidFill>
              <a:srgbClr val="D4A017"/>
            </a:solidFill>
            <a:prstDash val="solid"/>
          </a:ln>
        </p:spPr>
      </p:sp>
      <p:sp>
        <p:nvSpPr>
          <p:cNvPr id="38" name="Shape 32"/>
          <p:cNvSpPr/>
          <p:nvPr/>
        </p:nvSpPr>
        <p:spPr>
          <a:xfrm>
            <a:off x="3803904" y="1005840"/>
            <a:ext cx="822960" cy="36576"/>
          </a:xfrm>
          <a:prstGeom prst="rect">
            <a:avLst/>
          </a:prstGeom>
          <a:solidFill>
            <a:srgbClr val="D4A017"/>
          </a:solidFill>
          <a:ln w="12700">
            <a:solidFill>
              <a:srgbClr val="D4A017"/>
            </a:solidFill>
            <a:prstDash val="solid"/>
          </a:ln>
        </p:spPr>
      </p:sp>
      <p:pic>
        <p:nvPicPr>
          <p:cNvPr id="39" name="Image 4" descr="preencoded.png">    </p:cNvPr>
          <p:cNvPicPr>
            <a:picLocks noChangeAspect="1"/>
          </p:cNvPicPr>
          <p:nvPr/>
        </p:nvPicPr>
        <p:blipFill>
          <a:blip r:embed="rId5"/>
          <a:stretch>
            <a:fillRect/>
          </a:stretch>
        </p:blipFill>
        <p:spPr>
          <a:xfrm>
            <a:off x="4069080" y="1133856"/>
            <a:ext cx="292608" cy="292608"/>
          </a:xfrm>
          <a:prstGeom prst="rect">
            <a:avLst/>
          </a:prstGeom>
        </p:spPr>
      </p:pic>
      <p:sp>
        <p:nvSpPr>
          <p:cNvPr id="40" name="Shape 33"/>
          <p:cNvSpPr/>
          <p:nvPr/>
        </p:nvSpPr>
        <p:spPr>
          <a:xfrm>
            <a:off x="4096512" y="1042416"/>
            <a:ext cx="201168" cy="201168"/>
          </a:xfrm>
          <a:prstGeom prst="ellipse">
            <a:avLst/>
          </a:prstGeom>
          <a:solidFill>
            <a:srgbClr val="D4A017"/>
          </a:solidFill>
          <a:ln w="12700">
            <a:solidFill>
              <a:srgbClr val="D4A017"/>
            </a:solidFill>
            <a:prstDash val="solid"/>
          </a:ln>
        </p:spPr>
      </p:sp>
      <p:sp>
        <p:nvSpPr>
          <p:cNvPr id="41" name="Text 34"/>
          <p:cNvSpPr/>
          <p:nvPr/>
        </p:nvSpPr>
        <p:spPr>
          <a:xfrm>
            <a:off x="4096512" y="1042416"/>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42" name="Text 35"/>
          <p:cNvSpPr/>
          <p:nvPr/>
        </p:nvSpPr>
        <p:spPr>
          <a:xfrm>
            <a:off x="3840480" y="1463040"/>
            <a:ext cx="749808" cy="43891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Confidence</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gate</a:t>
            </a:r>
            <a:endParaRPr lang="en-US" sz="850" dirty="0"/>
          </a:p>
        </p:txBody>
      </p:sp>
      <p:sp>
        <p:nvSpPr>
          <p:cNvPr id="43" name="Text 36"/>
          <p:cNvSpPr/>
          <p:nvPr/>
        </p:nvSpPr>
        <p:spPr>
          <a:xfrm>
            <a:off x="3840480" y="1920240"/>
            <a:ext cx="749808" cy="347472"/>
          </a:xfrm>
          <a:prstGeom prst="rect">
            <a:avLst/>
          </a:prstGeom>
          <a:noFill/>
          <a:ln/>
        </p:spPr>
        <p:txBody>
          <a:bodyPr wrap="square" lIns="0" tIns="0" rIns="0" bIns="0" rtlCol="0" anchor="ctr"/>
          <a:lstStyle/>
          <a:p>
            <a:pPr algn="ctr" indent="0" marL="0">
              <a:buNone/>
            </a:pPr>
            <a:r>
              <a:rPr lang="en-US" sz="750" dirty="0">
                <a:solidFill>
                  <a:srgbClr val="7B9EAE"/>
                </a:solidFill>
                <a:latin typeface="Calibri" pitchFamily="34" charset="0"/>
                <a:ea typeface="Calibri" pitchFamily="34" charset="-122"/>
                <a:cs typeface="Calibri" pitchFamily="34" charset="-120"/>
              </a:rPr>
              <a:t>≥ 0.7 or queue</a:t>
            </a:r>
            <a:endParaRPr lang="en-US" sz="750" dirty="0"/>
          </a:p>
        </p:txBody>
      </p:sp>
      <p:sp>
        <p:nvSpPr>
          <p:cNvPr id="44" name="Shape 37"/>
          <p:cNvSpPr/>
          <p:nvPr/>
        </p:nvSpPr>
        <p:spPr>
          <a:xfrm>
            <a:off x="4631436" y="1664208"/>
            <a:ext cx="54864" cy="18288"/>
          </a:xfrm>
          <a:prstGeom prst="rect">
            <a:avLst/>
          </a:prstGeom>
          <a:solidFill>
            <a:srgbClr val="D4A017"/>
          </a:solidFill>
          <a:ln w="12700">
            <a:solidFill>
              <a:srgbClr val="D4A017"/>
            </a:solidFill>
            <a:prstDash val="solid"/>
          </a:ln>
        </p:spPr>
      </p:sp>
      <p:sp>
        <p:nvSpPr>
          <p:cNvPr id="45" name="Shape 38"/>
          <p:cNvSpPr/>
          <p:nvPr/>
        </p:nvSpPr>
        <p:spPr>
          <a:xfrm>
            <a:off x="4681728" y="1005840"/>
            <a:ext cx="822960" cy="1389888"/>
          </a:xfrm>
          <a:prstGeom prst="rect">
            <a:avLst/>
          </a:prstGeom>
          <a:solidFill>
            <a:srgbClr val="1C2333"/>
          </a:solidFill>
          <a:ln w="12700">
            <a:solidFill>
              <a:srgbClr val="D4A017"/>
            </a:solidFill>
            <a:prstDash val="solid"/>
          </a:ln>
        </p:spPr>
      </p:sp>
      <p:sp>
        <p:nvSpPr>
          <p:cNvPr id="46" name="Shape 39"/>
          <p:cNvSpPr/>
          <p:nvPr/>
        </p:nvSpPr>
        <p:spPr>
          <a:xfrm>
            <a:off x="4681728" y="1005840"/>
            <a:ext cx="822960" cy="36576"/>
          </a:xfrm>
          <a:prstGeom prst="rect">
            <a:avLst/>
          </a:prstGeom>
          <a:solidFill>
            <a:srgbClr val="D4A017"/>
          </a:solidFill>
          <a:ln w="12700">
            <a:solidFill>
              <a:srgbClr val="D4A017"/>
            </a:solidFill>
            <a:prstDash val="solid"/>
          </a:ln>
        </p:spPr>
      </p:sp>
      <p:pic>
        <p:nvPicPr>
          <p:cNvPr id="47" name="Image 5" descr="preencoded.png">    </p:cNvPr>
          <p:cNvPicPr>
            <a:picLocks noChangeAspect="1"/>
          </p:cNvPicPr>
          <p:nvPr/>
        </p:nvPicPr>
        <p:blipFill>
          <a:blip r:embed="rId6"/>
          <a:stretch>
            <a:fillRect/>
          </a:stretch>
        </p:blipFill>
        <p:spPr>
          <a:xfrm>
            <a:off x="4946904" y="1133856"/>
            <a:ext cx="292608" cy="292608"/>
          </a:xfrm>
          <a:prstGeom prst="rect">
            <a:avLst/>
          </a:prstGeom>
        </p:spPr>
      </p:pic>
      <p:sp>
        <p:nvSpPr>
          <p:cNvPr id="48" name="Shape 40"/>
          <p:cNvSpPr/>
          <p:nvPr/>
        </p:nvSpPr>
        <p:spPr>
          <a:xfrm>
            <a:off x="4974336" y="1042416"/>
            <a:ext cx="201168" cy="201168"/>
          </a:xfrm>
          <a:prstGeom prst="ellipse">
            <a:avLst/>
          </a:prstGeom>
          <a:solidFill>
            <a:srgbClr val="D4A017"/>
          </a:solidFill>
          <a:ln w="12700">
            <a:solidFill>
              <a:srgbClr val="D4A017"/>
            </a:solidFill>
            <a:prstDash val="solid"/>
          </a:ln>
        </p:spPr>
      </p:sp>
      <p:sp>
        <p:nvSpPr>
          <p:cNvPr id="49" name="Text 41"/>
          <p:cNvSpPr/>
          <p:nvPr/>
        </p:nvSpPr>
        <p:spPr>
          <a:xfrm>
            <a:off x="4974336" y="1042416"/>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50" name="Text 42"/>
          <p:cNvSpPr/>
          <p:nvPr/>
        </p:nvSpPr>
        <p:spPr>
          <a:xfrm>
            <a:off x="4718304" y="1463040"/>
            <a:ext cx="749808" cy="43891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Local LLM</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extract</a:t>
            </a:r>
            <a:endParaRPr lang="en-US" sz="850" dirty="0"/>
          </a:p>
        </p:txBody>
      </p:sp>
      <p:sp>
        <p:nvSpPr>
          <p:cNvPr id="51" name="Text 43"/>
          <p:cNvSpPr/>
          <p:nvPr/>
        </p:nvSpPr>
        <p:spPr>
          <a:xfrm>
            <a:off x="4718304" y="1920240"/>
            <a:ext cx="749808" cy="347472"/>
          </a:xfrm>
          <a:prstGeom prst="rect">
            <a:avLst/>
          </a:prstGeom>
          <a:noFill/>
          <a:ln/>
        </p:spPr>
        <p:txBody>
          <a:bodyPr wrap="square" lIns="0" tIns="0" rIns="0" bIns="0" rtlCol="0" anchor="ctr"/>
          <a:lstStyle/>
          <a:p>
            <a:pPr algn="ctr" indent="0" marL="0">
              <a:buNone/>
            </a:pPr>
            <a:r>
              <a:rPr lang="en-US" sz="750" dirty="0">
                <a:solidFill>
                  <a:srgbClr val="7B9EAE"/>
                </a:solidFill>
                <a:latin typeface="Calibri" pitchFamily="34" charset="0"/>
                <a:ea typeface="Calibri" pitchFamily="34" charset="-122"/>
                <a:cs typeface="Calibri" pitchFamily="34" charset="-120"/>
              </a:rPr>
              <a:t>Gemma 3 12B</a:t>
            </a:r>
            <a:endParaRPr lang="en-US" sz="750" dirty="0"/>
          </a:p>
        </p:txBody>
      </p:sp>
      <p:sp>
        <p:nvSpPr>
          <p:cNvPr id="52" name="Shape 44"/>
          <p:cNvSpPr/>
          <p:nvPr/>
        </p:nvSpPr>
        <p:spPr>
          <a:xfrm>
            <a:off x="5509260" y="1664208"/>
            <a:ext cx="54864" cy="18288"/>
          </a:xfrm>
          <a:prstGeom prst="rect">
            <a:avLst/>
          </a:prstGeom>
          <a:solidFill>
            <a:srgbClr val="D4A017"/>
          </a:solidFill>
          <a:ln w="12700">
            <a:solidFill>
              <a:srgbClr val="D4A017"/>
            </a:solidFill>
            <a:prstDash val="solid"/>
          </a:ln>
        </p:spPr>
      </p:sp>
      <p:sp>
        <p:nvSpPr>
          <p:cNvPr id="53" name="Shape 45"/>
          <p:cNvSpPr/>
          <p:nvPr/>
        </p:nvSpPr>
        <p:spPr>
          <a:xfrm>
            <a:off x="5559552" y="1005840"/>
            <a:ext cx="822960" cy="1389888"/>
          </a:xfrm>
          <a:prstGeom prst="rect">
            <a:avLst/>
          </a:prstGeom>
          <a:solidFill>
            <a:srgbClr val="1C2333"/>
          </a:solidFill>
          <a:ln w="12700">
            <a:solidFill>
              <a:srgbClr val="4C3B8A"/>
            </a:solidFill>
            <a:prstDash val="solid"/>
          </a:ln>
        </p:spPr>
      </p:sp>
      <p:sp>
        <p:nvSpPr>
          <p:cNvPr id="54" name="Shape 46"/>
          <p:cNvSpPr/>
          <p:nvPr/>
        </p:nvSpPr>
        <p:spPr>
          <a:xfrm>
            <a:off x="5559552" y="1005840"/>
            <a:ext cx="822960" cy="36576"/>
          </a:xfrm>
          <a:prstGeom prst="rect">
            <a:avLst/>
          </a:prstGeom>
          <a:solidFill>
            <a:srgbClr val="4C3B8A"/>
          </a:solidFill>
          <a:ln w="12700">
            <a:solidFill>
              <a:srgbClr val="4C3B8A"/>
            </a:solidFill>
            <a:prstDash val="solid"/>
          </a:ln>
        </p:spPr>
      </p:sp>
      <p:pic>
        <p:nvPicPr>
          <p:cNvPr id="55" name="Image 6" descr="preencoded.png">    </p:cNvPr>
          <p:cNvPicPr>
            <a:picLocks noChangeAspect="1"/>
          </p:cNvPicPr>
          <p:nvPr/>
        </p:nvPicPr>
        <p:blipFill>
          <a:blip r:embed="rId7"/>
          <a:stretch>
            <a:fillRect/>
          </a:stretch>
        </p:blipFill>
        <p:spPr>
          <a:xfrm>
            <a:off x="5824728" y="1133856"/>
            <a:ext cx="292608" cy="292608"/>
          </a:xfrm>
          <a:prstGeom prst="rect">
            <a:avLst/>
          </a:prstGeom>
        </p:spPr>
      </p:pic>
      <p:sp>
        <p:nvSpPr>
          <p:cNvPr id="56" name="Shape 47"/>
          <p:cNvSpPr/>
          <p:nvPr/>
        </p:nvSpPr>
        <p:spPr>
          <a:xfrm>
            <a:off x="5852160" y="1042416"/>
            <a:ext cx="201168" cy="201168"/>
          </a:xfrm>
          <a:prstGeom prst="ellipse">
            <a:avLst/>
          </a:prstGeom>
          <a:solidFill>
            <a:srgbClr val="4C3B8A"/>
          </a:solidFill>
          <a:ln w="12700">
            <a:solidFill>
              <a:srgbClr val="4C3B8A"/>
            </a:solidFill>
            <a:prstDash val="solid"/>
          </a:ln>
        </p:spPr>
      </p:sp>
      <p:sp>
        <p:nvSpPr>
          <p:cNvPr id="57" name="Text 48"/>
          <p:cNvSpPr/>
          <p:nvPr/>
        </p:nvSpPr>
        <p:spPr>
          <a:xfrm>
            <a:off x="5852160" y="1042416"/>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58" name="Text 49"/>
          <p:cNvSpPr/>
          <p:nvPr/>
        </p:nvSpPr>
        <p:spPr>
          <a:xfrm>
            <a:off x="5596128" y="1463040"/>
            <a:ext cx="749808" cy="43891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Build</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pair</a:t>
            </a:r>
            <a:endParaRPr lang="en-US" sz="850" dirty="0"/>
          </a:p>
        </p:txBody>
      </p:sp>
      <p:sp>
        <p:nvSpPr>
          <p:cNvPr id="59" name="Text 50"/>
          <p:cNvSpPr/>
          <p:nvPr/>
        </p:nvSpPr>
        <p:spPr>
          <a:xfrm>
            <a:off x="5596128" y="1920240"/>
            <a:ext cx="749808" cy="347472"/>
          </a:xfrm>
          <a:prstGeom prst="rect">
            <a:avLst/>
          </a:prstGeom>
          <a:noFill/>
          <a:ln/>
        </p:spPr>
        <p:txBody>
          <a:bodyPr wrap="square" lIns="0" tIns="0" rIns="0" bIns="0" rtlCol="0" anchor="ctr"/>
          <a:lstStyle/>
          <a:p>
            <a:pPr algn="ctr" indent="0" marL="0">
              <a:buNone/>
            </a:pPr>
            <a:r>
              <a:rPr lang="en-US" sz="750" dirty="0">
                <a:solidFill>
                  <a:srgbClr val="7B9EAE"/>
                </a:solidFill>
                <a:latin typeface="Calibri" pitchFamily="34" charset="0"/>
                <a:ea typeface="Calibri" pitchFamily="34" charset="-122"/>
                <a:cs typeface="Calibri" pitchFamily="34" charset="-120"/>
              </a:rPr>
              <a:t>3 message blocks</a:t>
            </a:r>
            <a:endParaRPr lang="en-US" sz="750" dirty="0"/>
          </a:p>
        </p:txBody>
      </p:sp>
      <p:sp>
        <p:nvSpPr>
          <p:cNvPr id="60" name="Shape 51"/>
          <p:cNvSpPr/>
          <p:nvPr/>
        </p:nvSpPr>
        <p:spPr>
          <a:xfrm>
            <a:off x="6387084" y="1664208"/>
            <a:ext cx="54864" cy="18288"/>
          </a:xfrm>
          <a:prstGeom prst="rect">
            <a:avLst/>
          </a:prstGeom>
          <a:solidFill>
            <a:srgbClr val="4C3B8A"/>
          </a:solidFill>
          <a:ln w="12700">
            <a:solidFill>
              <a:srgbClr val="4C3B8A"/>
            </a:solidFill>
            <a:prstDash val="solid"/>
          </a:ln>
        </p:spPr>
      </p:sp>
      <p:sp>
        <p:nvSpPr>
          <p:cNvPr id="61" name="Shape 52"/>
          <p:cNvSpPr/>
          <p:nvPr/>
        </p:nvSpPr>
        <p:spPr>
          <a:xfrm>
            <a:off x="6437376" y="1005840"/>
            <a:ext cx="822960" cy="1389888"/>
          </a:xfrm>
          <a:prstGeom prst="rect">
            <a:avLst/>
          </a:prstGeom>
          <a:solidFill>
            <a:srgbClr val="1C2333"/>
          </a:solidFill>
          <a:ln w="12700">
            <a:solidFill>
              <a:srgbClr val="4C3B8A"/>
            </a:solidFill>
            <a:prstDash val="solid"/>
          </a:ln>
        </p:spPr>
      </p:sp>
      <p:sp>
        <p:nvSpPr>
          <p:cNvPr id="62" name="Shape 53"/>
          <p:cNvSpPr/>
          <p:nvPr/>
        </p:nvSpPr>
        <p:spPr>
          <a:xfrm>
            <a:off x="6437376" y="1005840"/>
            <a:ext cx="822960" cy="36576"/>
          </a:xfrm>
          <a:prstGeom prst="rect">
            <a:avLst/>
          </a:prstGeom>
          <a:solidFill>
            <a:srgbClr val="4C3B8A"/>
          </a:solidFill>
          <a:ln w="12700">
            <a:solidFill>
              <a:srgbClr val="4C3B8A"/>
            </a:solidFill>
            <a:prstDash val="solid"/>
          </a:ln>
        </p:spPr>
      </p:sp>
      <p:pic>
        <p:nvPicPr>
          <p:cNvPr id="63" name="Image 7" descr="preencoded.png">    </p:cNvPr>
          <p:cNvPicPr>
            <a:picLocks noChangeAspect="1"/>
          </p:cNvPicPr>
          <p:nvPr/>
        </p:nvPicPr>
        <p:blipFill>
          <a:blip r:embed="rId8"/>
          <a:stretch>
            <a:fillRect/>
          </a:stretch>
        </p:blipFill>
        <p:spPr>
          <a:xfrm>
            <a:off x="6702552" y="1133856"/>
            <a:ext cx="292608" cy="292608"/>
          </a:xfrm>
          <a:prstGeom prst="rect">
            <a:avLst/>
          </a:prstGeom>
        </p:spPr>
      </p:pic>
      <p:sp>
        <p:nvSpPr>
          <p:cNvPr id="64" name="Shape 54"/>
          <p:cNvSpPr/>
          <p:nvPr/>
        </p:nvSpPr>
        <p:spPr>
          <a:xfrm>
            <a:off x="6729984" y="1042416"/>
            <a:ext cx="201168" cy="201168"/>
          </a:xfrm>
          <a:prstGeom prst="ellipse">
            <a:avLst/>
          </a:prstGeom>
          <a:solidFill>
            <a:srgbClr val="4C3B8A"/>
          </a:solidFill>
          <a:ln w="12700">
            <a:solidFill>
              <a:srgbClr val="4C3B8A"/>
            </a:solidFill>
            <a:prstDash val="solid"/>
          </a:ln>
        </p:spPr>
      </p:sp>
      <p:sp>
        <p:nvSpPr>
          <p:cNvPr id="65" name="Text 55"/>
          <p:cNvSpPr/>
          <p:nvPr/>
        </p:nvSpPr>
        <p:spPr>
          <a:xfrm>
            <a:off x="6729984" y="1042416"/>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8</a:t>
            </a:r>
            <a:endParaRPr lang="en-US" sz="900" dirty="0"/>
          </a:p>
        </p:txBody>
      </p:sp>
      <p:sp>
        <p:nvSpPr>
          <p:cNvPr id="66" name="Text 56"/>
          <p:cNvSpPr/>
          <p:nvPr/>
        </p:nvSpPr>
        <p:spPr>
          <a:xfrm>
            <a:off x="6473952" y="1463040"/>
            <a:ext cx="749808" cy="43891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Auditor</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review</a:t>
            </a:r>
            <a:endParaRPr lang="en-US" sz="850" dirty="0"/>
          </a:p>
        </p:txBody>
      </p:sp>
      <p:sp>
        <p:nvSpPr>
          <p:cNvPr id="67" name="Text 57"/>
          <p:cNvSpPr/>
          <p:nvPr/>
        </p:nvSpPr>
        <p:spPr>
          <a:xfrm>
            <a:off x="6473952" y="1920240"/>
            <a:ext cx="749808" cy="347472"/>
          </a:xfrm>
          <a:prstGeom prst="rect">
            <a:avLst/>
          </a:prstGeom>
          <a:noFill/>
          <a:ln/>
        </p:spPr>
        <p:txBody>
          <a:bodyPr wrap="square" lIns="0" tIns="0" rIns="0" bIns="0" rtlCol="0" anchor="ctr"/>
          <a:lstStyle/>
          <a:p>
            <a:pPr algn="ctr" indent="0" marL="0">
              <a:buNone/>
            </a:pPr>
            <a:r>
              <a:rPr lang="en-US" sz="750" dirty="0">
                <a:solidFill>
                  <a:srgbClr val="7B9EAE"/>
                </a:solidFill>
                <a:latin typeface="Calibri" pitchFamily="34" charset="0"/>
                <a:ea typeface="Calibri" pitchFamily="34" charset="-122"/>
                <a:cs typeface="Calibri" pitchFamily="34" charset="-120"/>
              </a:rPr>
              <a:t>approve or fix</a:t>
            </a:r>
            <a:endParaRPr lang="en-US" sz="750" dirty="0"/>
          </a:p>
        </p:txBody>
      </p:sp>
      <p:sp>
        <p:nvSpPr>
          <p:cNvPr id="68" name="Shape 58"/>
          <p:cNvSpPr/>
          <p:nvPr/>
        </p:nvSpPr>
        <p:spPr>
          <a:xfrm>
            <a:off x="7264908" y="1664208"/>
            <a:ext cx="54864" cy="18288"/>
          </a:xfrm>
          <a:prstGeom prst="rect">
            <a:avLst/>
          </a:prstGeom>
          <a:solidFill>
            <a:srgbClr val="4C3B8A"/>
          </a:solidFill>
          <a:ln w="12700">
            <a:solidFill>
              <a:srgbClr val="4C3B8A"/>
            </a:solidFill>
            <a:prstDash val="solid"/>
          </a:ln>
        </p:spPr>
      </p:sp>
      <p:sp>
        <p:nvSpPr>
          <p:cNvPr id="69" name="Shape 59"/>
          <p:cNvSpPr/>
          <p:nvPr/>
        </p:nvSpPr>
        <p:spPr>
          <a:xfrm>
            <a:off x="7315200" y="1005840"/>
            <a:ext cx="822960" cy="1389888"/>
          </a:xfrm>
          <a:prstGeom prst="rect">
            <a:avLst/>
          </a:prstGeom>
          <a:solidFill>
            <a:srgbClr val="1C2333"/>
          </a:solidFill>
          <a:ln w="12700">
            <a:solidFill>
              <a:srgbClr val="1A7A4A"/>
            </a:solidFill>
            <a:prstDash val="solid"/>
          </a:ln>
        </p:spPr>
      </p:sp>
      <p:sp>
        <p:nvSpPr>
          <p:cNvPr id="70" name="Shape 60"/>
          <p:cNvSpPr/>
          <p:nvPr/>
        </p:nvSpPr>
        <p:spPr>
          <a:xfrm>
            <a:off x="7315200" y="1005840"/>
            <a:ext cx="822960" cy="36576"/>
          </a:xfrm>
          <a:prstGeom prst="rect">
            <a:avLst/>
          </a:prstGeom>
          <a:solidFill>
            <a:srgbClr val="1A7A4A"/>
          </a:solidFill>
          <a:ln w="12700">
            <a:solidFill>
              <a:srgbClr val="1A7A4A"/>
            </a:solidFill>
            <a:prstDash val="solid"/>
          </a:ln>
        </p:spPr>
      </p:sp>
      <p:pic>
        <p:nvPicPr>
          <p:cNvPr id="71" name="Image 8" descr="preencoded.png">    </p:cNvPr>
          <p:cNvPicPr>
            <a:picLocks noChangeAspect="1"/>
          </p:cNvPicPr>
          <p:nvPr/>
        </p:nvPicPr>
        <p:blipFill>
          <a:blip r:embed="rId9"/>
          <a:stretch>
            <a:fillRect/>
          </a:stretch>
        </p:blipFill>
        <p:spPr>
          <a:xfrm>
            <a:off x="7580376" y="1133856"/>
            <a:ext cx="292608" cy="292608"/>
          </a:xfrm>
          <a:prstGeom prst="rect">
            <a:avLst/>
          </a:prstGeom>
        </p:spPr>
      </p:pic>
      <p:sp>
        <p:nvSpPr>
          <p:cNvPr id="72" name="Shape 61"/>
          <p:cNvSpPr/>
          <p:nvPr/>
        </p:nvSpPr>
        <p:spPr>
          <a:xfrm>
            <a:off x="7607808" y="1042416"/>
            <a:ext cx="201168" cy="201168"/>
          </a:xfrm>
          <a:prstGeom prst="ellipse">
            <a:avLst/>
          </a:prstGeom>
          <a:solidFill>
            <a:srgbClr val="1A7A4A"/>
          </a:solidFill>
          <a:ln w="12700">
            <a:solidFill>
              <a:srgbClr val="1A7A4A"/>
            </a:solidFill>
            <a:prstDash val="solid"/>
          </a:ln>
        </p:spPr>
      </p:sp>
      <p:sp>
        <p:nvSpPr>
          <p:cNvPr id="73" name="Text 62"/>
          <p:cNvSpPr/>
          <p:nvPr/>
        </p:nvSpPr>
        <p:spPr>
          <a:xfrm>
            <a:off x="7607808" y="1042416"/>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9</a:t>
            </a:r>
            <a:endParaRPr lang="en-US" sz="900" dirty="0"/>
          </a:p>
        </p:txBody>
      </p:sp>
      <p:sp>
        <p:nvSpPr>
          <p:cNvPr id="74" name="Text 63"/>
          <p:cNvSpPr/>
          <p:nvPr/>
        </p:nvSpPr>
        <p:spPr>
          <a:xfrm>
            <a:off x="7351776" y="1463040"/>
            <a:ext cx="749808" cy="43891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JSONL</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assembly</a:t>
            </a:r>
            <a:endParaRPr lang="en-US" sz="850" dirty="0"/>
          </a:p>
        </p:txBody>
      </p:sp>
      <p:sp>
        <p:nvSpPr>
          <p:cNvPr id="75" name="Text 64"/>
          <p:cNvSpPr/>
          <p:nvPr/>
        </p:nvSpPr>
        <p:spPr>
          <a:xfrm>
            <a:off x="7351776" y="1920240"/>
            <a:ext cx="749808" cy="347472"/>
          </a:xfrm>
          <a:prstGeom prst="rect">
            <a:avLst/>
          </a:prstGeom>
          <a:noFill/>
          <a:ln/>
        </p:spPr>
        <p:txBody>
          <a:bodyPr wrap="square" lIns="0" tIns="0" rIns="0" bIns="0" rtlCol="0" anchor="ctr"/>
          <a:lstStyle/>
          <a:p>
            <a:pPr algn="ctr" indent="0" marL="0">
              <a:buNone/>
            </a:pPr>
            <a:r>
              <a:rPr lang="en-US" sz="750" dirty="0">
                <a:solidFill>
                  <a:srgbClr val="7B9EAE"/>
                </a:solidFill>
                <a:latin typeface="Calibri" pitchFamily="34" charset="0"/>
                <a:ea typeface="Calibri" pitchFamily="34" charset="-122"/>
                <a:cs typeface="Calibri" pitchFamily="34" charset="-120"/>
              </a:rPr>
              <a:t>json.dumps()</a:t>
            </a:r>
            <a:endParaRPr lang="en-US" sz="750" dirty="0"/>
          </a:p>
        </p:txBody>
      </p:sp>
      <p:sp>
        <p:nvSpPr>
          <p:cNvPr id="76" name="Shape 65"/>
          <p:cNvSpPr/>
          <p:nvPr/>
        </p:nvSpPr>
        <p:spPr>
          <a:xfrm>
            <a:off x="292608" y="2523744"/>
            <a:ext cx="877824" cy="219456"/>
          </a:xfrm>
          <a:prstGeom prst="rect">
            <a:avLst/>
          </a:prstGeom>
          <a:solidFill>
            <a:srgbClr val="0D1117"/>
          </a:solidFill>
          <a:ln w="12700">
            <a:solidFill>
              <a:srgbClr val="4A5568"/>
            </a:solidFill>
            <a:prstDash val="solid"/>
          </a:ln>
        </p:spPr>
      </p:sp>
      <p:sp>
        <p:nvSpPr>
          <p:cNvPr id="77" name="Text 66"/>
          <p:cNvSpPr/>
          <p:nvPr/>
        </p:nvSpPr>
        <p:spPr>
          <a:xfrm>
            <a:off x="329184" y="2523744"/>
            <a:ext cx="804672" cy="219456"/>
          </a:xfrm>
          <a:prstGeom prst="rect">
            <a:avLst/>
          </a:prstGeom>
          <a:noFill/>
          <a:ln/>
        </p:spPr>
        <p:txBody>
          <a:bodyPr wrap="square" lIns="0" tIns="0" rIns="0" bIns="0" rtlCol="0" anchor="ctr"/>
          <a:lstStyle/>
          <a:p>
            <a:pPr algn="ctr" indent="0" marL="0">
              <a:buNone/>
            </a:pPr>
            <a:r>
              <a:rPr lang="en-US" sz="700" dirty="0">
                <a:solidFill>
                  <a:srgbClr val="4A5568"/>
                </a:solidFill>
                <a:latin typeface="Calibri" pitchFamily="34" charset="0"/>
                <a:ea typeface="Calibri" pitchFamily="34" charset="-122"/>
                <a:cs typeface="Calibri" pitchFamily="34" charset="-120"/>
              </a:rPr>
              <a:t>Format</a:t>
            </a:r>
            <a:endParaRPr lang="en-US" sz="700" dirty="0"/>
          </a:p>
        </p:txBody>
      </p:sp>
      <p:sp>
        <p:nvSpPr>
          <p:cNvPr id="78" name="Shape 67"/>
          <p:cNvSpPr/>
          <p:nvPr/>
        </p:nvSpPr>
        <p:spPr>
          <a:xfrm>
            <a:off x="1225296" y="2523744"/>
            <a:ext cx="1792224" cy="219456"/>
          </a:xfrm>
          <a:prstGeom prst="rect">
            <a:avLst/>
          </a:prstGeom>
          <a:solidFill>
            <a:srgbClr val="0D1117"/>
          </a:solidFill>
          <a:ln w="12700">
            <a:solidFill>
              <a:srgbClr val="0E7C7B"/>
            </a:solidFill>
            <a:prstDash val="solid"/>
          </a:ln>
        </p:spPr>
      </p:sp>
      <p:sp>
        <p:nvSpPr>
          <p:cNvPr id="79" name="Text 68"/>
          <p:cNvSpPr/>
          <p:nvPr/>
        </p:nvSpPr>
        <p:spPr>
          <a:xfrm>
            <a:off x="1261872" y="2523744"/>
            <a:ext cx="1719072" cy="219456"/>
          </a:xfrm>
          <a:prstGeom prst="rect">
            <a:avLst/>
          </a:prstGeom>
          <a:noFill/>
          <a:ln/>
        </p:spPr>
        <p:txBody>
          <a:bodyPr wrap="square" lIns="0" tIns="0" rIns="0" bIns="0" rtlCol="0" anchor="ctr"/>
          <a:lstStyle/>
          <a:p>
            <a:pPr algn="ctr" indent="0" marL="0">
              <a:buNone/>
            </a:pPr>
            <a:r>
              <a:rPr lang="en-US" sz="700" dirty="0">
                <a:solidFill>
                  <a:srgbClr val="0E7C7B"/>
                </a:solidFill>
                <a:latin typeface="Calibri" pitchFamily="34" charset="0"/>
                <a:ea typeface="Calibri" pitchFamily="34" charset="-122"/>
                <a:cs typeface="Calibri" pitchFamily="34" charset="-120"/>
              </a:rPr>
              <a:t>Layer 1 — Docling / Surya / python-docx / openpyxl</a:t>
            </a:r>
            <a:endParaRPr lang="en-US" sz="700" dirty="0"/>
          </a:p>
        </p:txBody>
      </p:sp>
      <p:sp>
        <p:nvSpPr>
          <p:cNvPr id="80" name="Shape 69"/>
          <p:cNvSpPr/>
          <p:nvPr/>
        </p:nvSpPr>
        <p:spPr>
          <a:xfrm>
            <a:off x="3072384" y="2523744"/>
            <a:ext cx="914400" cy="219456"/>
          </a:xfrm>
          <a:prstGeom prst="rect">
            <a:avLst/>
          </a:prstGeom>
          <a:solidFill>
            <a:srgbClr val="0D1117"/>
          </a:solidFill>
          <a:ln w="12700">
            <a:solidFill>
              <a:srgbClr val="0E7C7B"/>
            </a:solidFill>
            <a:prstDash val="solid"/>
          </a:ln>
        </p:spPr>
      </p:sp>
      <p:sp>
        <p:nvSpPr>
          <p:cNvPr id="81" name="Text 70"/>
          <p:cNvSpPr/>
          <p:nvPr/>
        </p:nvSpPr>
        <p:spPr>
          <a:xfrm>
            <a:off x="3108960" y="2523744"/>
            <a:ext cx="841248" cy="219456"/>
          </a:xfrm>
          <a:prstGeom prst="rect">
            <a:avLst/>
          </a:prstGeom>
          <a:noFill/>
          <a:ln/>
        </p:spPr>
        <p:txBody>
          <a:bodyPr wrap="square" lIns="0" tIns="0" rIns="0" bIns="0" rtlCol="0" anchor="ctr"/>
          <a:lstStyle/>
          <a:p>
            <a:pPr algn="ctr" indent="0" marL="0">
              <a:buNone/>
            </a:pPr>
            <a:r>
              <a:rPr lang="en-US" sz="700" dirty="0">
                <a:solidFill>
                  <a:srgbClr val="0E7C7B"/>
                </a:solidFill>
                <a:latin typeface="Calibri" pitchFamily="34" charset="0"/>
                <a:ea typeface="Calibri" pitchFamily="34" charset="-122"/>
                <a:cs typeface="Calibri" pitchFamily="34" charset="-120"/>
              </a:rPr>
              <a:t>Normalize</a:t>
            </a:r>
            <a:endParaRPr lang="en-US" sz="700" dirty="0"/>
          </a:p>
        </p:txBody>
      </p:sp>
      <p:sp>
        <p:nvSpPr>
          <p:cNvPr id="82" name="Shape 71"/>
          <p:cNvSpPr/>
          <p:nvPr/>
        </p:nvSpPr>
        <p:spPr>
          <a:xfrm>
            <a:off x="4041648" y="2523744"/>
            <a:ext cx="877824" cy="219456"/>
          </a:xfrm>
          <a:prstGeom prst="rect">
            <a:avLst/>
          </a:prstGeom>
          <a:solidFill>
            <a:srgbClr val="0D1117"/>
          </a:solidFill>
          <a:ln w="12700">
            <a:solidFill>
              <a:srgbClr val="C0392B"/>
            </a:solidFill>
            <a:prstDash val="solid"/>
          </a:ln>
        </p:spPr>
      </p:sp>
      <p:sp>
        <p:nvSpPr>
          <p:cNvPr id="83" name="Text 72"/>
          <p:cNvSpPr/>
          <p:nvPr/>
        </p:nvSpPr>
        <p:spPr>
          <a:xfrm>
            <a:off x="4078224" y="2523744"/>
            <a:ext cx="804672" cy="219456"/>
          </a:xfrm>
          <a:prstGeom prst="rect">
            <a:avLst/>
          </a:prstGeom>
          <a:noFill/>
          <a:ln/>
        </p:spPr>
        <p:txBody>
          <a:bodyPr wrap="square" lIns="0" tIns="0" rIns="0" bIns="0" rtlCol="0" anchor="ctr"/>
          <a:lstStyle/>
          <a:p>
            <a:pPr algn="ctr" indent="0" marL="0">
              <a:buNone/>
            </a:pPr>
            <a:r>
              <a:rPr lang="en-US" sz="700" dirty="0">
                <a:solidFill>
                  <a:srgbClr val="C0392B"/>
                </a:solidFill>
                <a:latin typeface="Calibri" pitchFamily="34" charset="0"/>
                <a:ea typeface="Calibri" pitchFamily="34" charset="-122"/>
                <a:cs typeface="Calibri" pitchFamily="34" charset="-120"/>
              </a:rPr>
              <a:t>PII + Gate</a:t>
            </a:r>
            <a:endParaRPr lang="en-US" sz="700" dirty="0"/>
          </a:p>
        </p:txBody>
      </p:sp>
      <p:sp>
        <p:nvSpPr>
          <p:cNvPr id="84" name="Shape 73"/>
          <p:cNvSpPr/>
          <p:nvPr/>
        </p:nvSpPr>
        <p:spPr>
          <a:xfrm>
            <a:off x="4974336" y="2523744"/>
            <a:ext cx="877824" cy="219456"/>
          </a:xfrm>
          <a:prstGeom prst="rect">
            <a:avLst/>
          </a:prstGeom>
          <a:solidFill>
            <a:srgbClr val="0D1117"/>
          </a:solidFill>
          <a:ln w="12700">
            <a:solidFill>
              <a:srgbClr val="D4A017"/>
            </a:solidFill>
            <a:prstDash val="solid"/>
          </a:ln>
        </p:spPr>
      </p:sp>
      <p:sp>
        <p:nvSpPr>
          <p:cNvPr id="85" name="Text 74"/>
          <p:cNvSpPr/>
          <p:nvPr/>
        </p:nvSpPr>
        <p:spPr>
          <a:xfrm>
            <a:off x="5010912" y="2523744"/>
            <a:ext cx="804672" cy="219456"/>
          </a:xfrm>
          <a:prstGeom prst="rect">
            <a:avLst/>
          </a:prstGeom>
          <a:noFill/>
          <a:ln/>
        </p:spPr>
        <p:txBody>
          <a:bodyPr wrap="square" lIns="0" tIns="0" rIns="0" bIns="0" rtlCol="0" anchor="ctr"/>
          <a:lstStyle/>
          <a:p>
            <a:pPr algn="ctr" indent="0" marL="0">
              <a:buNone/>
            </a:pPr>
            <a:r>
              <a:rPr lang="en-US" sz="700" dirty="0">
                <a:solidFill>
                  <a:srgbClr val="D4A017"/>
                </a:solidFill>
                <a:latin typeface="Calibri" pitchFamily="34" charset="0"/>
                <a:ea typeface="Calibri" pitchFamily="34" charset="-122"/>
                <a:cs typeface="Calibri" pitchFamily="34" charset="-120"/>
              </a:rPr>
              <a:t>Layer 2 — Gemma 3</a:t>
            </a:r>
            <a:endParaRPr lang="en-US" sz="700" dirty="0"/>
          </a:p>
        </p:txBody>
      </p:sp>
      <p:sp>
        <p:nvSpPr>
          <p:cNvPr id="86" name="Shape 75"/>
          <p:cNvSpPr/>
          <p:nvPr/>
        </p:nvSpPr>
        <p:spPr>
          <a:xfrm>
            <a:off x="5907024" y="2523744"/>
            <a:ext cx="1792224" cy="219456"/>
          </a:xfrm>
          <a:prstGeom prst="rect">
            <a:avLst/>
          </a:prstGeom>
          <a:solidFill>
            <a:srgbClr val="0D1117"/>
          </a:solidFill>
          <a:ln w="12700">
            <a:solidFill>
              <a:srgbClr val="4C3B8A"/>
            </a:solidFill>
            <a:prstDash val="solid"/>
          </a:ln>
        </p:spPr>
      </p:sp>
      <p:sp>
        <p:nvSpPr>
          <p:cNvPr id="87" name="Text 76"/>
          <p:cNvSpPr/>
          <p:nvPr/>
        </p:nvSpPr>
        <p:spPr>
          <a:xfrm>
            <a:off x="5943600" y="2523744"/>
            <a:ext cx="1719072" cy="219456"/>
          </a:xfrm>
          <a:prstGeom prst="rect">
            <a:avLst/>
          </a:prstGeom>
          <a:noFill/>
          <a:ln/>
        </p:spPr>
        <p:txBody>
          <a:bodyPr wrap="square" lIns="0" tIns="0" rIns="0" bIns="0" rtlCol="0" anchor="ctr"/>
          <a:lstStyle/>
          <a:p>
            <a:pPr algn="ctr" indent="0" marL="0">
              <a:buNone/>
            </a:pPr>
            <a:r>
              <a:rPr lang="en-US" sz="700" dirty="0">
                <a:solidFill>
                  <a:srgbClr val="4C3B8A"/>
                </a:solidFill>
                <a:latin typeface="Calibri" pitchFamily="34" charset="0"/>
                <a:ea typeface="Calibri" pitchFamily="34" charset="-122"/>
                <a:cs typeface="Calibri" pitchFamily="34" charset="-120"/>
              </a:rPr>
              <a:t>Pair construction</a:t>
            </a:r>
            <a:endParaRPr lang="en-US" sz="700" dirty="0"/>
          </a:p>
        </p:txBody>
      </p:sp>
      <p:sp>
        <p:nvSpPr>
          <p:cNvPr id="88" name="Shape 77"/>
          <p:cNvSpPr/>
          <p:nvPr/>
        </p:nvSpPr>
        <p:spPr>
          <a:xfrm>
            <a:off x="7754112" y="2523744"/>
            <a:ext cx="877824" cy="219456"/>
          </a:xfrm>
          <a:prstGeom prst="rect">
            <a:avLst/>
          </a:prstGeom>
          <a:solidFill>
            <a:srgbClr val="0D1117"/>
          </a:solidFill>
          <a:ln w="12700">
            <a:solidFill>
              <a:srgbClr val="1A7A4A"/>
            </a:solidFill>
            <a:prstDash val="solid"/>
          </a:ln>
        </p:spPr>
      </p:sp>
      <p:sp>
        <p:nvSpPr>
          <p:cNvPr id="89" name="Text 78"/>
          <p:cNvSpPr/>
          <p:nvPr/>
        </p:nvSpPr>
        <p:spPr>
          <a:xfrm>
            <a:off x="7790688" y="2523744"/>
            <a:ext cx="804672" cy="219456"/>
          </a:xfrm>
          <a:prstGeom prst="rect">
            <a:avLst/>
          </a:prstGeom>
          <a:noFill/>
          <a:ln/>
        </p:spPr>
        <p:txBody>
          <a:bodyPr wrap="square" lIns="0" tIns="0" rIns="0" bIns="0" rtlCol="0" anchor="ctr"/>
          <a:lstStyle/>
          <a:p>
            <a:pPr algn="ctr" indent="0" marL="0">
              <a:buNone/>
            </a:pPr>
            <a:r>
              <a:rPr lang="en-US" sz="700" dirty="0">
                <a:solidFill>
                  <a:srgbClr val="1A7A4A"/>
                </a:solidFill>
                <a:latin typeface="Calibri" pitchFamily="34" charset="0"/>
                <a:ea typeface="Calibri" pitchFamily="34" charset="-122"/>
                <a:cs typeface="Calibri" pitchFamily="34" charset="-120"/>
              </a:rPr>
              <a:t>Output</a:t>
            </a:r>
            <a:endParaRPr lang="en-US" sz="700" dirty="0"/>
          </a:p>
        </p:txBody>
      </p:sp>
      <p:sp>
        <p:nvSpPr>
          <p:cNvPr id="90" name="Shape 79"/>
          <p:cNvSpPr/>
          <p:nvPr/>
        </p:nvSpPr>
        <p:spPr>
          <a:xfrm>
            <a:off x="274320" y="2889504"/>
            <a:ext cx="8595360" cy="512064"/>
          </a:xfrm>
          <a:prstGeom prst="rect">
            <a:avLst/>
          </a:prstGeom>
          <a:solidFill>
            <a:srgbClr val="0A3040"/>
          </a:solidFill>
          <a:ln w="12700">
            <a:solidFill>
              <a:srgbClr val="0E7C7B"/>
            </a:solidFill>
            <a:prstDash val="solid"/>
          </a:ln>
        </p:spPr>
      </p:sp>
      <p:sp>
        <p:nvSpPr>
          <p:cNvPr id="91" name="Text 80"/>
          <p:cNvSpPr/>
          <p:nvPr/>
        </p:nvSpPr>
        <p:spPr>
          <a:xfrm>
            <a:off x="402336" y="2907792"/>
            <a:ext cx="8321040" cy="457200"/>
          </a:xfrm>
          <a:prstGeom prst="rect">
            <a:avLst/>
          </a:prstGeom>
          <a:noFill/>
          <a:ln/>
        </p:spPr>
        <p:txBody>
          <a:bodyPr wrap="square" lIns="0" tIns="0" rIns="0" bIns="0" rtlCol="0" anchor="ctr"/>
          <a:lstStyle/>
          <a:p>
            <a:pPr indent="0" marL="0">
              <a:buNone/>
            </a:pPr>
            <a:r>
              <a:rPr lang="en-US" sz="1000" dirty="0">
                <a:solidFill>
                  <a:srgbClr val="1A9A9C"/>
                </a:solidFill>
                <a:latin typeface="Calibri" pitchFamily="34" charset="0"/>
                <a:ea typeface="Calibri" pitchFamily="34" charset="-122"/>
                <a:cs typeface="Calibri" pitchFamily="34" charset="-120"/>
              </a:rPr>
              <a:t>Two non-negotiable rules: (1) Layer 1 is NEVER an LLM — only deterministic tools parse files.  (2) No pair enters training without extraction_confidence ≥ 0.7 AND auditor_approved = True.</a:t>
            </a:r>
            <a:endParaRPr lang="en-US" sz="1000" dirty="0"/>
          </a:p>
        </p:txBody>
      </p:sp>
      <p:sp>
        <p:nvSpPr>
          <p:cNvPr id="92" name="Shape 81"/>
          <p:cNvSpPr/>
          <p:nvPr/>
        </p:nvSpPr>
        <p:spPr>
          <a:xfrm>
            <a:off x="274320" y="3529584"/>
            <a:ext cx="2377440" cy="1426464"/>
          </a:xfrm>
          <a:prstGeom prst="rect">
            <a:avLst/>
          </a:prstGeom>
          <a:solidFill>
            <a:srgbClr val="1C2333"/>
          </a:solidFill>
          <a:ln w="12700">
            <a:solidFill>
              <a:srgbClr val="4A5568"/>
            </a:solidFill>
            <a:prstDash val="solid"/>
          </a:ln>
        </p:spPr>
      </p:sp>
      <p:sp>
        <p:nvSpPr>
          <p:cNvPr id="93" name="Text 82"/>
          <p:cNvSpPr/>
          <p:nvPr/>
        </p:nvSpPr>
        <p:spPr>
          <a:xfrm>
            <a:off x="384048" y="3621024"/>
            <a:ext cx="2157984" cy="23774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Input formats accepted</a:t>
            </a:r>
            <a:endParaRPr lang="en-US" sz="1000" dirty="0"/>
          </a:p>
        </p:txBody>
      </p:sp>
      <p:sp>
        <p:nvSpPr>
          <p:cNvPr id="94" name="Shape 83"/>
          <p:cNvSpPr/>
          <p:nvPr/>
        </p:nvSpPr>
        <p:spPr>
          <a:xfrm>
            <a:off x="384048" y="3877056"/>
            <a:ext cx="91440" cy="91440"/>
          </a:xfrm>
          <a:prstGeom prst="rect">
            <a:avLst/>
          </a:prstGeom>
          <a:solidFill>
            <a:srgbClr val="0E7C7B"/>
          </a:solidFill>
          <a:ln w="12700">
            <a:solidFill>
              <a:srgbClr val="0E7C7B"/>
            </a:solidFill>
            <a:prstDash val="solid"/>
          </a:ln>
        </p:spPr>
      </p:sp>
      <p:sp>
        <p:nvSpPr>
          <p:cNvPr id="95" name="Text 84"/>
          <p:cNvSpPr/>
          <p:nvPr/>
        </p:nvSpPr>
        <p:spPr>
          <a:xfrm>
            <a:off x="530352" y="3858768"/>
            <a:ext cx="1920240" cy="182880"/>
          </a:xfrm>
          <a:prstGeom prst="rect">
            <a:avLst/>
          </a:prstGeom>
          <a:noFill/>
          <a:ln/>
        </p:spPr>
        <p:txBody>
          <a:bodyPr wrap="square" lIns="0" tIns="0" rIns="0" bIns="0" rtlCol="0" anchor="ctr"/>
          <a:lstStyle/>
          <a:p>
            <a:pPr indent="0" marL="0">
              <a:buNone/>
            </a:pPr>
            <a:r>
              <a:rPr lang="en-US" sz="900" dirty="0">
                <a:solidFill>
                  <a:srgbClr val="9EB8C8"/>
                </a:solidFill>
                <a:latin typeface="Calibri" pitchFamily="34" charset="0"/>
                <a:ea typeface="Calibri" pitchFamily="34" charset="-122"/>
                <a:cs typeface="Calibri" pitchFamily="34" charset="-120"/>
              </a:rPr>
              <a:t>.pdf (digital)</a:t>
            </a:r>
            <a:endParaRPr lang="en-US" sz="900" dirty="0"/>
          </a:p>
        </p:txBody>
      </p:sp>
      <p:sp>
        <p:nvSpPr>
          <p:cNvPr id="96" name="Shape 85"/>
          <p:cNvSpPr/>
          <p:nvPr/>
        </p:nvSpPr>
        <p:spPr>
          <a:xfrm>
            <a:off x="384048" y="4078224"/>
            <a:ext cx="91440" cy="91440"/>
          </a:xfrm>
          <a:prstGeom prst="rect">
            <a:avLst/>
          </a:prstGeom>
          <a:solidFill>
            <a:srgbClr val="0E7C7B"/>
          </a:solidFill>
          <a:ln w="12700">
            <a:solidFill>
              <a:srgbClr val="0E7C7B"/>
            </a:solidFill>
            <a:prstDash val="solid"/>
          </a:ln>
        </p:spPr>
      </p:sp>
      <p:sp>
        <p:nvSpPr>
          <p:cNvPr id="97" name="Text 86"/>
          <p:cNvSpPr/>
          <p:nvPr/>
        </p:nvSpPr>
        <p:spPr>
          <a:xfrm>
            <a:off x="530352" y="4059936"/>
            <a:ext cx="1920240" cy="182880"/>
          </a:xfrm>
          <a:prstGeom prst="rect">
            <a:avLst/>
          </a:prstGeom>
          <a:noFill/>
          <a:ln/>
        </p:spPr>
        <p:txBody>
          <a:bodyPr wrap="square" lIns="0" tIns="0" rIns="0" bIns="0" rtlCol="0" anchor="ctr"/>
          <a:lstStyle/>
          <a:p>
            <a:pPr indent="0" marL="0">
              <a:buNone/>
            </a:pPr>
            <a:r>
              <a:rPr lang="en-US" sz="900" dirty="0">
                <a:solidFill>
                  <a:srgbClr val="9EB8C8"/>
                </a:solidFill>
                <a:latin typeface="Calibri" pitchFamily="34" charset="0"/>
                <a:ea typeface="Calibri" pitchFamily="34" charset="-122"/>
                <a:cs typeface="Calibri" pitchFamily="34" charset="-120"/>
              </a:rPr>
              <a:t>scanned .pdf</a:t>
            </a:r>
            <a:endParaRPr lang="en-US" sz="900" dirty="0"/>
          </a:p>
        </p:txBody>
      </p:sp>
      <p:sp>
        <p:nvSpPr>
          <p:cNvPr id="98" name="Shape 87"/>
          <p:cNvSpPr/>
          <p:nvPr/>
        </p:nvSpPr>
        <p:spPr>
          <a:xfrm>
            <a:off x="384048" y="4279392"/>
            <a:ext cx="91440" cy="91440"/>
          </a:xfrm>
          <a:prstGeom prst="rect">
            <a:avLst/>
          </a:prstGeom>
          <a:solidFill>
            <a:srgbClr val="0E7C7B"/>
          </a:solidFill>
          <a:ln w="12700">
            <a:solidFill>
              <a:srgbClr val="0E7C7B"/>
            </a:solidFill>
            <a:prstDash val="solid"/>
          </a:ln>
        </p:spPr>
      </p:sp>
      <p:sp>
        <p:nvSpPr>
          <p:cNvPr id="99" name="Text 88"/>
          <p:cNvSpPr/>
          <p:nvPr/>
        </p:nvSpPr>
        <p:spPr>
          <a:xfrm>
            <a:off x="530352" y="4261104"/>
            <a:ext cx="1920240" cy="182880"/>
          </a:xfrm>
          <a:prstGeom prst="rect">
            <a:avLst/>
          </a:prstGeom>
          <a:noFill/>
          <a:ln/>
        </p:spPr>
        <p:txBody>
          <a:bodyPr wrap="square" lIns="0" tIns="0" rIns="0" bIns="0" rtlCol="0" anchor="ctr"/>
          <a:lstStyle/>
          <a:p>
            <a:pPr indent="0" marL="0">
              <a:buNone/>
            </a:pPr>
            <a:r>
              <a:rPr lang="en-US" sz="900" dirty="0">
                <a:solidFill>
                  <a:srgbClr val="9EB8C8"/>
                </a:solidFill>
                <a:latin typeface="Calibri" pitchFamily="34" charset="0"/>
                <a:ea typeface="Calibri" pitchFamily="34" charset="-122"/>
                <a:cs typeface="Calibri" pitchFamily="34" charset="-120"/>
              </a:rPr>
              <a:t>.docx / .doc</a:t>
            </a:r>
            <a:endParaRPr lang="en-US" sz="900" dirty="0"/>
          </a:p>
        </p:txBody>
      </p:sp>
      <p:sp>
        <p:nvSpPr>
          <p:cNvPr id="100" name="Shape 89"/>
          <p:cNvSpPr/>
          <p:nvPr/>
        </p:nvSpPr>
        <p:spPr>
          <a:xfrm>
            <a:off x="384048" y="4480560"/>
            <a:ext cx="91440" cy="91440"/>
          </a:xfrm>
          <a:prstGeom prst="rect">
            <a:avLst/>
          </a:prstGeom>
          <a:solidFill>
            <a:srgbClr val="0E7C7B"/>
          </a:solidFill>
          <a:ln w="12700">
            <a:solidFill>
              <a:srgbClr val="0E7C7B"/>
            </a:solidFill>
            <a:prstDash val="solid"/>
          </a:ln>
        </p:spPr>
      </p:sp>
      <p:sp>
        <p:nvSpPr>
          <p:cNvPr id="101" name="Text 90"/>
          <p:cNvSpPr/>
          <p:nvPr/>
        </p:nvSpPr>
        <p:spPr>
          <a:xfrm>
            <a:off x="530352" y="4462272"/>
            <a:ext cx="1920240" cy="182880"/>
          </a:xfrm>
          <a:prstGeom prst="rect">
            <a:avLst/>
          </a:prstGeom>
          <a:noFill/>
          <a:ln/>
        </p:spPr>
        <p:txBody>
          <a:bodyPr wrap="square" lIns="0" tIns="0" rIns="0" bIns="0" rtlCol="0" anchor="ctr"/>
          <a:lstStyle/>
          <a:p>
            <a:pPr indent="0" marL="0">
              <a:buNone/>
            </a:pPr>
            <a:r>
              <a:rPr lang="en-US" sz="900" dirty="0">
                <a:solidFill>
                  <a:srgbClr val="9EB8C8"/>
                </a:solidFill>
                <a:latin typeface="Calibri" pitchFamily="34" charset="0"/>
                <a:ea typeface="Calibri" pitchFamily="34" charset="-122"/>
                <a:cs typeface="Calibri" pitchFamily="34" charset="-120"/>
              </a:rPr>
              <a:t>.xlsx / .xls</a:t>
            </a:r>
            <a:endParaRPr lang="en-US" sz="900" dirty="0"/>
          </a:p>
        </p:txBody>
      </p:sp>
      <p:sp>
        <p:nvSpPr>
          <p:cNvPr id="102" name="Shape 91"/>
          <p:cNvSpPr/>
          <p:nvPr/>
        </p:nvSpPr>
        <p:spPr>
          <a:xfrm>
            <a:off x="384048" y="4681728"/>
            <a:ext cx="91440" cy="91440"/>
          </a:xfrm>
          <a:prstGeom prst="rect">
            <a:avLst/>
          </a:prstGeom>
          <a:solidFill>
            <a:srgbClr val="0E7C7B"/>
          </a:solidFill>
          <a:ln w="12700">
            <a:solidFill>
              <a:srgbClr val="0E7C7B"/>
            </a:solidFill>
            <a:prstDash val="solid"/>
          </a:ln>
        </p:spPr>
      </p:sp>
      <p:sp>
        <p:nvSpPr>
          <p:cNvPr id="103" name="Text 92"/>
          <p:cNvSpPr/>
          <p:nvPr/>
        </p:nvSpPr>
        <p:spPr>
          <a:xfrm>
            <a:off x="530352" y="4663440"/>
            <a:ext cx="1920240" cy="182880"/>
          </a:xfrm>
          <a:prstGeom prst="rect">
            <a:avLst/>
          </a:prstGeom>
          <a:noFill/>
          <a:ln/>
        </p:spPr>
        <p:txBody>
          <a:bodyPr wrap="square" lIns="0" tIns="0" rIns="0" bIns="0" rtlCol="0" anchor="ctr"/>
          <a:lstStyle/>
          <a:p>
            <a:pPr indent="0" marL="0">
              <a:buNone/>
            </a:pPr>
            <a:r>
              <a:rPr lang="en-US" sz="900" dirty="0">
                <a:solidFill>
                  <a:srgbClr val="9EB8C8"/>
                </a:solidFill>
                <a:latin typeface="Calibri" pitchFamily="34" charset="0"/>
                <a:ea typeface="Calibri" pitchFamily="34" charset="-122"/>
                <a:cs typeface="Calibri" pitchFamily="34" charset="-120"/>
              </a:rPr>
              <a:t>.json</a:t>
            </a:r>
            <a:endParaRPr lang="en-US" sz="900" dirty="0"/>
          </a:p>
        </p:txBody>
      </p:sp>
      <p:sp>
        <p:nvSpPr>
          <p:cNvPr id="104" name="Shape 93"/>
          <p:cNvSpPr/>
          <p:nvPr/>
        </p:nvSpPr>
        <p:spPr>
          <a:xfrm>
            <a:off x="6492240" y="3529584"/>
            <a:ext cx="2377440" cy="1426464"/>
          </a:xfrm>
          <a:prstGeom prst="rect">
            <a:avLst/>
          </a:prstGeom>
          <a:solidFill>
            <a:srgbClr val="1C2333"/>
          </a:solidFill>
          <a:ln w="12700">
            <a:solidFill>
              <a:srgbClr val="1A7A4A"/>
            </a:solidFill>
            <a:prstDash val="solid"/>
          </a:ln>
        </p:spPr>
      </p:sp>
      <p:sp>
        <p:nvSpPr>
          <p:cNvPr id="105" name="Text 94"/>
          <p:cNvSpPr/>
          <p:nvPr/>
        </p:nvSpPr>
        <p:spPr>
          <a:xfrm>
            <a:off x="6601968" y="3621024"/>
            <a:ext cx="2157984" cy="23774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Output: JSONL line</a:t>
            </a:r>
            <a:endParaRPr lang="en-US" sz="1000" dirty="0"/>
          </a:p>
        </p:txBody>
      </p:sp>
      <p:sp>
        <p:nvSpPr>
          <p:cNvPr id="106" name="Text 95"/>
          <p:cNvSpPr/>
          <p:nvPr/>
        </p:nvSpPr>
        <p:spPr>
          <a:xfrm>
            <a:off x="6601968" y="3895344"/>
            <a:ext cx="2157984" cy="914400"/>
          </a:xfrm>
          <a:prstGeom prst="rect">
            <a:avLst/>
          </a:prstGeom>
          <a:noFill/>
          <a:ln/>
        </p:spPr>
        <p:txBody>
          <a:bodyPr wrap="square" lIns="0" tIns="0" rIns="0" bIns="0" rtlCol="0" anchor="ctr"/>
          <a:lstStyle/>
          <a:p>
            <a:pPr indent="0" marL="0">
              <a:buNone/>
            </a:pPr>
            <a:r>
              <a:rPr lang="en-US" sz="750" dirty="0">
                <a:solidFill>
                  <a:srgbClr val="9EB8C8"/>
                </a:solidFill>
                <a:latin typeface="Courier New" pitchFamily="34" charset="0"/>
                <a:ea typeface="Courier New" pitchFamily="34" charset="-122"/>
                <a:cs typeface="Courier New" pitchFamily="34" charset="-120"/>
              </a:rPr>
              <a:t>{"messages":[</a:t>
            </a:r>
            <a:endParaRPr lang="en-US" sz="750" dirty="0"/>
          </a:p>
          <a:p>
            <a:pPr indent="0" marL="0">
              <a:buNone/>
            </a:pPr>
            <a:r>
              <a:rPr lang="en-US" sz="750" dirty="0">
                <a:solidFill>
                  <a:srgbClr val="9EB8C8"/>
                </a:solidFill>
                <a:latin typeface="Courier New" pitchFamily="34" charset="0"/>
                <a:ea typeface="Courier New" pitchFamily="34" charset="-122"/>
                <a:cs typeface="Courier New" pitchFamily="34" charset="-120"/>
              </a:rPr>
              <a:t>  {"role":"system","content":"..."},</a:t>
            </a:r>
            <a:endParaRPr lang="en-US" sz="750" dirty="0"/>
          </a:p>
          <a:p>
            <a:pPr indent="0" marL="0">
              <a:buNone/>
            </a:pPr>
            <a:r>
              <a:rPr lang="en-US" sz="750" dirty="0">
                <a:solidFill>
                  <a:srgbClr val="9EB8C8"/>
                </a:solidFill>
                <a:latin typeface="Courier New" pitchFamily="34" charset="0"/>
                <a:ea typeface="Courier New" pitchFamily="34" charset="-122"/>
                <a:cs typeface="Courier New" pitchFamily="34" charset="-120"/>
              </a:rPr>
              <a:t>  {"role":"user","content":"..."},</a:t>
            </a:r>
            <a:endParaRPr lang="en-US" sz="750" dirty="0"/>
          </a:p>
          <a:p>
            <a:pPr indent="0" marL="0">
              <a:buNone/>
            </a:pPr>
            <a:r>
              <a:rPr lang="en-US" sz="750" dirty="0">
                <a:solidFill>
                  <a:srgbClr val="9EB8C8"/>
                </a:solidFill>
                <a:latin typeface="Courier New" pitchFamily="34" charset="0"/>
                <a:ea typeface="Courier New" pitchFamily="34" charset="-122"/>
                <a:cs typeface="Courier New" pitchFamily="34" charset="-120"/>
              </a:rPr>
              <a:t>  {"role":"assistant","content":"..."}</a:t>
            </a:r>
            <a:endParaRPr lang="en-US" sz="750" dirty="0"/>
          </a:p>
          <a:p>
            <a:pPr indent="0" marL="0">
              <a:buNone/>
            </a:pPr>
            <a:r>
              <a:rPr lang="en-US" sz="750" dirty="0">
                <a:solidFill>
                  <a:srgbClr val="9EB8C8"/>
                </a:solidFill>
                <a:latin typeface="Courier New" pitchFamily="34" charset="0"/>
                <a:ea typeface="Courier New" pitchFamily="34" charset="-122"/>
                <a:cs typeface="Courier New" pitchFamily="34" charset="-120"/>
              </a:rPr>
              <a:t>]}</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365760" y="219456"/>
            <a:ext cx="3217774" cy="256032"/>
          </a:xfrm>
          <a:prstGeom prst="rect">
            <a:avLst/>
          </a:prstGeom>
          <a:solidFill>
            <a:srgbClr val="0E7C7B"/>
          </a:solidFill>
          <a:ln w="12700">
            <a:solidFill>
              <a:srgbClr val="0E7C7B"/>
            </a:solidFill>
            <a:prstDash val="solid"/>
          </a:ln>
        </p:spPr>
      </p:sp>
      <p:sp>
        <p:nvSpPr>
          <p:cNvPr id="3" name="Text 1"/>
          <p:cNvSpPr/>
          <p:nvPr/>
        </p:nvSpPr>
        <p:spPr>
          <a:xfrm>
            <a:off x="365760" y="219456"/>
            <a:ext cx="3217774"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STAGE 1 · FORMAT ROUTING &amp; EXTRACTION</a:t>
            </a:r>
            <a:endParaRPr lang="en-US" sz="850" dirty="0"/>
          </a:p>
        </p:txBody>
      </p:sp>
      <p:sp>
        <p:nvSpPr>
          <p:cNvPr id="4" name="Text 2"/>
          <p:cNvSpPr/>
          <p:nvPr/>
        </p:nvSpPr>
        <p:spPr>
          <a:xfrm>
            <a:off x="365760" y="548640"/>
            <a:ext cx="8412480" cy="512064"/>
          </a:xfrm>
          <a:prstGeom prst="rect">
            <a:avLst/>
          </a:prstGeom>
          <a:noFill/>
          <a:ln/>
        </p:spPr>
        <p:txBody>
          <a:bodyPr wrap="square" lIns="0" tIns="0" rIns="0" bIns="0" rtlCol="0" anchor="ctr"/>
          <a:lstStyle/>
          <a:p>
            <a:pPr indent="0" marL="0">
              <a:buNone/>
            </a:pPr>
            <a:r>
              <a:rPr lang="en-US" sz="2600" b="1" dirty="0">
                <a:solidFill>
                  <a:srgbClr val="0D1117"/>
                </a:solidFill>
                <a:latin typeface="Calibri" pitchFamily="34" charset="0"/>
                <a:ea typeface="Calibri" pitchFamily="34" charset="-122"/>
                <a:cs typeface="Calibri" pitchFamily="34" charset="-120"/>
              </a:rPr>
              <a:t>Every file type has exactly one extraction tool</a:t>
            </a:r>
            <a:endParaRPr lang="en-US" sz="2600" dirty="0"/>
          </a:p>
        </p:txBody>
      </p:sp>
      <p:sp>
        <p:nvSpPr>
          <p:cNvPr id="5" name="Text 3"/>
          <p:cNvSpPr/>
          <p:nvPr/>
        </p:nvSpPr>
        <p:spPr>
          <a:xfrm>
            <a:off x="365760" y="1042416"/>
            <a:ext cx="8412480" cy="237744"/>
          </a:xfrm>
          <a:prstGeom prst="rect">
            <a:avLst/>
          </a:prstGeom>
          <a:noFill/>
          <a:ln/>
        </p:spPr>
        <p:txBody>
          <a:bodyPr wrap="square" lIns="0" tIns="0" rIns="0" bIns="0" rtlCol="0" anchor="ctr"/>
          <a:lstStyle/>
          <a:p>
            <a:pPr indent="0" marL="0">
              <a:buNone/>
            </a:pPr>
            <a:r>
              <a:rPr lang="en-US" sz="1100" dirty="0">
                <a:solidFill>
                  <a:srgbClr val="718096"/>
                </a:solidFill>
                <a:latin typeface="Calibri" pitchFamily="34" charset="0"/>
                <a:ea typeface="Calibri" pitchFamily="34" charset="-122"/>
                <a:cs typeface="Calibri" pitchFamily="34" charset="-120"/>
              </a:rPr>
              <a:t>Never route two different formats through the same library. Never use an LLM to parse a file.</a:t>
            </a:r>
            <a:endParaRPr lang="en-US" sz="1100" dirty="0"/>
          </a:p>
        </p:txBody>
      </p:sp>
      <p:sp>
        <p:nvSpPr>
          <p:cNvPr id="6" name="Shape 4"/>
          <p:cNvSpPr/>
          <p:nvPr/>
        </p:nvSpPr>
        <p:spPr>
          <a:xfrm>
            <a:off x="347472" y="1371600"/>
            <a:ext cx="8449056" cy="6400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9000"/>
              </a:srgbClr>
            </a:outerShdw>
          </a:effectLst>
        </p:spPr>
      </p:sp>
      <p:sp>
        <p:nvSpPr>
          <p:cNvPr id="7" name="Shape 5"/>
          <p:cNvSpPr/>
          <p:nvPr/>
        </p:nvSpPr>
        <p:spPr>
          <a:xfrm>
            <a:off x="347472" y="1371600"/>
            <a:ext cx="54864" cy="640080"/>
          </a:xfrm>
          <a:prstGeom prst="rect">
            <a:avLst/>
          </a:prstGeom>
          <a:solidFill>
            <a:srgbClr val="0E7C7B"/>
          </a:solidFill>
          <a:ln w="12700">
            <a:solidFill>
              <a:srgbClr val="0E7C7B"/>
            </a:solidFill>
            <a:prstDash val="solid"/>
          </a:ln>
        </p:spPr>
      </p:sp>
      <p:pic>
        <p:nvPicPr>
          <p:cNvPr id="8" name="Image 0" descr="preencoded.png">    </p:cNvPr>
          <p:cNvPicPr>
            <a:picLocks noChangeAspect="1"/>
          </p:cNvPicPr>
          <p:nvPr/>
        </p:nvPicPr>
        <p:blipFill>
          <a:blip r:embed="rId1"/>
          <a:stretch>
            <a:fillRect/>
          </a:stretch>
        </p:blipFill>
        <p:spPr>
          <a:xfrm>
            <a:off x="530352" y="1554480"/>
            <a:ext cx="256032" cy="256032"/>
          </a:xfrm>
          <a:prstGeom prst="rect">
            <a:avLst/>
          </a:prstGeom>
        </p:spPr>
      </p:pic>
      <p:sp>
        <p:nvSpPr>
          <p:cNvPr id="9" name="Text 6"/>
          <p:cNvSpPr/>
          <p:nvPr/>
        </p:nvSpPr>
        <p:spPr>
          <a:xfrm>
            <a:off x="877824" y="1481328"/>
            <a:ext cx="1188720" cy="201168"/>
          </a:xfrm>
          <a:prstGeom prst="rect">
            <a:avLst/>
          </a:prstGeom>
          <a:noFill/>
          <a:ln/>
        </p:spPr>
        <p:txBody>
          <a:bodyPr wrap="square" lIns="0" tIns="0" rIns="0" bIns="0" rtlCol="0" anchor="ctr"/>
          <a:lstStyle/>
          <a:p>
            <a:pPr indent="0" marL="0">
              <a:buNone/>
            </a:pPr>
            <a:r>
              <a:rPr lang="en-US" sz="1100" b="1" dirty="0">
                <a:solidFill>
                  <a:srgbClr val="0D1117"/>
                </a:solidFill>
                <a:latin typeface="Calibri" pitchFamily="34" charset="0"/>
                <a:ea typeface="Calibri" pitchFamily="34" charset="-122"/>
                <a:cs typeface="Calibri" pitchFamily="34" charset="-120"/>
              </a:rPr>
              <a:t>Digital PDF</a:t>
            </a:r>
            <a:endParaRPr lang="en-US" sz="1100" dirty="0"/>
          </a:p>
        </p:txBody>
      </p:sp>
      <p:sp>
        <p:nvSpPr>
          <p:cNvPr id="10" name="Shape 7"/>
          <p:cNvSpPr/>
          <p:nvPr/>
        </p:nvSpPr>
        <p:spPr>
          <a:xfrm>
            <a:off x="877824" y="1719072"/>
            <a:ext cx="1261872" cy="237744"/>
          </a:xfrm>
          <a:prstGeom prst="rect">
            <a:avLst/>
          </a:prstGeom>
          <a:solidFill>
            <a:srgbClr val="D0EEEE"/>
          </a:solidFill>
          <a:ln w="12700">
            <a:solidFill>
              <a:srgbClr val="D0EEEE"/>
            </a:solidFill>
            <a:prstDash val="solid"/>
          </a:ln>
        </p:spPr>
      </p:sp>
      <p:sp>
        <p:nvSpPr>
          <p:cNvPr id="11" name="Text 8"/>
          <p:cNvSpPr/>
          <p:nvPr/>
        </p:nvSpPr>
        <p:spPr>
          <a:xfrm>
            <a:off x="877824" y="1719072"/>
            <a:ext cx="1261872" cy="237744"/>
          </a:xfrm>
          <a:prstGeom prst="rect">
            <a:avLst/>
          </a:prstGeom>
          <a:noFill/>
          <a:ln/>
        </p:spPr>
        <p:txBody>
          <a:bodyPr wrap="square" lIns="0" tIns="0" rIns="0" bIns="0" rtlCol="0" anchor="ctr"/>
          <a:lstStyle/>
          <a:p>
            <a:pPr algn="ctr" indent="0" marL="0">
              <a:buNone/>
            </a:pPr>
            <a:r>
              <a:rPr lang="en-US" sz="800" b="1" dirty="0">
                <a:solidFill>
                  <a:srgbClr val="0E7C7B"/>
                </a:solidFill>
                <a:latin typeface="Calibri" pitchFamily="34" charset="0"/>
                <a:ea typeface="Calibri" pitchFamily="34" charset="-122"/>
                <a:cs typeface="Calibri" pitchFamily="34" charset="-120"/>
              </a:rPr>
              <a:t>Docling (primary)</a:t>
            </a:r>
            <a:endParaRPr lang="en-US" sz="800" dirty="0"/>
          </a:p>
        </p:txBody>
      </p:sp>
      <p:sp>
        <p:nvSpPr>
          <p:cNvPr id="12" name="Shape 9"/>
          <p:cNvSpPr/>
          <p:nvPr/>
        </p:nvSpPr>
        <p:spPr>
          <a:xfrm>
            <a:off x="2267712" y="1719072"/>
            <a:ext cx="1261872" cy="237744"/>
          </a:xfrm>
          <a:prstGeom prst="rect">
            <a:avLst/>
          </a:prstGeom>
          <a:solidFill>
            <a:srgbClr val="D0EEEE"/>
          </a:solidFill>
          <a:ln w="12700">
            <a:solidFill>
              <a:srgbClr val="D0EEEE"/>
            </a:solidFill>
            <a:prstDash val="solid"/>
          </a:ln>
        </p:spPr>
      </p:sp>
      <p:sp>
        <p:nvSpPr>
          <p:cNvPr id="13" name="Text 10"/>
          <p:cNvSpPr/>
          <p:nvPr/>
        </p:nvSpPr>
        <p:spPr>
          <a:xfrm>
            <a:off x="2267712" y="1719072"/>
            <a:ext cx="1261872" cy="237744"/>
          </a:xfrm>
          <a:prstGeom prst="rect">
            <a:avLst/>
          </a:prstGeom>
          <a:noFill/>
          <a:ln/>
        </p:spPr>
        <p:txBody>
          <a:bodyPr wrap="square" lIns="0" tIns="0" rIns="0" bIns="0" rtlCol="0" anchor="ctr"/>
          <a:lstStyle/>
          <a:p>
            <a:pPr algn="ctr" indent="0" marL="0">
              <a:buNone/>
            </a:pPr>
            <a:r>
              <a:rPr lang="en-US" sz="800" b="1" dirty="0">
                <a:solidFill>
                  <a:srgbClr val="0E7C7B"/>
                </a:solidFill>
                <a:latin typeface="Calibri" pitchFamily="34" charset="0"/>
                <a:ea typeface="Calibri" pitchFamily="34" charset="-122"/>
                <a:cs typeface="Calibri" pitchFamily="34" charset="-120"/>
              </a:rPr>
              <a:t>pdfplumber (fallback)</a:t>
            </a:r>
            <a:endParaRPr lang="en-US" sz="800" dirty="0"/>
          </a:p>
        </p:txBody>
      </p:sp>
      <p:sp>
        <p:nvSpPr>
          <p:cNvPr id="14" name="Text 11"/>
          <p:cNvSpPr/>
          <p:nvPr/>
        </p:nvSpPr>
        <p:spPr>
          <a:xfrm>
            <a:off x="2176272" y="1463040"/>
            <a:ext cx="6446520" cy="457200"/>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Docling handles two-column layouts, embedded tables, and form fields. pdfplumber for edge cases with merged cells.</a:t>
            </a:r>
            <a:endParaRPr lang="en-US" sz="900" dirty="0"/>
          </a:p>
        </p:txBody>
      </p:sp>
      <p:sp>
        <p:nvSpPr>
          <p:cNvPr id="15" name="Shape 12"/>
          <p:cNvSpPr/>
          <p:nvPr/>
        </p:nvSpPr>
        <p:spPr>
          <a:xfrm>
            <a:off x="347472" y="2084832"/>
            <a:ext cx="8449056" cy="6400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9000"/>
              </a:srgbClr>
            </a:outerShdw>
          </a:effectLst>
        </p:spPr>
      </p:sp>
      <p:sp>
        <p:nvSpPr>
          <p:cNvPr id="16" name="Shape 13"/>
          <p:cNvSpPr/>
          <p:nvPr/>
        </p:nvSpPr>
        <p:spPr>
          <a:xfrm>
            <a:off x="347472" y="2084832"/>
            <a:ext cx="54864" cy="640080"/>
          </a:xfrm>
          <a:prstGeom prst="rect">
            <a:avLst/>
          </a:prstGeom>
          <a:solidFill>
            <a:srgbClr val="0E7C7B"/>
          </a:solidFill>
          <a:ln w="12700">
            <a:solidFill>
              <a:srgbClr val="0E7C7B"/>
            </a:solidFill>
            <a:prstDash val="solid"/>
          </a:ln>
        </p:spPr>
      </p:sp>
      <p:pic>
        <p:nvPicPr>
          <p:cNvPr id="17" name="Image 1" descr="preencoded.png">    </p:cNvPr>
          <p:cNvPicPr>
            <a:picLocks noChangeAspect="1"/>
          </p:cNvPicPr>
          <p:nvPr/>
        </p:nvPicPr>
        <p:blipFill>
          <a:blip r:embed="rId2"/>
          <a:stretch>
            <a:fillRect/>
          </a:stretch>
        </p:blipFill>
        <p:spPr>
          <a:xfrm>
            <a:off x="530352" y="2267712"/>
            <a:ext cx="256032" cy="256032"/>
          </a:xfrm>
          <a:prstGeom prst="rect">
            <a:avLst/>
          </a:prstGeom>
        </p:spPr>
      </p:pic>
      <p:sp>
        <p:nvSpPr>
          <p:cNvPr id="18" name="Text 14"/>
          <p:cNvSpPr/>
          <p:nvPr/>
        </p:nvSpPr>
        <p:spPr>
          <a:xfrm>
            <a:off x="877824" y="2194560"/>
            <a:ext cx="1188720" cy="201168"/>
          </a:xfrm>
          <a:prstGeom prst="rect">
            <a:avLst/>
          </a:prstGeom>
          <a:noFill/>
          <a:ln/>
        </p:spPr>
        <p:txBody>
          <a:bodyPr wrap="square" lIns="0" tIns="0" rIns="0" bIns="0" rtlCol="0" anchor="ctr"/>
          <a:lstStyle/>
          <a:p>
            <a:pPr indent="0" marL="0">
              <a:buNone/>
            </a:pPr>
            <a:r>
              <a:rPr lang="en-US" sz="1100" b="1" dirty="0">
                <a:solidFill>
                  <a:srgbClr val="0D1117"/>
                </a:solidFill>
                <a:latin typeface="Calibri" pitchFamily="34" charset="0"/>
                <a:ea typeface="Calibri" pitchFamily="34" charset="-122"/>
                <a:cs typeface="Calibri" pitchFamily="34" charset="-120"/>
              </a:rPr>
              <a:t>Scanned PDF</a:t>
            </a:r>
            <a:endParaRPr lang="en-US" sz="1100" dirty="0"/>
          </a:p>
        </p:txBody>
      </p:sp>
      <p:sp>
        <p:nvSpPr>
          <p:cNvPr id="19" name="Shape 15"/>
          <p:cNvSpPr/>
          <p:nvPr/>
        </p:nvSpPr>
        <p:spPr>
          <a:xfrm>
            <a:off x="877824" y="2432304"/>
            <a:ext cx="1261872" cy="237744"/>
          </a:xfrm>
          <a:prstGeom prst="rect">
            <a:avLst/>
          </a:prstGeom>
          <a:solidFill>
            <a:srgbClr val="D0EEEE"/>
          </a:solidFill>
          <a:ln w="12700">
            <a:solidFill>
              <a:srgbClr val="D0EEEE"/>
            </a:solidFill>
            <a:prstDash val="solid"/>
          </a:ln>
        </p:spPr>
      </p:sp>
      <p:sp>
        <p:nvSpPr>
          <p:cNvPr id="20" name="Text 16"/>
          <p:cNvSpPr/>
          <p:nvPr/>
        </p:nvSpPr>
        <p:spPr>
          <a:xfrm>
            <a:off x="877824" y="2432304"/>
            <a:ext cx="1261872" cy="237744"/>
          </a:xfrm>
          <a:prstGeom prst="rect">
            <a:avLst/>
          </a:prstGeom>
          <a:noFill/>
          <a:ln/>
        </p:spPr>
        <p:txBody>
          <a:bodyPr wrap="square" lIns="0" tIns="0" rIns="0" bIns="0" rtlCol="0" anchor="ctr"/>
          <a:lstStyle/>
          <a:p>
            <a:pPr algn="ctr" indent="0" marL="0">
              <a:buNone/>
            </a:pPr>
            <a:r>
              <a:rPr lang="en-US" sz="800" b="1" dirty="0">
                <a:solidFill>
                  <a:srgbClr val="0E7C7B"/>
                </a:solidFill>
                <a:latin typeface="Calibri" pitchFamily="34" charset="0"/>
                <a:ea typeface="Calibri" pitchFamily="34" charset="-122"/>
                <a:cs typeface="Calibri" pitchFamily="34" charset="-120"/>
              </a:rPr>
              <a:t>Docling + Surya OCR</a:t>
            </a:r>
            <a:endParaRPr lang="en-US" sz="800" dirty="0"/>
          </a:p>
        </p:txBody>
      </p:sp>
      <p:sp>
        <p:nvSpPr>
          <p:cNvPr id="21" name="Text 17"/>
          <p:cNvSpPr/>
          <p:nvPr/>
        </p:nvSpPr>
        <p:spPr>
          <a:xfrm>
            <a:off x="2176272" y="2176272"/>
            <a:ext cx="6446520" cy="457200"/>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Docling detects layout regions and page structure. Surya provides superior OCR for handwritten fields and degraded scans. Never use pytesseract for audit docs.</a:t>
            </a:r>
            <a:endParaRPr lang="en-US" sz="900" dirty="0"/>
          </a:p>
        </p:txBody>
      </p:sp>
      <p:sp>
        <p:nvSpPr>
          <p:cNvPr id="22" name="Shape 18"/>
          <p:cNvSpPr/>
          <p:nvPr/>
        </p:nvSpPr>
        <p:spPr>
          <a:xfrm>
            <a:off x="347472" y="2798064"/>
            <a:ext cx="8449056" cy="6400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9000"/>
              </a:srgbClr>
            </a:outerShdw>
          </a:effectLst>
        </p:spPr>
      </p:sp>
      <p:sp>
        <p:nvSpPr>
          <p:cNvPr id="23" name="Shape 19"/>
          <p:cNvSpPr/>
          <p:nvPr/>
        </p:nvSpPr>
        <p:spPr>
          <a:xfrm>
            <a:off x="347472" y="2798064"/>
            <a:ext cx="54864" cy="640080"/>
          </a:xfrm>
          <a:prstGeom prst="rect">
            <a:avLst/>
          </a:prstGeom>
          <a:solidFill>
            <a:srgbClr val="0E7C7B"/>
          </a:solidFill>
          <a:ln w="12700">
            <a:solidFill>
              <a:srgbClr val="0E7C7B"/>
            </a:solidFill>
            <a:prstDash val="solid"/>
          </a:ln>
        </p:spPr>
      </p:sp>
      <p:pic>
        <p:nvPicPr>
          <p:cNvPr id="24" name="Image 2" descr="preencoded.png">    </p:cNvPr>
          <p:cNvPicPr>
            <a:picLocks noChangeAspect="1"/>
          </p:cNvPicPr>
          <p:nvPr/>
        </p:nvPicPr>
        <p:blipFill>
          <a:blip r:embed="rId3"/>
          <a:stretch>
            <a:fillRect/>
          </a:stretch>
        </p:blipFill>
        <p:spPr>
          <a:xfrm>
            <a:off x="530352" y="2980944"/>
            <a:ext cx="256032" cy="256032"/>
          </a:xfrm>
          <a:prstGeom prst="rect">
            <a:avLst/>
          </a:prstGeom>
        </p:spPr>
      </p:pic>
      <p:sp>
        <p:nvSpPr>
          <p:cNvPr id="25" name="Text 20"/>
          <p:cNvSpPr/>
          <p:nvPr/>
        </p:nvSpPr>
        <p:spPr>
          <a:xfrm>
            <a:off x="877824" y="2907792"/>
            <a:ext cx="1188720" cy="201168"/>
          </a:xfrm>
          <a:prstGeom prst="rect">
            <a:avLst/>
          </a:prstGeom>
          <a:noFill/>
          <a:ln/>
        </p:spPr>
        <p:txBody>
          <a:bodyPr wrap="square" lIns="0" tIns="0" rIns="0" bIns="0" rtlCol="0" anchor="ctr"/>
          <a:lstStyle/>
          <a:p>
            <a:pPr indent="0" marL="0">
              <a:buNone/>
            </a:pPr>
            <a:r>
              <a:rPr lang="en-US" sz="1100" b="1" dirty="0">
                <a:solidFill>
                  <a:srgbClr val="0D1117"/>
                </a:solidFill>
                <a:latin typeface="Calibri" pitchFamily="34" charset="0"/>
                <a:ea typeface="Calibri" pitchFamily="34" charset="-122"/>
                <a:cs typeface="Calibri" pitchFamily="34" charset="-120"/>
              </a:rPr>
              <a:t>DOCX / DOC</a:t>
            </a:r>
            <a:endParaRPr lang="en-US" sz="1100" dirty="0"/>
          </a:p>
        </p:txBody>
      </p:sp>
      <p:sp>
        <p:nvSpPr>
          <p:cNvPr id="26" name="Shape 21"/>
          <p:cNvSpPr/>
          <p:nvPr/>
        </p:nvSpPr>
        <p:spPr>
          <a:xfrm>
            <a:off x="877824" y="3145536"/>
            <a:ext cx="1261872" cy="237744"/>
          </a:xfrm>
          <a:prstGeom prst="rect">
            <a:avLst/>
          </a:prstGeom>
          <a:solidFill>
            <a:srgbClr val="D0EEEE"/>
          </a:solidFill>
          <a:ln w="12700">
            <a:solidFill>
              <a:srgbClr val="D0EEEE"/>
            </a:solidFill>
            <a:prstDash val="solid"/>
          </a:ln>
        </p:spPr>
      </p:sp>
      <p:sp>
        <p:nvSpPr>
          <p:cNvPr id="27" name="Text 22"/>
          <p:cNvSpPr/>
          <p:nvPr/>
        </p:nvSpPr>
        <p:spPr>
          <a:xfrm>
            <a:off x="877824" y="3145536"/>
            <a:ext cx="1261872" cy="237744"/>
          </a:xfrm>
          <a:prstGeom prst="rect">
            <a:avLst/>
          </a:prstGeom>
          <a:noFill/>
          <a:ln/>
        </p:spPr>
        <p:txBody>
          <a:bodyPr wrap="square" lIns="0" tIns="0" rIns="0" bIns="0" rtlCol="0" anchor="ctr"/>
          <a:lstStyle/>
          <a:p>
            <a:pPr algn="ctr" indent="0" marL="0">
              <a:buNone/>
            </a:pPr>
            <a:r>
              <a:rPr lang="en-US" sz="800" b="1" dirty="0">
                <a:solidFill>
                  <a:srgbClr val="0E7C7B"/>
                </a:solidFill>
                <a:latin typeface="Calibri" pitchFamily="34" charset="0"/>
                <a:ea typeface="Calibri" pitchFamily="34" charset="-122"/>
                <a:cs typeface="Calibri" pitchFamily="34" charset="-120"/>
              </a:rPr>
              <a:t>python-docx (direct)</a:t>
            </a:r>
            <a:endParaRPr lang="en-US" sz="800" dirty="0"/>
          </a:p>
        </p:txBody>
      </p:sp>
      <p:sp>
        <p:nvSpPr>
          <p:cNvPr id="28" name="Text 23"/>
          <p:cNvSpPr/>
          <p:nvPr/>
        </p:nvSpPr>
        <p:spPr>
          <a:xfrm>
            <a:off x="2176272" y="2889504"/>
            <a:ext cx="6446520" cy="457200"/>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Deterministic, zero hallucination risk. Preserves paragraph structure, heading levels, table cells exactly. Fastest option — no model needed.</a:t>
            </a:r>
            <a:endParaRPr lang="en-US" sz="900" dirty="0"/>
          </a:p>
        </p:txBody>
      </p:sp>
      <p:sp>
        <p:nvSpPr>
          <p:cNvPr id="29" name="Shape 24"/>
          <p:cNvSpPr/>
          <p:nvPr/>
        </p:nvSpPr>
        <p:spPr>
          <a:xfrm>
            <a:off x="347472" y="3511296"/>
            <a:ext cx="8449056" cy="6400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9000"/>
              </a:srgbClr>
            </a:outerShdw>
          </a:effectLst>
        </p:spPr>
      </p:sp>
      <p:sp>
        <p:nvSpPr>
          <p:cNvPr id="30" name="Shape 25"/>
          <p:cNvSpPr/>
          <p:nvPr/>
        </p:nvSpPr>
        <p:spPr>
          <a:xfrm>
            <a:off x="347472" y="3511296"/>
            <a:ext cx="54864" cy="640080"/>
          </a:xfrm>
          <a:prstGeom prst="rect">
            <a:avLst/>
          </a:prstGeom>
          <a:solidFill>
            <a:srgbClr val="0E7C7B"/>
          </a:solidFill>
          <a:ln w="12700">
            <a:solidFill>
              <a:srgbClr val="0E7C7B"/>
            </a:solidFill>
            <a:prstDash val="solid"/>
          </a:ln>
        </p:spPr>
      </p:sp>
      <p:pic>
        <p:nvPicPr>
          <p:cNvPr id="31" name="Image 3" descr="preencoded.png">    </p:cNvPr>
          <p:cNvPicPr>
            <a:picLocks noChangeAspect="1"/>
          </p:cNvPicPr>
          <p:nvPr/>
        </p:nvPicPr>
        <p:blipFill>
          <a:blip r:embed="rId4"/>
          <a:stretch>
            <a:fillRect/>
          </a:stretch>
        </p:blipFill>
        <p:spPr>
          <a:xfrm>
            <a:off x="530352" y="3694176"/>
            <a:ext cx="256032" cy="256032"/>
          </a:xfrm>
          <a:prstGeom prst="rect">
            <a:avLst/>
          </a:prstGeom>
        </p:spPr>
      </p:pic>
      <p:sp>
        <p:nvSpPr>
          <p:cNvPr id="32" name="Text 26"/>
          <p:cNvSpPr/>
          <p:nvPr/>
        </p:nvSpPr>
        <p:spPr>
          <a:xfrm>
            <a:off x="877824" y="3621024"/>
            <a:ext cx="1188720" cy="201168"/>
          </a:xfrm>
          <a:prstGeom prst="rect">
            <a:avLst/>
          </a:prstGeom>
          <a:noFill/>
          <a:ln/>
        </p:spPr>
        <p:txBody>
          <a:bodyPr wrap="square" lIns="0" tIns="0" rIns="0" bIns="0" rtlCol="0" anchor="ctr"/>
          <a:lstStyle/>
          <a:p>
            <a:pPr indent="0" marL="0">
              <a:buNone/>
            </a:pPr>
            <a:r>
              <a:rPr lang="en-US" sz="1100" b="1" dirty="0">
                <a:solidFill>
                  <a:srgbClr val="0D1117"/>
                </a:solidFill>
                <a:latin typeface="Calibri" pitchFamily="34" charset="0"/>
                <a:ea typeface="Calibri" pitchFamily="34" charset="-122"/>
                <a:cs typeface="Calibri" pitchFamily="34" charset="-120"/>
              </a:rPr>
              <a:t>XLSX / XLS</a:t>
            </a:r>
            <a:endParaRPr lang="en-US" sz="1100" dirty="0"/>
          </a:p>
        </p:txBody>
      </p:sp>
      <p:sp>
        <p:nvSpPr>
          <p:cNvPr id="33" name="Shape 27"/>
          <p:cNvSpPr/>
          <p:nvPr/>
        </p:nvSpPr>
        <p:spPr>
          <a:xfrm>
            <a:off x="877824" y="3858768"/>
            <a:ext cx="1261872" cy="237744"/>
          </a:xfrm>
          <a:prstGeom prst="rect">
            <a:avLst/>
          </a:prstGeom>
          <a:solidFill>
            <a:srgbClr val="D0EEEE"/>
          </a:solidFill>
          <a:ln w="12700">
            <a:solidFill>
              <a:srgbClr val="D0EEEE"/>
            </a:solidFill>
            <a:prstDash val="solid"/>
          </a:ln>
        </p:spPr>
      </p:sp>
      <p:sp>
        <p:nvSpPr>
          <p:cNvPr id="34" name="Text 28"/>
          <p:cNvSpPr/>
          <p:nvPr/>
        </p:nvSpPr>
        <p:spPr>
          <a:xfrm>
            <a:off x="877824" y="3858768"/>
            <a:ext cx="1261872" cy="237744"/>
          </a:xfrm>
          <a:prstGeom prst="rect">
            <a:avLst/>
          </a:prstGeom>
          <a:noFill/>
          <a:ln/>
        </p:spPr>
        <p:txBody>
          <a:bodyPr wrap="square" lIns="0" tIns="0" rIns="0" bIns="0" rtlCol="0" anchor="ctr"/>
          <a:lstStyle/>
          <a:p>
            <a:pPr algn="ctr" indent="0" marL="0">
              <a:buNone/>
            </a:pPr>
            <a:r>
              <a:rPr lang="en-US" sz="800" b="1" dirty="0">
                <a:solidFill>
                  <a:srgbClr val="0E7C7B"/>
                </a:solidFill>
                <a:latin typeface="Calibri" pitchFamily="34" charset="0"/>
                <a:ea typeface="Calibri" pitchFamily="34" charset="-122"/>
                <a:cs typeface="Calibri" pitchFamily="34" charset="-120"/>
              </a:rPr>
              <a:t>openpyxl (direct)</a:t>
            </a:r>
            <a:endParaRPr lang="en-US" sz="800" dirty="0"/>
          </a:p>
        </p:txBody>
      </p:sp>
      <p:sp>
        <p:nvSpPr>
          <p:cNvPr id="35" name="Text 29"/>
          <p:cNvSpPr/>
          <p:nvPr/>
        </p:nvSpPr>
        <p:spPr>
          <a:xfrm>
            <a:off x="2176272" y="3602736"/>
            <a:ext cx="6446520" cy="457200"/>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Excel workpapers are already structured data. Read cell-by-cell with full fidelity. Map column headers directly to WorkpaperRecord fields.</a:t>
            </a:r>
            <a:endParaRPr lang="en-US" sz="900" dirty="0"/>
          </a:p>
        </p:txBody>
      </p:sp>
      <p:sp>
        <p:nvSpPr>
          <p:cNvPr id="36" name="Shape 30"/>
          <p:cNvSpPr/>
          <p:nvPr/>
        </p:nvSpPr>
        <p:spPr>
          <a:xfrm>
            <a:off x="347472" y="4224528"/>
            <a:ext cx="8449056" cy="6400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9000"/>
              </a:srgbClr>
            </a:outerShdw>
          </a:effectLst>
        </p:spPr>
      </p:sp>
      <p:sp>
        <p:nvSpPr>
          <p:cNvPr id="37" name="Shape 31"/>
          <p:cNvSpPr/>
          <p:nvPr/>
        </p:nvSpPr>
        <p:spPr>
          <a:xfrm>
            <a:off x="347472" y="4224528"/>
            <a:ext cx="54864" cy="640080"/>
          </a:xfrm>
          <a:prstGeom prst="rect">
            <a:avLst/>
          </a:prstGeom>
          <a:solidFill>
            <a:srgbClr val="1A7A4A"/>
          </a:solidFill>
          <a:ln w="12700">
            <a:solidFill>
              <a:srgbClr val="1A7A4A"/>
            </a:solidFill>
            <a:prstDash val="solid"/>
          </a:ln>
        </p:spPr>
      </p:sp>
      <p:pic>
        <p:nvPicPr>
          <p:cNvPr id="38" name="Image 4" descr="preencoded.png">    </p:cNvPr>
          <p:cNvPicPr>
            <a:picLocks noChangeAspect="1"/>
          </p:cNvPicPr>
          <p:nvPr/>
        </p:nvPicPr>
        <p:blipFill>
          <a:blip r:embed="rId5"/>
          <a:stretch>
            <a:fillRect/>
          </a:stretch>
        </p:blipFill>
        <p:spPr>
          <a:xfrm>
            <a:off x="530352" y="4407408"/>
            <a:ext cx="256032" cy="256032"/>
          </a:xfrm>
          <a:prstGeom prst="rect">
            <a:avLst/>
          </a:prstGeom>
        </p:spPr>
      </p:pic>
      <p:sp>
        <p:nvSpPr>
          <p:cNvPr id="39" name="Text 32"/>
          <p:cNvSpPr/>
          <p:nvPr/>
        </p:nvSpPr>
        <p:spPr>
          <a:xfrm>
            <a:off x="877824" y="4334256"/>
            <a:ext cx="1188720" cy="201168"/>
          </a:xfrm>
          <a:prstGeom prst="rect">
            <a:avLst/>
          </a:prstGeom>
          <a:noFill/>
          <a:ln/>
        </p:spPr>
        <p:txBody>
          <a:bodyPr wrap="square" lIns="0" tIns="0" rIns="0" bIns="0" rtlCol="0" anchor="ctr"/>
          <a:lstStyle/>
          <a:p>
            <a:pPr indent="0" marL="0">
              <a:buNone/>
            </a:pPr>
            <a:r>
              <a:rPr lang="en-US" sz="1100" b="1" dirty="0">
                <a:solidFill>
                  <a:srgbClr val="0D1117"/>
                </a:solidFill>
                <a:latin typeface="Calibri" pitchFamily="34" charset="0"/>
                <a:ea typeface="Calibri" pitchFamily="34" charset="-122"/>
                <a:cs typeface="Calibri" pitchFamily="34" charset="-120"/>
              </a:rPr>
              <a:t>JSON</a:t>
            </a:r>
            <a:endParaRPr lang="en-US" sz="1100" dirty="0"/>
          </a:p>
        </p:txBody>
      </p:sp>
      <p:sp>
        <p:nvSpPr>
          <p:cNvPr id="40" name="Shape 33"/>
          <p:cNvSpPr/>
          <p:nvPr/>
        </p:nvSpPr>
        <p:spPr>
          <a:xfrm>
            <a:off x="877824" y="4572000"/>
            <a:ext cx="1261872" cy="237744"/>
          </a:xfrm>
          <a:prstGeom prst="rect">
            <a:avLst/>
          </a:prstGeom>
          <a:solidFill>
            <a:srgbClr val="E8F5EE"/>
          </a:solidFill>
          <a:ln w="12700">
            <a:solidFill>
              <a:srgbClr val="E8F5EE"/>
            </a:solidFill>
            <a:prstDash val="solid"/>
          </a:ln>
        </p:spPr>
      </p:sp>
      <p:sp>
        <p:nvSpPr>
          <p:cNvPr id="41" name="Text 34"/>
          <p:cNvSpPr/>
          <p:nvPr/>
        </p:nvSpPr>
        <p:spPr>
          <a:xfrm>
            <a:off x="877824" y="4572000"/>
            <a:ext cx="1261872" cy="237744"/>
          </a:xfrm>
          <a:prstGeom prst="rect">
            <a:avLst/>
          </a:prstGeom>
          <a:noFill/>
          <a:ln/>
        </p:spPr>
        <p:txBody>
          <a:bodyPr wrap="square" lIns="0" tIns="0" rIns="0" bIns="0" rtlCol="0" anchor="ctr"/>
          <a:lstStyle/>
          <a:p>
            <a:pPr algn="ctr" indent="0" marL="0">
              <a:buNone/>
            </a:pPr>
            <a:r>
              <a:rPr lang="en-US" sz="800" b="1" dirty="0">
                <a:solidFill>
                  <a:srgbClr val="1A7A4A"/>
                </a:solidFill>
                <a:latin typeface="Calibri" pitchFamily="34" charset="0"/>
                <a:ea typeface="Calibri" pitchFamily="34" charset="-122"/>
                <a:cs typeface="Calibri" pitchFamily="34" charset="-120"/>
              </a:rPr>
              <a:t>stdlib json.loads()</a:t>
            </a:r>
            <a:endParaRPr lang="en-US" sz="800" dirty="0"/>
          </a:p>
        </p:txBody>
      </p:sp>
      <p:sp>
        <p:nvSpPr>
          <p:cNvPr id="42" name="Text 35"/>
          <p:cNvSpPr/>
          <p:nvPr/>
        </p:nvSpPr>
        <p:spPr>
          <a:xfrm>
            <a:off x="2176272" y="4315968"/>
            <a:ext cx="6446520" cy="457200"/>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Already structured. Parse directly with Python's stdlib. Map JSON keys to canonical field names via alias dictionary. No extraction tool, no LLM needed.</a:t>
            </a:r>
            <a:endParaRPr lang="en-US" sz="900" dirty="0"/>
          </a:p>
        </p:txBody>
      </p:sp>
      <p:sp>
        <p:nvSpPr>
          <p:cNvPr id="43" name="Shape 36"/>
          <p:cNvSpPr/>
          <p:nvPr/>
        </p:nvSpPr>
        <p:spPr>
          <a:xfrm>
            <a:off x="347472" y="4956048"/>
            <a:ext cx="8449056" cy="274320"/>
          </a:xfrm>
          <a:prstGeom prst="rect">
            <a:avLst/>
          </a:prstGeom>
          <a:solidFill>
            <a:srgbClr val="D0EEEE"/>
          </a:solidFill>
          <a:ln w="12700">
            <a:solidFill>
              <a:srgbClr val="D0EEEE"/>
            </a:solidFill>
            <a:prstDash val="solid"/>
          </a:ln>
        </p:spPr>
      </p:sp>
      <p:sp>
        <p:nvSpPr>
          <p:cNvPr id="44" name="Text 37"/>
          <p:cNvSpPr/>
          <p:nvPr/>
        </p:nvSpPr>
        <p:spPr>
          <a:xfrm>
            <a:off x="438912" y="4956048"/>
            <a:ext cx="8266176" cy="274320"/>
          </a:xfrm>
          <a:prstGeom prst="rect">
            <a:avLst/>
          </a:prstGeom>
          <a:noFill/>
          <a:ln/>
        </p:spPr>
        <p:txBody>
          <a:bodyPr wrap="square" lIns="0" tIns="0" rIns="0" bIns="0" rtlCol="0" anchor="ctr"/>
          <a:lstStyle/>
          <a:p>
            <a:pPr indent="0" marL="0">
              <a:buNone/>
            </a:pPr>
            <a:r>
              <a:rPr lang="en-US" sz="900" dirty="0">
                <a:solidFill>
                  <a:srgbClr val="0E7C7B"/>
                </a:solidFill>
                <a:latin typeface="Calibri" pitchFamily="34" charset="0"/>
                <a:ea typeface="Calibri" pitchFamily="34" charset="-122"/>
                <a:cs typeface="Calibri" pitchFamily="34" charset="-120"/>
              </a:rPr>
              <a:t>Key rule: If Docling extraction_confidence &lt; 0.6 on a scanned page, automatically re-run with Surya as OCR backend. Cache all Docling output to disk — never re-extract a file already processed.</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365760" y="219456"/>
            <a:ext cx="2501798" cy="256032"/>
          </a:xfrm>
          <a:prstGeom prst="rect">
            <a:avLst/>
          </a:prstGeom>
          <a:solidFill>
            <a:srgbClr val="0E7C7B"/>
          </a:solidFill>
          <a:ln w="12700">
            <a:solidFill>
              <a:srgbClr val="0E7C7B"/>
            </a:solidFill>
            <a:prstDash val="solid"/>
          </a:ln>
        </p:spPr>
      </p:sp>
      <p:sp>
        <p:nvSpPr>
          <p:cNvPr id="3" name="Text 1"/>
          <p:cNvSpPr/>
          <p:nvPr/>
        </p:nvSpPr>
        <p:spPr>
          <a:xfrm>
            <a:off x="365760" y="219456"/>
            <a:ext cx="2501798"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STAGE 2 · DATA NORMALIZATION</a:t>
            </a:r>
            <a:endParaRPr lang="en-US" sz="850" dirty="0"/>
          </a:p>
        </p:txBody>
      </p:sp>
      <p:sp>
        <p:nvSpPr>
          <p:cNvPr id="4" name="Text 2"/>
          <p:cNvSpPr/>
          <p:nvPr/>
        </p:nvSpPr>
        <p:spPr>
          <a:xfrm>
            <a:off x="365760" y="548640"/>
            <a:ext cx="8412480" cy="512064"/>
          </a:xfrm>
          <a:prstGeom prst="rect">
            <a:avLst/>
          </a:prstGeom>
          <a:noFill/>
          <a:ln/>
        </p:spPr>
        <p:txBody>
          <a:bodyPr wrap="square" lIns="0" tIns="0" rIns="0" bIns="0" rtlCol="0" anchor="ctr"/>
          <a:lstStyle/>
          <a:p>
            <a:pPr indent="0" marL="0">
              <a:buNone/>
            </a:pPr>
            <a:r>
              <a:rPr lang="en-US" sz="2600" b="1" dirty="0">
                <a:solidFill>
                  <a:srgbClr val="0D1117"/>
                </a:solidFill>
                <a:latin typeface="Calibri" pitchFamily="34" charset="0"/>
                <a:ea typeface="Calibri" pitchFamily="34" charset="-122"/>
                <a:cs typeface="Calibri" pitchFamily="34" charset="-120"/>
              </a:rPr>
              <a:t>WorkpaperRecord — the canonical schema every workpaper becomes</a:t>
            </a:r>
            <a:endParaRPr lang="en-US" sz="2600" dirty="0"/>
          </a:p>
        </p:txBody>
      </p:sp>
      <p:sp>
        <p:nvSpPr>
          <p:cNvPr id="5" name="Text 3"/>
          <p:cNvSpPr/>
          <p:nvPr/>
        </p:nvSpPr>
        <p:spPr>
          <a:xfrm>
            <a:off x="365760" y="1042416"/>
            <a:ext cx="8412480" cy="237744"/>
          </a:xfrm>
          <a:prstGeom prst="rect">
            <a:avLst/>
          </a:prstGeom>
          <a:noFill/>
          <a:ln/>
        </p:spPr>
        <p:txBody>
          <a:bodyPr wrap="square" lIns="0" tIns="0" rIns="0" bIns="0" rtlCol="0" anchor="ctr"/>
          <a:lstStyle/>
          <a:p>
            <a:pPr indent="0" marL="0">
              <a:buNone/>
            </a:pPr>
            <a:r>
              <a:rPr lang="en-US" sz="1100" dirty="0">
                <a:solidFill>
                  <a:srgbClr val="718096"/>
                </a:solidFill>
                <a:latin typeface="Calibri" pitchFamily="34" charset="0"/>
                <a:ea typeface="Calibri" pitchFamily="34" charset="-122"/>
                <a:cs typeface="Calibri" pitchFamily="34" charset="-120"/>
              </a:rPr>
              <a:t>All downstream steps operate on this schema, never on raw text. This is what breaks the format-dependency loop.</a:t>
            </a:r>
            <a:endParaRPr lang="en-US" sz="1100" dirty="0"/>
          </a:p>
        </p:txBody>
      </p:sp>
      <p:sp>
        <p:nvSpPr>
          <p:cNvPr id="6" name="Shape 4"/>
          <p:cNvSpPr/>
          <p:nvPr/>
        </p:nvSpPr>
        <p:spPr>
          <a:xfrm>
            <a:off x="347472" y="1371600"/>
            <a:ext cx="4389120" cy="3511296"/>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9000"/>
              </a:srgbClr>
            </a:outerShdw>
          </a:effectLst>
        </p:spPr>
      </p:sp>
      <p:sp>
        <p:nvSpPr>
          <p:cNvPr id="7" name="Shape 5"/>
          <p:cNvSpPr/>
          <p:nvPr/>
        </p:nvSpPr>
        <p:spPr>
          <a:xfrm>
            <a:off x="347472" y="1371600"/>
            <a:ext cx="54864" cy="3511296"/>
          </a:xfrm>
          <a:prstGeom prst="rect">
            <a:avLst/>
          </a:prstGeom>
          <a:solidFill>
            <a:srgbClr val="0E7C7B"/>
          </a:solidFill>
          <a:ln w="12700">
            <a:solidFill>
              <a:srgbClr val="0E7C7B"/>
            </a:solidFill>
            <a:prstDash val="solid"/>
          </a:ln>
        </p:spPr>
      </p:sp>
      <p:sp>
        <p:nvSpPr>
          <p:cNvPr id="8" name="Text 6"/>
          <p:cNvSpPr/>
          <p:nvPr/>
        </p:nvSpPr>
        <p:spPr>
          <a:xfrm>
            <a:off x="566928" y="1517904"/>
            <a:ext cx="3931920" cy="237744"/>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Python dataclass</a:t>
            </a:r>
            <a:endParaRPr lang="en-US" sz="1100" dirty="0"/>
          </a:p>
        </p:txBody>
      </p:sp>
      <p:sp>
        <p:nvSpPr>
          <p:cNvPr id="9" name="Shape 7"/>
          <p:cNvSpPr/>
          <p:nvPr/>
        </p:nvSpPr>
        <p:spPr>
          <a:xfrm>
            <a:off x="475488" y="1792224"/>
            <a:ext cx="4133088" cy="2980944"/>
          </a:xfrm>
          <a:prstGeom prst="rect">
            <a:avLst/>
          </a:prstGeom>
          <a:solidFill>
            <a:srgbClr val="161B22"/>
          </a:solidFill>
          <a:ln w="12700">
            <a:solidFill>
              <a:srgbClr val="30363D"/>
            </a:solidFill>
            <a:prstDash val="solid"/>
          </a:ln>
        </p:spPr>
      </p:sp>
      <p:sp>
        <p:nvSpPr>
          <p:cNvPr id="10" name="Text 8"/>
          <p:cNvSpPr/>
          <p:nvPr/>
        </p:nvSpPr>
        <p:spPr>
          <a:xfrm>
            <a:off x="603504" y="1883664"/>
            <a:ext cx="3877056" cy="2798064"/>
          </a:xfrm>
          <a:prstGeom prst="rect">
            <a:avLst/>
          </a:prstGeom>
          <a:noFill/>
          <a:ln/>
        </p:spPr>
        <p:txBody>
          <a:bodyPr wrap="square" lIns="0" tIns="0" rIns="0" bIns="0" rtlCol="0" anchor="t"/>
          <a:lstStyle/>
          <a:p>
            <a:pPr indent="0" marL="0">
              <a:buNone/>
            </a:pPr>
            <a:r>
              <a:rPr lang="en-US" sz="800" dirty="0">
                <a:solidFill>
                  <a:srgbClr val="A8D8A8"/>
                </a:solidFill>
                <a:latin typeface="Courier New" pitchFamily="34" charset="0"/>
                <a:ea typeface="Courier New" pitchFamily="34" charset="-122"/>
                <a:cs typeface="Courier New" pitchFamily="34" charset="-120"/>
              </a:rPr>
              <a:t>@dataclass</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class WorkpaperRecord:</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  # Classification labels (5)</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  workpaper_type: str</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  client_type: str    # "NPO" | "Govt"</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  is_gagas: bool</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  has_single_audit: bool</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  audit_phase: str</a:t>
            </a:r>
            <a:endParaRPr lang="en-US" sz="800" dirty="0"/>
          </a:p>
          <a:p>
            <a:pPr indent="0" marL="0">
              <a:buNone/>
            </a:pP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  # Core training signal</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  fields_present: list[str]</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  fields_missing: list[str]  # → findings</a:t>
            </a:r>
            <a:endParaRPr lang="en-US" sz="800" dirty="0"/>
          </a:p>
          <a:p>
            <a:pPr indent="0" marL="0">
              <a:buNone/>
            </a:pP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  # Quality metadata</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  extraction_confidence: float</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  extraction_method: str</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  source_year: int</a:t>
            </a:r>
            <a:endParaRPr lang="en-US" sz="800" dirty="0"/>
          </a:p>
          <a:p>
            <a:pPr indent="0" marL="0">
              <a:buNone/>
            </a:pP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  # Training control</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  raw_text_excerpt: str  # max 1500 tokens</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  auditor_approved: bool</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  reviewer_id: str</a:t>
            </a:r>
            <a:endParaRPr lang="en-US" sz="800" dirty="0"/>
          </a:p>
        </p:txBody>
      </p:sp>
      <p:sp>
        <p:nvSpPr>
          <p:cNvPr id="11" name="Shape 9"/>
          <p:cNvSpPr/>
          <p:nvPr/>
        </p:nvSpPr>
        <p:spPr>
          <a:xfrm>
            <a:off x="4919472" y="1371600"/>
            <a:ext cx="3877056" cy="3511296"/>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9000"/>
              </a:srgbClr>
            </a:outerShdw>
          </a:effectLst>
        </p:spPr>
      </p:sp>
      <p:sp>
        <p:nvSpPr>
          <p:cNvPr id="12" name="Shape 10"/>
          <p:cNvSpPr/>
          <p:nvPr/>
        </p:nvSpPr>
        <p:spPr>
          <a:xfrm>
            <a:off x="4919472" y="1371600"/>
            <a:ext cx="54864" cy="3511296"/>
          </a:xfrm>
          <a:prstGeom prst="rect">
            <a:avLst/>
          </a:prstGeom>
          <a:solidFill>
            <a:srgbClr val="4C3B8A"/>
          </a:solidFill>
          <a:ln w="12700">
            <a:solidFill>
              <a:srgbClr val="4C3B8A"/>
            </a:solidFill>
            <a:prstDash val="solid"/>
          </a:ln>
        </p:spPr>
      </p:sp>
      <p:sp>
        <p:nvSpPr>
          <p:cNvPr id="13" name="Text 11"/>
          <p:cNvSpPr/>
          <p:nvPr/>
        </p:nvSpPr>
        <p:spPr>
          <a:xfrm>
            <a:off x="5138928" y="1517904"/>
            <a:ext cx="3474720" cy="237744"/>
          </a:xfrm>
          <a:prstGeom prst="rect">
            <a:avLst/>
          </a:prstGeom>
          <a:noFill/>
          <a:ln/>
        </p:spPr>
        <p:txBody>
          <a:bodyPr wrap="square" lIns="0" tIns="0" rIns="0" bIns="0" rtlCol="0" anchor="ctr"/>
          <a:lstStyle/>
          <a:p>
            <a:pPr indent="0" marL="0">
              <a:buNone/>
            </a:pPr>
            <a:r>
              <a:rPr lang="en-US" sz="1100" b="1" dirty="0">
                <a:solidFill>
                  <a:srgbClr val="4C3B8A"/>
                </a:solidFill>
                <a:latin typeface="Calibri" pitchFamily="34" charset="0"/>
                <a:ea typeface="Calibri" pitchFamily="34" charset="-122"/>
                <a:cs typeface="Calibri" pitchFamily="34" charset="-120"/>
              </a:rPr>
              <a:t>Why each field matters</a:t>
            </a:r>
            <a:endParaRPr lang="en-US" sz="1100" dirty="0"/>
          </a:p>
        </p:txBody>
      </p:sp>
      <p:sp>
        <p:nvSpPr>
          <p:cNvPr id="14" name="Shape 12"/>
          <p:cNvSpPr/>
          <p:nvPr/>
        </p:nvSpPr>
        <p:spPr>
          <a:xfrm>
            <a:off x="5010912" y="1901952"/>
            <a:ext cx="45720" cy="384048"/>
          </a:xfrm>
          <a:prstGeom prst="rect">
            <a:avLst/>
          </a:prstGeom>
          <a:solidFill>
            <a:srgbClr val="C0392B"/>
          </a:solidFill>
          <a:ln w="12700">
            <a:solidFill>
              <a:srgbClr val="C0392B"/>
            </a:solidFill>
            <a:prstDash val="solid"/>
          </a:ln>
        </p:spPr>
      </p:sp>
      <p:sp>
        <p:nvSpPr>
          <p:cNvPr id="15" name="Text 13"/>
          <p:cNvSpPr/>
          <p:nvPr/>
        </p:nvSpPr>
        <p:spPr>
          <a:xfrm>
            <a:off x="5138928" y="1901952"/>
            <a:ext cx="3511296" cy="201168"/>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fields_missing</a:t>
            </a:r>
            <a:endParaRPr lang="en-US" sz="950" dirty="0"/>
          </a:p>
        </p:txBody>
      </p:sp>
      <p:sp>
        <p:nvSpPr>
          <p:cNvPr id="16" name="Text 14"/>
          <p:cNvSpPr/>
          <p:nvPr/>
        </p:nvSpPr>
        <p:spPr>
          <a:xfrm>
            <a:off x="5138928" y="2103120"/>
            <a:ext cx="3511296" cy="201168"/>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Primary training signal. Each missing field maps to a §-cited SOP finding in the completion.</a:t>
            </a:r>
            <a:endParaRPr lang="en-US" sz="850" dirty="0"/>
          </a:p>
        </p:txBody>
      </p:sp>
      <p:sp>
        <p:nvSpPr>
          <p:cNvPr id="17" name="Shape 15"/>
          <p:cNvSpPr/>
          <p:nvPr/>
        </p:nvSpPr>
        <p:spPr>
          <a:xfrm>
            <a:off x="5010912" y="2395728"/>
            <a:ext cx="45720" cy="384048"/>
          </a:xfrm>
          <a:prstGeom prst="rect">
            <a:avLst/>
          </a:prstGeom>
          <a:solidFill>
            <a:srgbClr val="0E7C7B"/>
          </a:solidFill>
          <a:ln w="12700">
            <a:solidFill>
              <a:srgbClr val="0E7C7B"/>
            </a:solidFill>
            <a:prstDash val="solid"/>
          </a:ln>
        </p:spPr>
      </p:sp>
      <p:sp>
        <p:nvSpPr>
          <p:cNvPr id="18" name="Text 16"/>
          <p:cNvSpPr/>
          <p:nvPr/>
        </p:nvSpPr>
        <p:spPr>
          <a:xfrm>
            <a:off x="5138928" y="2395728"/>
            <a:ext cx="3511296" cy="201168"/>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fields_present</a:t>
            </a:r>
            <a:endParaRPr lang="en-US" sz="950" dirty="0"/>
          </a:p>
        </p:txBody>
      </p:sp>
      <p:sp>
        <p:nvSpPr>
          <p:cNvPr id="19" name="Text 17"/>
          <p:cNvSpPr/>
          <p:nvPr/>
        </p:nvSpPr>
        <p:spPr>
          <a:xfrm>
            <a:off x="5138928" y="2596896"/>
            <a:ext cx="3511296" cy="201168"/>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Prevents hallucinated findings — model must not flag a field that IS present.</a:t>
            </a:r>
            <a:endParaRPr lang="en-US" sz="850" dirty="0"/>
          </a:p>
        </p:txBody>
      </p:sp>
      <p:sp>
        <p:nvSpPr>
          <p:cNvPr id="20" name="Shape 18"/>
          <p:cNvSpPr/>
          <p:nvPr/>
        </p:nvSpPr>
        <p:spPr>
          <a:xfrm>
            <a:off x="5010912" y="2889504"/>
            <a:ext cx="45720" cy="384048"/>
          </a:xfrm>
          <a:prstGeom prst="rect">
            <a:avLst/>
          </a:prstGeom>
          <a:solidFill>
            <a:srgbClr val="D4A017"/>
          </a:solidFill>
          <a:ln w="12700">
            <a:solidFill>
              <a:srgbClr val="D4A017"/>
            </a:solidFill>
            <a:prstDash val="solid"/>
          </a:ln>
        </p:spPr>
      </p:sp>
      <p:sp>
        <p:nvSpPr>
          <p:cNvPr id="21" name="Text 19"/>
          <p:cNvSpPr/>
          <p:nvPr/>
        </p:nvSpPr>
        <p:spPr>
          <a:xfrm>
            <a:off x="5138928" y="2889504"/>
            <a:ext cx="3511296" cy="201168"/>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extraction_confidence</a:t>
            </a:r>
            <a:endParaRPr lang="en-US" sz="950" dirty="0"/>
          </a:p>
        </p:txBody>
      </p:sp>
      <p:sp>
        <p:nvSpPr>
          <p:cNvPr id="22" name="Text 20"/>
          <p:cNvSpPr/>
          <p:nvPr/>
        </p:nvSpPr>
        <p:spPr>
          <a:xfrm>
            <a:off x="5138928" y="3090672"/>
            <a:ext cx="3511296" cy="201168"/>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Quality gate: ≥ 0.7 trains, &lt; 0.7 goes to human review queue.</a:t>
            </a:r>
            <a:endParaRPr lang="en-US" sz="850" dirty="0"/>
          </a:p>
        </p:txBody>
      </p:sp>
      <p:sp>
        <p:nvSpPr>
          <p:cNvPr id="23" name="Shape 21"/>
          <p:cNvSpPr/>
          <p:nvPr/>
        </p:nvSpPr>
        <p:spPr>
          <a:xfrm>
            <a:off x="5010912" y="3383280"/>
            <a:ext cx="45720" cy="384048"/>
          </a:xfrm>
          <a:prstGeom prst="rect">
            <a:avLst/>
          </a:prstGeom>
          <a:solidFill>
            <a:srgbClr val="4C3B8A"/>
          </a:solidFill>
          <a:ln w="12700">
            <a:solidFill>
              <a:srgbClr val="4C3B8A"/>
            </a:solidFill>
            <a:prstDash val="solid"/>
          </a:ln>
        </p:spPr>
      </p:sp>
      <p:sp>
        <p:nvSpPr>
          <p:cNvPr id="24" name="Text 22"/>
          <p:cNvSpPr/>
          <p:nvPr/>
        </p:nvSpPr>
        <p:spPr>
          <a:xfrm>
            <a:off x="5138928" y="3383280"/>
            <a:ext cx="3511296" cy="201168"/>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client_type + is_gagas</a:t>
            </a:r>
            <a:endParaRPr lang="en-US" sz="950" dirty="0"/>
          </a:p>
        </p:txBody>
      </p:sp>
      <p:sp>
        <p:nvSpPr>
          <p:cNvPr id="25" name="Text 23"/>
          <p:cNvSpPr/>
          <p:nvPr/>
        </p:nvSpPr>
        <p:spPr>
          <a:xfrm>
            <a:off x="5138928" y="3584448"/>
            <a:ext cx="3511296" cy="201168"/>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Determines which SOP rules apply. Wrong = wrong findings. Must be correct.</a:t>
            </a:r>
            <a:endParaRPr lang="en-US" sz="850" dirty="0"/>
          </a:p>
        </p:txBody>
      </p:sp>
      <p:sp>
        <p:nvSpPr>
          <p:cNvPr id="26" name="Shape 24"/>
          <p:cNvSpPr/>
          <p:nvPr/>
        </p:nvSpPr>
        <p:spPr>
          <a:xfrm>
            <a:off x="5010912" y="3877056"/>
            <a:ext cx="45720" cy="384048"/>
          </a:xfrm>
          <a:prstGeom prst="rect">
            <a:avLst/>
          </a:prstGeom>
          <a:solidFill>
            <a:srgbClr val="C0392B"/>
          </a:solidFill>
          <a:ln w="12700">
            <a:solidFill>
              <a:srgbClr val="C0392B"/>
            </a:solidFill>
            <a:prstDash val="solid"/>
          </a:ln>
        </p:spPr>
      </p:sp>
      <p:sp>
        <p:nvSpPr>
          <p:cNvPr id="27" name="Text 25"/>
          <p:cNvSpPr/>
          <p:nvPr/>
        </p:nvSpPr>
        <p:spPr>
          <a:xfrm>
            <a:off x="5138928" y="3877056"/>
            <a:ext cx="3511296" cy="201168"/>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auditor_approved</a:t>
            </a:r>
            <a:endParaRPr lang="en-US" sz="950" dirty="0"/>
          </a:p>
        </p:txBody>
      </p:sp>
      <p:sp>
        <p:nvSpPr>
          <p:cNvPr id="28" name="Text 26"/>
          <p:cNvSpPr/>
          <p:nvPr/>
        </p:nvSpPr>
        <p:spPr>
          <a:xfrm>
            <a:off x="5138928" y="4078224"/>
            <a:ext cx="3511296" cy="201168"/>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Hard gate. False = never enters training. No exceptions.</a:t>
            </a:r>
            <a:endParaRPr lang="en-US" sz="850" dirty="0"/>
          </a:p>
        </p:txBody>
      </p:sp>
      <p:sp>
        <p:nvSpPr>
          <p:cNvPr id="29" name="Shape 27"/>
          <p:cNvSpPr/>
          <p:nvPr/>
        </p:nvSpPr>
        <p:spPr>
          <a:xfrm>
            <a:off x="5010912" y="4370832"/>
            <a:ext cx="45720" cy="384048"/>
          </a:xfrm>
          <a:prstGeom prst="rect">
            <a:avLst/>
          </a:prstGeom>
          <a:solidFill>
            <a:srgbClr val="4A5568"/>
          </a:solidFill>
          <a:ln w="12700">
            <a:solidFill>
              <a:srgbClr val="4A5568"/>
            </a:solidFill>
            <a:prstDash val="solid"/>
          </a:ln>
        </p:spPr>
      </p:sp>
      <p:sp>
        <p:nvSpPr>
          <p:cNvPr id="30" name="Text 28"/>
          <p:cNvSpPr/>
          <p:nvPr/>
        </p:nvSpPr>
        <p:spPr>
          <a:xfrm>
            <a:off x="5138928" y="4370832"/>
            <a:ext cx="3511296" cy="201168"/>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raw_text_excerpt</a:t>
            </a:r>
            <a:endParaRPr lang="en-US" sz="950" dirty="0"/>
          </a:p>
        </p:txBody>
      </p:sp>
      <p:sp>
        <p:nvSpPr>
          <p:cNvPr id="31" name="Text 29"/>
          <p:cNvSpPr/>
          <p:nvPr/>
        </p:nvSpPr>
        <p:spPr>
          <a:xfrm>
            <a:off x="5138928" y="4572000"/>
            <a:ext cx="3511296" cy="201168"/>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Capped 1500 tokens. Model learns from field manifest, not raw text noise.</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365760" y="219456"/>
            <a:ext cx="3376879" cy="256032"/>
          </a:xfrm>
          <a:prstGeom prst="rect">
            <a:avLst/>
          </a:prstGeom>
          <a:solidFill>
            <a:srgbClr val="0E7C7B"/>
          </a:solidFill>
          <a:ln w="12700">
            <a:solidFill>
              <a:srgbClr val="0E7C7B"/>
            </a:solidFill>
            <a:prstDash val="solid"/>
          </a:ln>
        </p:spPr>
      </p:sp>
      <p:sp>
        <p:nvSpPr>
          <p:cNvPr id="3" name="Text 1"/>
          <p:cNvSpPr/>
          <p:nvPr/>
        </p:nvSpPr>
        <p:spPr>
          <a:xfrm>
            <a:off x="365760" y="219456"/>
            <a:ext cx="3376879"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STAGE 2 · FIELD ALIAS DICT &amp; CONFIDENCE</a:t>
            </a:r>
            <a:endParaRPr lang="en-US" sz="850" dirty="0"/>
          </a:p>
        </p:txBody>
      </p:sp>
      <p:sp>
        <p:nvSpPr>
          <p:cNvPr id="4" name="Text 2"/>
          <p:cNvSpPr/>
          <p:nvPr/>
        </p:nvSpPr>
        <p:spPr>
          <a:xfrm>
            <a:off x="365760" y="548640"/>
            <a:ext cx="8412480" cy="512064"/>
          </a:xfrm>
          <a:prstGeom prst="rect">
            <a:avLst/>
          </a:prstGeom>
          <a:noFill/>
          <a:ln/>
        </p:spPr>
        <p:txBody>
          <a:bodyPr wrap="square" lIns="0" tIns="0" rIns="0" bIns="0" rtlCol="0" anchor="ctr"/>
          <a:lstStyle/>
          <a:p>
            <a:pPr indent="0" marL="0">
              <a:buNone/>
            </a:pPr>
            <a:r>
              <a:rPr lang="en-US" sz="2600" b="1" dirty="0">
                <a:solidFill>
                  <a:srgbClr val="0D1117"/>
                </a:solidFill>
                <a:latin typeface="Calibri" pitchFamily="34" charset="0"/>
                <a:ea typeface="Calibri" pitchFamily="34" charset="-122"/>
                <a:cs typeface="Calibri" pitchFamily="34" charset="-120"/>
              </a:rPr>
              <a:t>Normalize field labels, then score extraction agreement</a:t>
            </a:r>
            <a:endParaRPr lang="en-US" sz="2600" dirty="0"/>
          </a:p>
        </p:txBody>
      </p:sp>
      <p:sp>
        <p:nvSpPr>
          <p:cNvPr id="5" name="Text 3"/>
          <p:cNvSpPr/>
          <p:nvPr/>
        </p:nvSpPr>
        <p:spPr>
          <a:xfrm>
            <a:off x="365760" y="1042416"/>
            <a:ext cx="8412480" cy="237744"/>
          </a:xfrm>
          <a:prstGeom prst="rect">
            <a:avLst/>
          </a:prstGeom>
          <a:noFill/>
          <a:ln/>
        </p:spPr>
        <p:txBody>
          <a:bodyPr wrap="square" lIns="0" tIns="0" rIns="0" bIns="0" rtlCol="0" anchor="ctr"/>
          <a:lstStyle/>
          <a:p>
            <a:pPr indent="0" marL="0">
              <a:buNone/>
            </a:pPr>
            <a:r>
              <a:rPr lang="en-US" sz="1100" dirty="0">
                <a:solidFill>
                  <a:srgbClr val="718096"/>
                </a:solidFill>
                <a:latin typeface="Calibri" pitchFamily="34" charset="0"/>
                <a:ea typeface="Calibri" pitchFamily="34" charset="-122"/>
                <a:cs typeface="Calibri" pitchFamily="34" charset="-120"/>
              </a:rPr>
              <a:t>Same required field appears under 12+ names across years. Alias dict maps all variants to one canonical name.</a:t>
            </a:r>
            <a:endParaRPr lang="en-US" sz="1100" dirty="0"/>
          </a:p>
        </p:txBody>
      </p:sp>
      <p:sp>
        <p:nvSpPr>
          <p:cNvPr id="6" name="Shape 4"/>
          <p:cNvSpPr/>
          <p:nvPr/>
        </p:nvSpPr>
        <p:spPr>
          <a:xfrm>
            <a:off x="347472" y="1371600"/>
            <a:ext cx="4754880" cy="22860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9000"/>
              </a:srgbClr>
            </a:outerShdw>
          </a:effectLst>
        </p:spPr>
      </p:sp>
      <p:sp>
        <p:nvSpPr>
          <p:cNvPr id="7" name="Shape 5"/>
          <p:cNvSpPr/>
          <p:nvPr/>
        </p:nvSpPr>
        <p:spPr>
          <a:xfrm>
            <a:off x="347472" y="1371600"/>
            <a:ext cx="54864" cy="2286000"/>
          </a:xfrm>
          <a:prstGeom prst="rect">
            <a:avLst/>
          </a:prstGeom>
          <a:solidFill>
            <a:srgbClr val="4C3B8A"/>
          </a:solidFill>
          <a:ln w="12700">
            <a:solidFill>
              <a:srgbClr val="4C3B8A"/>
            </a:solidFill>
            <a:prstDash val="solid"/>
          </a:ln>
        </p:spPr>
      </p:sp>
      <p:sp>
        <p:nvSpPr>
          <p:cNvPr id="8" name="Text 6"/>
          <p:cNvSpPr/>
          <p:nvPr/>
        </p:nvSpPr>
        <p:spPr>
          <a:xfrm>
            <a:off x="566928" y="1517904"/>
            <a:ext cx="4297680" cy="237744"/>
          </a:xfrm>
          <a:prstGeom prst="rect">
            <a:avLst/>
          </a:prstGeom>
          <a:noFill/>
          <a:ln/>
        </p:spPr>
        <p:txBody>
          <a:bodyPr wrap="square" lIns="0" tIns="0" rIns="0" bIns="0" rtlCol="0" anchor="ctr"/>
          <a:lstStyle/>
          <a:p>
            <a:pPr indent="0" marL="0">
              <a:buNone/>
            </a:pPr>
            <a:r>
              <a:rPr lang="en-US" sz="1050" b="1" dirty="0">
                <a:solidFill>
                  <a:srgbClr val="4C3B8A"/>
                </a:solidFill>
                <a:latin typeface="Calibri" pitchFamily="34" charset="0"/>
                <a:ea typeface="Calibri" pitchFamily="34" charset="-122"/>
                <a:cs typeface="Calibri" pitchFamily="34" charset="-120"/>
              </a:rPr>
              <a:t>field_aliases — PPC workpaper (example)</a:t>
            </a:r>
            <a:endParaRPr lang="en-US" sz="1050" dirty="0"/>
          </a:p>
        </p:txBody>
      </p:sp>
      <p:sp>
        <p:nvSpPr>
          <p:cNvPr id="9" name="Shape 7"/>
          <p:cNvSpPr/>
          <p:nvPr/>
        </p:nvSpPr>
        <p:spPr>
          <a:xfrm>
            <a:off x="475488" y="1792224"/>
            <a:ext cx="4535424" cy="1755648"/>
          </a:xfrm>
          <a:prstGeom prst="rect">
            <a:avLst/>
          </a:prstGeom>
          <a:solidFill>
            <a:srgbClr val="161B22"/>
          </a:solidFill>
          <a:ln w="12700">
            <a:solidFill>
              <a:srgbClr val="30363D"/>
            </a:solidFill>
            <a:prstDash val="solid"/>
          </a:ln>
        </p:spPr>
      </p:sp>
      <p:sp>
        <p:nvSpPr>
          <p:cNvPr id="10" name="Text 8"/>
          <p:cNvSpPr/>
          <p:nvPr/>
        </p:nvSpPr>
        <p:spPr>
          <a:xfrm>
            <a:off x="603504" y="1883664"/>
            <a:ext cx="4279392" cy="1572768"/>
          </a:xfrm>
          <a:prstGeom prst="rect">
            <a:avLst/>
          </a:prstGeom>
          <a:noFill/>
          <a:ln/>
        </p:spPr>
        <p:txBody>
          <a:bodyPr wrap="square" lIns="0" tIns="0" rIns="0" bIns="0" rtlCol="0" anchor="t"/>
          <a:lstStyle/>
          <a:p>
            <a:pPr indent="0" marL="0">
              <a:buNone/>
            </a:pPr>
            <a:r>
              <a:rPr lang="en-US" sz="800" dirty="0">
                <a:solidFill>
                  <a:srgbClr val="A8D8A8"/>
                </a:solidFill>
                <a:latin typeface="Courier New" pitchFamily="34" charset="0"/>
                <a:ea typeface="Courier New" pitchFamily="34" charset="-122"/>
                <a:cs typeface="Courier New" pitchFamily="34" charset="-120"/>
              </a:rPr>
              <a:t>field_aliases = { "PPC": {</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  "partner_signature": [</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    "Eng. Partner", "EP:", "Partner:",</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    "Partner Name", "Reviewed by",</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    "Approved by Partner", "P.A.",</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    "Lead Partner", "Prtnr Sign-off"</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  ],</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  "risk_score": [</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    "Risk", "Risk Score", "Risk Assess.",</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    "ER Score", "Engagement Risk"</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  ]}}</a:t>
            </a:r>
            <a:endParaRPr lang="en-US" sz="800" dirty="0"/>
          </a:p>
        </p:txBody>
      </p:sp>
      <p:sp>
        <p:nvSpPr>
          <p:cNvPr id="11" name="Shape 9"/>
          <p:cNvSpPr/>
          <p:nvPr/>
        </p:nvSpPr>
        <p:spPr>
          <a:xfrm>
            <a:off x="5285232" y="1371600"/>
            <a:ext cx="3511296" cy="22860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9000"/>
              </a:srgbClr>
            </a:outerShdw>
          </a:effectLst>
        </p:spPr>
      </p:sp>
      <p:sp>
        <p:nvSpPr>
          <p:cNvPr id="12" name="Shape 10"/>
          <p:cNvSpPr/>
          <p:nvPr/>
        </p:nvSpPr>
        <p:spPr>
          <a:xfrm>
            <a:off x="5285232" y="1371600"/>
            <a:ext cx="54864" cy="2286000"/>
          </a:xfrm>
          <a:prstGeom prst="rect">
            <a:avLst/>
          </a:prstGeom>
          <a:solidFill>
            <a:srgbClr val="D4A017"/>
          </a:solidFill>
          <a:ln w="12700">
            <a:solidFill>
              <a:srgbClr val="D4A017"/>
            </a:solidFill>
            <a:prstDash val="solid"/>
          </a:ln>
        </p:spPr>
      </p:sp>
      <p:sp>
        <p:nvSpPr>
          <p:cNvPr id="13" name="Text 11"/>
          <p:cNvSpPr/>
          <p:nvPr/>
        </p:nvSpPr>
        <p:spPr>
          <a:xfrm>
            <a:off x="5504688" y="1517904"/>
            <a:ext cx="3108960" cy="237744"/>
          </a:xfrm>
          <a:prstGeom prst="rect">
            <a:avLst/>
          </a:prstGeom>
          <a:noFill/>
          <a:ln/>
        </p:spPr>
        <p:txBody>
          <a:bodyPr wrap="square" lIns="0" tIns="0" rIns="0" bIns="0" rtlCol="0" anchor="ctr"/>
          <a:lstStyle/>
          <a:p>
            <a:pPr indent="0" marL="0">
              <a:buNone/>
            </a:pPr>
            <a:r>
              <a:rPr lang="en-US" sz="1050" b="1" dirty="0">
                <a:solidFill>
                  <a:srgbClr val="D4A017"/>
                </a:solidFill>
                <a:latin typeface="Calibri" pitchFamily="34" charset="0"/>
                <a:ea typeface="Calibri" pitchFamily="34" charset="-122"/>
                <a:cs typeface="Calibri" pitchFamily="34" charset="-120"/>
              </a:rPr>
              <a:t>Confidence scoring — 3 extractors</a:t>
            </a:r>
            <a:endParaRPr lang="en-US" sz="1050" dirty="0"/>
          </a:p>
        </p:txBody>
      </p:sp>
      <p:sp>
        <p:nvSpPr>
          <p:cNvPr id="14" name="Shape 12"/>
          <p:cNvSpPr/>
          <p:nvPr/>
        </p:nvSpPr>
        <p:spPr>
          <a:xfrm>
            <a:off x="5376672" y="1865376"/>
            <a:ext cx="3328416" cy="347472"/>
          </a:xfrm>
          <a:prstGeom prst="rect">
            <a:avLst/>
          </a:prstGeom>
          <a:solidFill>
            <a:srgbClr val="EDF2F7"/>
          </a:solidFill>
          <a:ln w="12700">
            <a:solidFill>
              <a:srgbClr val="E2E8F0"/>
            </a:solidFill>
            <a:prstDash val="solid"/>
          </a:ln>
        </p:spPr>
      </p:sp>
      <p:sp>
        <p:nvSpPr>
          <p:cNvPr id="15" name="Shape 13"/>
          <p:cNvSpPr/>
          <p:nvPr/>
        </p:nvSpPr>
        <p:spPr>
          <a:xfrm>
            <a:off x="5376672" y="1956816"/>
            <a:ext cx="36576" cy="164592"/>
          </a:xfrm>
          <a:prstGeom prst="rect">
            <a:avLst/>
          </a:prstGeom>
          <a:solidFill>
            <a:srgbClr val="1A7A4A"/>
          </a:solidFill>
          <a:ln w="12700">
            <a:solidFill>
              <a:srgbClr val="1A7A4A"/>
            </a:solidFill>
            <a:prstDash val="solid"/>
          </a:ln>
        </p:spPr>
      </p:sp>
      <p:sp>
        <p:nvSpPr>
          <p:cNvPr id="16" name="Text 14"/>
          <p:cNvSpPr/>
          <p:nvPr/>
        </p:nvSpPr>
        <p:spPr>
          <a:xfrm>
            <a:off x="5468112" y="1865376"/>
            <a:ext cx="1371600" cy="347472"/>
          </a:xfrm>
          <a:prstGeom prst="rect">
            <a:avLst/>
          </a:prstGeom>
          <a:noFill/>
          <a:ln/>
        </p:spPr>
        <p:txBody>
          <a:bodyPr wrap="square" lIns="0" tIns="0" rIns="0" bIns="0" rtlCol="0" anchor="ctr"/>
          <a:lstStyle/>
          <a:p>
            <a:pPr indent="0" marL="0">
              <a:buNone/>
            </a:pPr>
            <a:r>
              <a:rPr lang="en-US" sz="850" dirty="0">
                <a:solidFill>
                  <a:srgbClr val="0D1117"/>
                </a:solidFill>
                <a:latin typeface="Calibri" pitchFamily="34" charset="0"/>
                <a:ea typeface="Calibri" pitchFamily="34" charset="-122"/>
                <a:cs typeface="Calibri" pitchFamily="34" charset="-120"/>
              </a:rPr>
              <a:t>All 3 agree</a:t>
            </a:r>
            <a:endParaRPr lang="en-US" sz="850" dirty="0"/>
          </a:p>
        </p:txBody>
      </p:sp>
      <p:sp>
        <p:nvSpPr>
          <p:cNvPr id="17" name="Text 15"/>
          <p:cNvSpPr/>
          <p:nvPr/>
        </p:nvSpPr>
        <p:spPr>
          <a:xfrm>
            <a:off x="6858000" y="1865376"/>
            <a:ext cx="502920" cy="347472"/>
          </a:xfrm>
          <a:prstGeom prst="rect">
            <a:avLst/>
          </a:prstGeom>
          <a:noFill/>
          <a:ln/>
        </p:spPr>
        <p:txBody>
          <a:bodyPr wrap="square" lIns="0" tIns="0" rIns="0" bIns="0" rtlCol="0" anchor="ctr"/>
          <a:lstStyle/>
          <a:p>
            <a:pPr indent="0" marL="0">
              <a:buNone/>
            </a:pPr>
            <a:r>
              <a:rPr lang="en-US" sz="850" b="1" dirty="0">
                <a:solidFill>
                  <a:srgbClr val="1A7A4A"/>
                </a:solidFill>
                <a:latin typeface="Calibri" pitchFamily="34" charset="0"/>
                <a:ea typeface="Calibri" pitchFamily="34" charset="-122"/>
                <a:cs typeface="Calibri" pitchFamily="34" charset="-120"/>
              </a:rPr>
              <a:t>1.0</a:t>
            </a:r>
            <a:endParaRPr lang="en-US" sz="850" dirty="0"/>
          </a:p>
        </p:txBody>
      </p:sp>
      <p:sp>
        <p:nvSpPr>
          <p:cNvPr id="18" name="Text 16"/>
          <p:cNvSpPr/>
          <p:nvPr/>
        </p:nvSpPr>
        <p:spPr>
          <a:xfrm>
            <a:off x="7370064" y="1865376"/>
            <a:ext cx="1280160" cy="347472"/>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Use directly</a:t>
            </a:r>
            <a:endParaRPr lang="en-US" sz="850" dirty="0"/>
          </a:p>
        </p:txBody>
      </p:sp>
      <p:sp>
        <p:nvSpPr>
          <p:cNvPr id="19" name="Shape 17"/>
          <p:cNvSpPr/>
          <p:nvPr/>
        </p:nvSpPr>
        <p:spPr>
          <a:xfrm>
            <a:off x="5376672" y="2286000"/>
            <a:ext cx="3328416" cy="347472"/>
          </a:xfrm>
          <a:prstGeom prst="rect">
            <a:avLst/>
          </a:prstGeom>
          <a:solidFill>
            <a:srgbClr val="FFFFFF"/>
          </a:solidFill>
          <a:ln w="12700">
            <a:solidFill>
              <a:srgbClr val="E2E8F0"/>
            </a:solidFill>
            <a:prstDash val="solid"/>
          </a:ln>
        </p:spPr>
      </p:sp>
      <p:sp>
        <p:nvSpPr>
          <p:cNvPr id="20" name="Shape 18"/>
          <p:cNvSpPr/>
          <p:nvPr/>
        </p:nvSpPr>
        <p:spPr>
          <a:xfrm>
            <a:off x="5376672" y="2377440"/>
            <a:ext cx="36576" cy="164592"/>
          </a:xfrm>
          <a:prstGeom prst="rect">
            <a:avLst/>
          </a:prstGeom>
          <a:solidFill>
            <a:srgbClr val="D4A017"/>
          </a:solidFill>
          <a:ln w="12700">
            <a:solidFill>
              <a:srgbClr val="D4A017"/>
            </a:solidFill>
            <a:prstDash val="solid"/>
          </a:ln>
        </p:spPr>
      </p:sp>
      <p:sp>
        <p:nvSpPr>
          <p:cNvPr id="21" name="Text 19"/>
          <p:cNvSpPr/>
          <p:nvPr/>
        </p:nvSpPr>
        <p:spPr>
          <a:xfrm>
            <a:off x="5468112" y="2286000"/>
            <a:ext cx="1371600" cy="347472"/>
          </a:xfrm>
          <a:prstGeom prst="rect">
            <a:avLst/>
          </a:prstGeom>
          <a:noFill/>
          <a:ln/>
        </p:spPr>
        <p:txBody>
          <a:bodyPr wrap="square" lIns="0" tIns="0" rIns="0" bIns="0" rtlCol="0" anchor="ctr"/>
          <a:lstStyle/>
          <a:p>
            <a:pPr indent="0" marL="0">
              <a:buNone/>
            </a:pPr>
            <a:r>
              <a:rPr lang="en-US" sz="850" dirty="0">
                <a:solidFill>
                  <a:srgbClr val="0D1117"/>
                </a:solidFill>
                <a:latin typeface="Calibri" pitchFamily="34" charset="0"/>
                <a:ea typeface="Calibri" pitchFamily="34" charset="-122"/>
                <a:cs typeface="Calibri" pitchFamily="34" charset="-120"/>
              </a:rPr>
              <a:t>2 of 3 agree</a:t>
            </a:r>
            <a:endParaRPr lang="en-US" sz="850" dirty="0"/>
          </a:p>
        </p:txBody>
      </p:sp>
      <p:sp>
        <p:nvSpPr>
          <p:cNvPr id="22" name="Text 20"/>
          <p:cNvSpPr/>
          <p:nvPr/>
        </p:nvSpPr>
        <p:spPr>
          <a:xfrm>
            <a:off x="6858000" y="2286000"/>
            <a:ext cx="502920" cy="347472"/>
          </a:xfrm>
          <a:prstGeom prst="rect">
            <a:avLst/>
          </a:prstGeom>
          <a:noFill/>
          <a:ln/>
        </p:spPr>
        <p:txBody>
          <a:bodyPr wrap="square" lIns="0" tIns="0" rIns="0" bIns="0" rtlCol="0" anchor="ctr"/>
          <a:lstStyle/>
          <a:p>
            <a:pPr indent="0" marL="0">
              <a:buNone/>
            </a:pPr>
            <a:r>
              <a:rPr lang="en-US" sz="850" b="1" dirty="0">
                <a:solidFill>
                  <a:srgbClr val="D4A017"/>
                </a:solidFill>
                <a:latin typeface="Calibri" pitchFamily="34" charset="0"/>
                <a:ea typeface="Calibri" pitchFamily="34" charset="-122"/>
                <a:cs typeface="Calibri" pitchFamily="34" charset="-120"/>
              </a:rPr>
              <a:t>0.7</a:t>
            </a:r>
            <a:endParaRPr lang="en-US" sz="850" dirty="0"/>
          </a:p>
        </p:txBody>
      </p:sp>
      <p:sp>
        <p:nvSpPr>
          <p:cNvPr id="23" name="Text 21"/>
          <p:cNvSpPr/>
          <p:nvPr/>
        </p:nvSpPr>
        <p:spPr>
          <a:xfrm>
            <a:off x="7370064" y="2286000"/>
            <a:ext cx="1280160" cy="347472"/>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Use + spot flag</a:t>
            </a:r>
            <a:endParaRPr lang="en-US" sz="850" dirty="0"/>
          </a:p>
        </p:txBody>
      </p:sp>
      <p:sp>
        <p:nvSpPr>
          <p:cNvPr id="24" name="Shape 22"/>
          <p:cNvSpPr/>
          <p:nvPr/>
        </p:nvSpPr>
        <p:spPr>
          <a:xfrm>
            <a:off x="5376672" y="2706624"/>
            <a:ext cx="3328416" cy="347472"/>
          </a:xfrm>
          <a:prstGeom prst="rect">
            <a:avLst/>
          </a:prstGeom>
          <a:solidFill>
            <a:srgbClr val="EDF2F7"/>
          </a:solidFill>
          <a:ln w="12700">
            <a:solidFill>
              <a:srgbClr val="E2E8F0"/>
            </a:solidFill>
            <a:prstDash val="solid"/>
          </a:ln>
        </p:spPr>
      </p:sp>
      <p:sp>
        <p:nvSpPr>
          <p:cNvPr id="25" name="Shape 23"/>
          <p:cNvSpPr/>
          <p:nvPr/>
        </p:nvSpPr>
        <p:spPr>
          <a:xfrm>
            <a:off x="5376672" y="2798064"/>
            <a:ext cx="36576" cy="164592"/>
          </a:xfrm>
          <a:prstGeom prst="rect">
            <a:avLst/>
          </a:prstGeom>
          <a:solidFill>
            <a:srgbClr val="C0392B"/>
          </a:solidFill>
          <a:ln w="12700">
            <a:solidFill>
              <a:srgbClr val="C0392B"/>
            </a:solidFill>
            <a:prstDash val="solid"/>
          </a:ln>
        </p:spPr>
      </p:sp>
      <p:sp>
        <p:nvSpPr>
          <p:cNvPr id="26" name="Text 24"/>
          <p:cNvSpPr/>
          <p:nvPr/>
        </p:nvSpPr>
        <p:spPr>
          <a:xfrm>
            <a:off x="5468112" y="2706624"/>
            <a:ext cx="1371600" cy="347472"/>
          </a:xfrm>
          <a:prstGeom prst="rect">
            <a:avLst/>
          </a:prstGeom>
          <a:noFill/>
          <a:ln/>
        </p:spPr>
        <p:txBody>
          <a:bodyPr wrap="square" lIns="0" tIns="0" rIns="0" bIns="0" rtlCol="0" anchor="ctr"/>
          <a:lstStyle/>
          <a:p>
            <a:pPr indent="0" marL="0">
              <a:buNone/>
            </a:pPr>
            <a:r>
              <a:rPr lang="en-US" sz="850" dirty="0">
                <a:solidFill>
                  <a:srgbClr val="0D1117"/>
                </a:solidFill>
                <a:latin typeface="Calibri" pitchFamily="34" charset="0"/>
                <a:ea typeface="Calibri" pitchFamily="34" charset="-122"/>
                <a:cs typeface="Calibri" pitchFamily="34" charset="-120"/>
              </a:rPr>
              <a:t>All 3 disagree</a:t>
            </a:r>
            <a:endParaRPr lang="en-US" sz="850" dirty="0"/>
          </a:p>
        </p:txBody>
      </p:sp>
      <p:sp>
        <p:nvSpPr>
          <p:cNvPr id="27" name="Text 25"/>
          <p:cNvSpPr/>
          <p:nvPr/>
        </p:nvSpPr>
        <p:spPr>
          <a:xfrm>
            <a:off x="6858000" y="2706624"/>
            <a:ext cx="502920" cy="347472"/>
          </a:xfrm>
          <a:prstGeom prst="rect">
            <a:avLst/>
          </a:prstGeom>
          <a:noFill/>
          <a:ln/>
        </p:spPr>
        <p:txBody>
          <a:bodyPr wrap="square" lIns="0" tIns="0" rIns="0" bIns="0" rtlCol="0" anchor="ctr"/>
          <a:lstStyle/>
          <a:p>
            <a:pPr indent="0" marL="0">
              <a:buNone/>
            </a:pPr>
            <a:r>
              <a:rPr lang="en-US" sz="850" b="1" dirty="0">
                <a:solidFill>
                  <a:srgbClr val="C0392B"/>
                </a:solidFill>
                <a:latin typeface="Calibri" pitchFamily="34" charset="0"/>
                <a:ea typeface="Calibri" pitchFamily="34" charset="-122"/>
                <a:cs typeface="Calibri" pitchFamily="34" charset="-120"/>
              </a:rPr>
              <a:t>0.2</a:t>
            </a:r>
            <a:endParaRPr lang="en-US" sz="850" dirty="0"/>
          </a:p>
        </p:txBody>
      </p:sp>
      <p:sp>
        <p:nvSpPr>
          <p:cNvPr id="28" name="Text 26"/>
          <p:cNvSpPr/>
          <p:nvPr/>
        </p:nvSpPr>
        <p:spPr>
          <a:xfrm>
            <a:off x="7370064" y="2706624"/>
            <a:ext cx="1280160" cy="347472"/>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Human review</a:t>
            </a:r>
            <a:endParaRPr lang="en-US" sz="850" dirty="0"/>
          </a:p>
        </p:txBody>
      </p:sp>
      <p:sp>
        <p:nvSpPr>
          <p:cNvPr id="29" name="Shape 27"/>
          <p:cNvSpPr/>
          <p:nvPr/>
        </p:nvSpPr>
        <p:spPr>
          <a:xfrm>
            <a:off x="5376672" y="3127248"/>
            <a:ext cx="3328416" cy="347472"/>
          </a:xfrm>
          <a:prstGeom prst="rect">
            <a:avLst/>
          </a:prstGeom>
          <a:solidFill>
            <a:srgbClr val="FFFFFF"/>
          </a:solidFill>
          <a:ln w="12700">
            <a:solidFill>
              <a:srgbClr val="E2E8F0"/>
            </a:solidFill>
            <a:prstDash val="solid"/>
          </a:ln>
        </p:spPr>
      </p:sp>
      <p:sp>
        <p:nvSpPr>
          <p:cNvPr id="30" name="Shape 28"/>
          <p:cNvSpPr/>
          <p:nvPr/>
        </p:nvSpPr>
        <p:spPr>
          <a:xfrm>
            <a:off x="5376672" y="3218688"/>
            <a:ext cx="36576" cy="164592"/>
          </a:xfrm>
          <a:prstGeom prst="rect">
            <a:avLst/>
          </a:prstGeom>
          <a:solidFill>
            <a:srgbClr val="0E7C7B"/>
          </a:solidFill>
          <a:ln w="12700">
            <a:solidFill>
              <a:srgbClr val="0E7C7B"/>
            </a:solidFill>
            <a:prstDash val="solid"/>
          </a:ln>
        </p:spPr>
      </p:sp>
      <p:sp>
        <p:nvSpPr>
          <p:cNvPr id="31" name="Text 29"/>
          <p:cNvSpPr/>
          <p:nvPr/>
        </p:nvSpPr>
        <p:spPr>
          <a:xfrm>
            <a:off x="5468112" y="3127248"/>
            <a:ext cx="1371600" cy="347472"/>
          </a:xfrm>
          <a:prstGeom prst="rect">
            <a:avLst/>
          </a:prstGeom>
          <a:noFill/>
          <a:ln/>
        </p:spPr>
        <p:txBody>
          <a:bodyPr wrap="square" lIns="0" tIns="0" rIns="0" bIns="0" rtlCol="0" anchor="ctr"/>
          <a:lstStyle/>
          <a:p>
            <a:pPr indent="0" marL="0">
              <a:buNone/>
            </a:pPr>
            <a:r>
              <a:rPr lang="en-US" sz="850" dirty="0">
                <a:solidFill>
                  <a:srgbClr val="0D1117"/>
                </a:solidFill>
                <a:latin typeface="Calibri" pitchFamily="34" charset="0"/>
                <a:ea typeface="Calibri" pitchFamily="34" charset="-122"/>
                <a:cs typeface="Calibri" pitchFamily="34" charset="-120"/>
              </a:rPr>
              <a:t>Field blank in all</a:t>
            </a:r>
            <a:endParaRPr lang="en-US" sz="850" dirty="0"/>
          </a:p>
        </p:txBody>
      </p:sp>
      <p:sp>
        <p:nvSpPr>
          <p:cNvPr id="32" name="Text 30"/>
          <p:cNvSpPr/>
          <p:nvPr/>
        </p:nvSpPr>
        <p:spPr>
          <a:xfrm>
            <a:off x="6858000" y="3127248"/>
            <a:ext cx="502920" cy="347472"/>
          </a:xfrm>
          <a:prstGeom prst="rect">
            <a:avLst/>
          </a:prstGeom>
          <a:noFill/>
          <a:ln/>
        </p:spPr>
        <p:txBody>
          <a:bodyPr wrap="square" lIns="0" tIns="0" rIns="0" bIns="0" rtlCol="0" anchor="ctr"/>
          <a:lstStyle/>
          <a:p>
            <a:pPr indent="0" marL="0">
              <a:buNone/>
            </a:pPr>
            <a:r>
              <a:rPr lang="en-US" sz="850" b="1" dirty="0">
                <a:solidFill>
                  <a:srgbClr val="0E7C7B"/>
                </a:solidFill>
                <a:latin typeface="Calibri" pitchFamily="34" charset="0"/>
                <a:ea typeface="Calibri" pitchFamily="34" charset="-122"/>
                <a:cs typeface="Calibri" pitchFamily="34" charset="-120"/>
              </a:rPr>
              <a:t>0.0</a:t>
            </a:r>
            <a:endParaRPr lang="en-US" sz="850" dirty="0"/>
          </a:p>
        </p:txBody>
      </p:sp>
      <p:sp>
        <p:nvSpPr>
          <p:cNvPr id="33" name="Text 31"/>
          <p:cNvSpPr/>
          <p:nvPr/>
        </p:nvSpPr>
        <p:spPr>
          <a:xfrm>
            <a:off x="7370064" y="3127248"/>
            <a:ext cx="1280160" cy="347472"/>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 fields_missing</a:t>
            </a:r>
            <a:endParaRPr lang="en-US" sz="850" dirty="0"/>
          </a:p>
        </p:txBody>
      </p:sp>
      <p:sp>
        <p:nvSpPr>
          <p:cNvPr id="34" name="Shape 32"/>
          <p:cNvSpPr/>
          <p:nvPr/>
        </p:nvSpPr>
        <p:spPr>
          <a:xfrm>
            <a:off x="347472" y="3767328"/>
            <a:ext cx="8449056" cy="10972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9000"/>
              </a:srgbClr>
            </a:outerShdw>
          </a:effectLst>
        </p:spPr>
      </p:sp>
      <p:sp>
        <p:nvSpPr>
          <p:cNvPr id="35" name="Shape 33"/>
          <p:cNvSpPr/>
          <p:nvPr/>
        </p:nvSpPr>
        <p:spPr>
          <a:xfrm>
            <a:off x="347472" y="3767328"/>
            <a:ext cx="54864" cy="1097280"/>
          </a:xfrm>
          <a:prstGeom prst="rect">
            <a:avLst/>
          </a:prstGeom>
          <a:solidFill>
            <a:srgbClr val="0E7C7B"/>
          </a:solidFill>
          <a:ln w="12700">
            <a:solidFill>
              <a:srgbClr val="0E7C7B"/>
            </a:solidFill>
            <a:prstDash val="solid"/>
          </a:ln>
        </p:spPr>
      </p:sp>
      <p:sp>
        <p:nvSpPr>
          <p:cNvPr id="36" name="Text 34"/>
          <p:cNvSpPr/>
          <p:nvPr/>
        </p:nvSpPr>
        <p:spPr>
          <a:xfrm>
            <a:off x="566928" y="3913632"/>
            <a:ext cx="7955280" cy="219456"/>
          </a:xfrm>
          <a:prstGeom prst="rect">
            <a:avLst/>
          </a:prstGeom>
          <a:noFill/>
          <a:ln/>
        </p:spPr>
        <p:txBody>
          <a:bodyPr wrap="square" lIns="0" tIns="0" rIns="0" bIns="0" rtlCol="0" anchor="ctr"/>
          <a:lstStyle/>
          <a:p>
            <a:pPr indent="0" marL="0">
              <a:buNone/>
            </a:pPr>
            <a:r>
              <a:rPr lang="en-US" sz="1050" b="1" dirty="0">
                <a:solidFill>
                  <a:srgbClr val="0E7C7B"/>
                </a:solidFill>
                <a:latin typeface="Calibri" pitchFamily="34" charset="0"/>
                <a:ea typeface="Calibri" pitchFamily="34" charset="-122"/>
                <a:cs typeface="Calibri" pitchFamily="34" charset="-120"/>
              </a:rPr>
              <a:t>Three extractors run in parallel — agreement = confidence</a:t>
            </a:r>
            <a:endParaRPr lang="en-US" sz="1050" dirty="0"/>
          </a:p>
        </p:txBody>
      </p:sp>
      <p:sp>
        <p:nvSpPr>
          <p:cNvPr id="37" name="Shape 35"/>
          <p:cNvSpPr/>
          <p:nvPr/>
        </p:nvSpPr>
        <p:spPr>
          <a:xfrm>
            <a:off x="475488" y="4169664"/>
            <a:ext cx="2651760" cy="585216"/>
          </a:xfrm>
          <a:prstGeom prst="rect">
            <a:avLst/>
          </a:prstGeom>
          <a:solidFill>
            <a:srgbClr val="EDF2F7"/>
          </a:solidFill>
          <a:ln w="12700">
            <a:solidFill>
              <a:srgbClr val="0E7C7B"/>
            </a:solidFill>
            <a:prstDash val="solid"/>
          </a:ln>
        </p:spPr>
      </p:sp>
      <p:sp>
        <p:nvSpPr>
          <p:cNvPr id="38" name="Text 36"/>
          <p:cNvSpPr/>
          <p:nvPr/>
        </p:nvSpPr>
        <p:spPr>
          <a:xfrm>
            <a:off x="566928" y="4187952"/>
            <a:ext cx="2468880" cy="219456"/>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pdfplumber</a:t>
            </a:r>
            <a:endParaRPr lang="en-US" sz="950" dirty="0"/>
          </a:p>
        </p:txBody>
      </p:sp>
      <p:sp>
        <p:nvSpPr>
          <p:cNvPr id="39" name="Text 37"/>
          <p:cNvSpPr/>
          <p:nvPr/>
        </p:nvSpPr>
        <p:spPr>
          <a:xfrm>
            <a:off x="566928" y="4407408"/>
            <a:ext cx="2468880" cy="310896"/>
          </a:xfrm>
          <a:prstGeom prst="rect">
            <a:avLst/>
          </a:prstGeom>
          <a:noFill/>
          <a:ln/>
        </p:spPr>
        <p:txBody>
          <a:bodyPr wrap="square" lIns="0" tIns="0" rIns="0" bIns="0" rtlCol="0" anchor="ctr"/>
          <a:lstStyle/>
          <a:p>
            <a:pPr indent="0" marL="0">
              <a:buNone/>
            </a:pPr>
            <a:r>
              <a:rPr lang="en-US" sz="800" dirty="0">
                <a:solidFill>
                  <a:srgbClr val="4A5568"/>
                </a:solidFill>
                <a:latin typeface="Calibri" pitchFamily="34" charset="0"/>
                <a:ea typeface="Calibri" pitchFamily="34" charset="-122"/>
                <a:cs typeface="Calibri" pitchFamily="34" charset="-120"/>
              </a:rPr>
              <a:t>Digital PDFs — native text. Fast, accurate for embedded text. Fails on scans.</a:t>
            </a:r>
            <a:endParaRPr lang="en-US" sz="800" dirty="0"/>
          </a:p>
        </p:txBody>
      </p:sp>
      <p:sp>
        <p:nvSpPr>
          <p:cNvPr id="40" name="Shape 38"/>
          <p:cNvSpPr/>
          <p:nvPr/>
        </p:nvSpPr>
        <p:spPr>
          <a:xfrm>
            <a:off x="3291840" y="4169664"/>
            <a:ext cx="2651760" cy="585216"/>
          </a:xfrm>
          <a:prstGeom prst="rect">
            <a:avLst/>
          </a:prstGeom>
          <a:solidFill>
            <a:srgbClr val="EDF2F7"/>
          </a:solidFill>
          <a:ln w="12700">
            <a:solidFill>
              <a:srgbClr val="0E7C7B"/>
            </a:solidFill>
            <a:prstDash val="solid"/>
          </a:ln>
        </p:spPr>
      </p:sp>
      <p:sp>
        <p:nvSpPr>
          <p:cNvPr id="41" name="Text 39"/>
          <p:cNvSpPr/>
          <p:nvPr/>
        </p:nvSpPr>
        <p:spPr>
          <a:xfrm>
            <a:off x="3383280" y="4187952"/>
            <a:ext cx="2468880" cy="219456"/>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Docling / Surya</a:t>
            </a:r>
            <a:endParaRPr lang="en-US" sz="950" dirty="0"/>
          </a:p>
        </p:txBody>
      </p:sp>
      <p:sp>
        <p:nvSpPr>
          <p:cNvPr id="42" name="Text 40"/>
          <p:cNvSpPr/>
          <p:nvPr/>
        </p:nvSpPr>
        <p:spPr>
          <a:xfrm>
            <a:off x="3383280" y="4407408"/>
            <a:ext cx="2468880" cy="310896"/>
          </a:xfrm>
          <a:prstGeom prst="rect">
            <a:avLst/>
          </a:prstGeom>
          <a:noFill/>
          <a:ln/>
        </p:spPr>
        <p:txBody>
          <a:bodyPr wrap="square" lIns="0" tIns="0" rIns="0" bIns="0" rtlCol="0" anchor="ctr"/>
          <a:lstStyle/>
          <a:p>
            <a:pPr indent="0" marL="0">
              <a:buNone/>
            </a:pPr>
            <a:r>
              <a:rPr lang="en-US" sz="800" dirty="0">
                <a:solidFill>
                  <a:srgbClr val="4A5568"/>
                </a:solidFill>
                <a:latin typeface="Calibri" pitchFamily="34" charset="0"/>
                <a:ea typeface="Calibri" pitchFamily="34" charset="-122"/>
                <a:cs typeface="Calibri" pitchFamily="34" charset="-120"/>
              </a:rPr>
              <a:t>Scanned &amp; mixed docs — layout detection + OCR. Best quality on complex formats.</a:t>
            </a:r>
            <a:endParaRPr lang="en-US" sz="800" dirty="0"/>
          </a:p>
        </p:txBody>
      </p:sp>
      <p:sp>
        <p:nvSpPr>
          <p:cNvPr id="43" name="Shape 41"/>
          <p:cNvSpPr/>
          <p:nvPr/>
        </p:nvSpPr>
        <p:spPr>
          <a:xfrm>
            <a:off x="6108192" y="4169664"/>
            <a:ext cx="2651760" cy="585216"/>
          </a:xfrm>
          <a:prstGeom prst="rect">
            <a:avLst/>
          </a:prstGeom>
          <a:solidFill>
            <a:srgbClr val="EDF2F7"/>
          </a:solidFill>
          <a:ln w="12700">
            <a:solidFill>
              <a:srgbClr val="D4A017"/>
            </a:solidFill>
            <a:prstDash val="solid"/>
          </a:ln>
        </p:spPr>
      </p:sp>
      <p:sp>
        <p:nvSpPr>
          <p:cNvPr id="44" name="Text 42"/>
          <p:cNvSpPr/>
          <p:nvPr/>
        </p:nvSpPr>
        <p:spPr>
          <a:xfrm>
            <a:off x="6199632" y="4187952"/>
            <a:ext cx="2468880" cy="219456"/>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LLM extractor (local)</a:t>
            </a:r>
            <a:endParaRPr lang="en-US" sz="950" dirty="0"/>
          </a:p>
        </p:txBody>
      </p:sp>
      <p:sp>
        <p:nvSpPr>
          <p:cNvPr id="45" name="Text 43"/>
          <p:cNvSpPr/>
          <p:nvPr/>
        </p:nvSpPr>
        <p:spPr>
          <a:xfrm>
            <a:off x="6199632" y="4407408"/>
            <a:ext cx="2468880" cy="310896"/>
          </a:xfrm>
          <a:prstGeom prst="rect">
            <a:avLst/>
          </a:prstGeom>
          <a:noFill/>
          <a:ln/>
        </p:spPr>
        <p:txBody>
          <a:bodyPr wrap="square" lIns="0" tIns="0" rIns="0" bIns="0" rtlCol="0" anchor="ctr"/>
          <a:lstStyle/>
          <a:p>
            <a:pPr indent="0" marL="0">
              <a:buNone/>
            </a:pPr>
            <a:r>
              <a:rPr lang="en-US" sz="800" dirty="0">
                <a:solidFill>
                  <a:srgbClr val="4A5568"/>
                </a:solidFill>
                <a:latin typeface="Calibri" pitchFamily="34" charset="0"/>
                <a:ea typeface="Calibri" pitchFamily="34" charset="-122"/>
                <a:cs typeface="Calibri" pitchFamily="34" charset="-120"/>
              </a:rPr>
              <a:t>Gemma 3 12B reads clean text + SOP field list. Understands field intent.</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365760" y="219456"/>
            <a:ext cx="3774643" cy="256032"/>
          </a:xfrm>
          <a:prstGeom prst="rect">
            <a:avLst/>
          </a:prstGeom>
          <a:solidFill>
            <a:srgbClr val="0E7C7B"/>
          </a:solidFill>
          <a:ln w="12700">
            <a:solidFill>
              <a:srgbClr val="0E7C7B"/>
            </a:solidFill>
            <a:prstDash val="solid"/>
          </a:ln>
        </p:spPr>
      </p:sp>
      <p:sp>
        <p:nvSpPr>
          <p:cNvPr id="3" name="Text 1"/>
          <p:cNvSpPr/>
          <p:nvPr/>
        </p:nvSpPr>
        <p:spPr>
          <a:xfrm>
            <a:off x="365760" y="219456"/>
            <a:ext cx="3774643"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STAGE 3 · PII STRIPPING &amp; CONFIDENCE ROUTING</a:t>
            </a:r>
            <a:endParaRPr lang="en-US" sz="850" dirty="0"/>
          </a:p>
        </p:txBody>
      </p:sp>
      <p:sp>
        <p:nvSpPr>
          <p:cNvPr id="4" name="Text 2"/>
          <p:cNvSpPr/>
          <p:nvPr/>
        </p:nvSpPr>
        <p:spPr>
          <a:xfrm>
            <a:off x="365760" y="548640"/>
            <a:ext cx="8412480" cy="512064"/>
          </a:xfrm>
          <a:prstGeom prst="rect">
            <a:avLst/>
          </a:prstGeom>
          <a:noFill/>
          <a:ln/>
        </p:spPr>
        <p:txBody>
          <a:bodyPr wrap="square" lIns="0" tIns="0" rIns="0" bIns="0" rtlCol="0" anchor="ctr"/>
          <a:lstStyle/>
          <a:p>
            <a:pPr indent="0" marL="0">
              <a:buNone/>
            </a:pPr>
            <a:r>
              <a:rPr lang="en-US" sz="2600" b="1" dirty="0">
                <a:solidFill>
                  <a:srgbClr val="0D1117"/>
                </a:solidFill>
                <a:latin typeface="Calibri" pitchFamily="34" charset="0"/>
                <a:ea typeface="Calibri" pitchFamily="34" charset="-122"/>
                <a:cs typeface="Calibri" pitchFamily="34" charset="-120"/>
              </a:rPr>
              <a:t>Strip PII before extraction. Route low-confidence records to humans.</a:t>
            </a:r>
            <a:endParaRPr lang="en-US" sz="2600" dirty="0"/>
          </a:p>
        </p:txBody>
      </p:sp>
      <p:sp>
        <p:nvSpPr>
          <p:cNvPr id="5" name="Text 3"/>
          <p:cNvSpPr/>
          <p:nvPr/>
        </p:nvSpPr>
        <p:spPr>
          <a:xfrm>
            <a:off x="365760" y="1042416"/>
            <a:ext cx="8412480" cy="237744"/>
          </a:xfrm>
          <a:prstGeom prst="rect">
            <a:avLst/>
          </a:prstGeom>
          <a:noFill/>
          <a:ln/>
        </p:spPr>
        <p:txBody>
          <a:bodyPr wrap="square" lIns="0" tIns="0" rIns="0" bIns="0" rtlCol="0" anchor="ctr"/>
          <a:lstStyle/>
          <a:p>
            <a:pPr indent="0" marL="0">
              <a:buNone/>
            </a:pPr>
            <a:r>
              <a:rPr lang="en-US" sz="1100" dirty="0">
                <a:solidFill>
                  <a:srgbClr val="718096"/>
                </a:solidFill>
                <a:latin typeface="Calibri" pitchFamily="34" charset="0"/>
                <a:ea typeface="Calibri" pitchFamily="34" charset="-122"/>
                <a:cs typeface="Calibri" pitchFamily="34" charset="-120"/>
              </a:rPr>
              <a:t>PII removal happens first — before any LLM sees the document. The review queue turns hard cases into gold data.</a:t>
            </a:r>
            <a:endParaRPr lang="en-US" sz="1100" dirty="0"/>
          </a:p>
        </p:txBody>
      </p:sp>
      <p:sp>
        <p:nvSpPr>
          <p:cNvPr id="6" name="Shape 4"/>
          <p:cNvSpPr/>
          <p:nvPr/>
        </p:nvSpPr>
        <p:spPr>
          <a:xfrm>
            <a:off x="347472" y="1371600"/>
            <a:ext cx="4114800" cy="3511296"/>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9000"/>
              </a:srgbClr>
            </a:outerShdw>
          </a:effectLst>
        </p:spPr>
      </p:sp>
      <p:sp>
        <p:nvSpPr>
          <p:cNvPr id="7" name="Shape 5"/>
          <p:cNvSpPr/>
          <p:nvPr/>
        </p:nvSpPr>
        <p:spPr>
          <a:xfrm>
            <a:off x="347472" y="1371600"/>
            <a:ext cx="54864" cy="3511296"/>
          </a:xfrm>
          <a:prstGeom prst="rect">
            <a:avLst/>
          </a:prstGeom>
          <a:solidFill>
            <a:srgbClr val="C0392B"/>
          </a:solidFill>
          <a:ln w="12700">
            <a:solidFill>
              <a:srgbClr val="C0392B"/>
            </a:solidFill>
            <a:prstDash val="solid"/>
          </a:ln>
        </p:spPr>
      </p:sp>
      <p:sp>
        <p:nvSpPr>
          <p:cNvPr id="8" name="Text 6"/>
          <p:cNvSpPr/>
          <p:nvPr/>
        </p:nvSpPr>
        <p:spPr>
          <a:xfrm>
            <a:off x="566928" y="1517904"/>
            <a:ext cx="3657600" cy="237744"/>
          </a:xfrm>
          <a:prstGeom prst="rect">
            <a:avLst/>
          </a:prstGeom>
          <a:noFill/>
          <a:ln/>
        </p:spPr>
        <p:txBody>
          <a:bodyPr wrap="square" lIns="0" tIns="0" rIns="0" bIns="0" rtlCol="0" anchor="ctr"/>
          <a:lstStyle/>
          <a:p>
            <a:pPr indent="0" marL="0">
              <a:buNone/>
            </a:pPr>
            <a:r>
              <a:rPr lang="en-US" sz="1050" b="1" dirty="0">
                <a:solidFill>
                  <a:srgbClr val="C0392B"/>
                </a:solidFill>
                <a:latin typeface="Calibri" pitchFamily="34" charset="0"/>
                <a:ea typeface="Calibri" pitchFamily="34" charset="-122"/>
                <a:cs typeface="Calibri" pitchFamily="34" charset="-120"/>
              </a:rPr>
              <a:t>PII removed before LLM extraction</a:t>
            </a:r>
            <a:endParaRPr lang="en-US" sz="1050" dirty="0"/>
          </a:p>
        </p:txBody>
      </p:sp>
      <p:sp>
        <p:nvSpPr>
          <p:cNvPr id="9" name="Shape 7"/>
          <p:cNvSpPr/>
          <p:nvPr/>
        </p:nvSpPr>
        <p:spPr>
          <a:xfrm>
            <a:off x="438912" y="1865376"/>
            <a:ext cx="3913632" cy="402336"/>
          </a:xfrm>
          <a:prstGeom prst="rect">
            <a:avLst/>
          </a:prstGeom>
          <a:solidFill>
            <a:srgbClr val="FDECEA"/>
          </a:solidFill>
          <a:ln w="12700">
            <a:solidFill>
              <a:srgbClr val="E2E8F0"/>
            </a:solidFill>
            <a:prstDash val="solid"/>
          </a:ln>
        </p:spPr>
      </p:sp>
      <p:sp>
        <p:nvSpPr>
          <p:cNvPr id="10" name="Text 8"/>
          <p:cNvSpPr/>
          <p:nvPr/>
        </p:nvSpPr>
        <p:spPr>
          <a:xfrm>
            <a:off x="530352" y="1865376"/>
            <a:ext cx="1280160" cy="402336"/>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Client names</a:t>
            </a:r>
            <a:endParaRPr lang="en-US" sz="950" dirty="0"/>
          </a:p>
        </p:txBody>
      </p:sp>
      <p:sp>
        <p:nvSpPr>
          <p:cNvPr id="11" name="Text 9"/>
          <p:cNvSpPr/>
          <p:nvPr/>
        </p:nvSpPr>
        <p:spPr>
          <a:xfrm>
            <a:off x="1828800" y="1865376"/>
            <a:ext cx="2377440" cy="402336"/>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spaCy ORG → [CLIENT_REDACTED]</a:t>
            </a:r>
            <a:endParaRPr lang="en-US" sz="850" dirty="0"/>
          </a:p>
        </p:txBody>
      </p:sp>
      <p:sp>
        <p:nvSpPr>
          <p:cNvPr id="12" name="Shape 10"/>
          <p:cNvSpPr/>
          <p:nvPr/>
        </p:nvSpPr>
        <p:spPr>
          <a:xfrm>
            <a:off x="438912" y="2340864"/>
            <a:ext cx="3913632" cy="402336"/>
          </a:xfrm>
          <a:prstGeom prst="rect">
            <a:avLst/>
          </a:prstGeom>
          <a:solidFill>
            <a:srgbClr val="FFFFFF"/>
          </a:solidFill>
          <a:ln w="12700">
            <a:solidFill>
              <a:srgbClr val="E2E8F0"/>
            </a:solidFill>
            <a:prstDash val="solid"/>
          </a:ln>
        </p:spPr>
      </p:sp>
      <p:sp>
        <p:nvSpPr>
          <p:cNvPr id="13" name="Text 11"/>
          <p:cNvSpPr/>
          <p:nvPr/>
        </p:nvSpPr>
        <p:spPr>
          <a:xfrm>
            <a:off x="530352" y="2340864"/>
            <a:ext cx="1280160" cy="402336"/>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EIN / Tax IDs</a:t>
            </a:r>
            <a:endParaRPr lang="en-US" sz="950" dirty="0"/>
          </a:p>
        </p:txBody>
      </p:sp>
      <p:sp>
        <p:nvSpPr>
          <p:cNvPr id="14" name="Text 12"/>
          <p:cNvSpPr/>
          <p:nvPr/>
        </p:nvSpPr>
        <p:spPr>
          <a:xfrm>
            <a:off x="1828800" y="2340864"/>
            <a:ext cx="2377440" cy="402336"/>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Regex \d{2}-\d{7} → [EIN_REDACTED]</a:t>
            </a:r>
            <a:endParaRPr lang="en-US" sz="850" dirty="0"/>
          </a:p>
        </p:txBody>
      </p:sp>
      <p:sp>
        <p:nvSpPr>
          <p:cNvPr id="15" name="Shape 13"/>
          <p:cNvSpPr/>
          <p:nvPr/>
        </p:nvSpPr>
        <p:spPr>
          <a:xfrm>
            <a:off x="438912" y="2816352"/>
            <a:ext cx="3913632" cy="402336"/>
          </a:xfrm>
          <a:prstGeom prst="rect">
            <a:avLst/>
          </a:prstGeom>
          <a:solidFill>
            <a:srgbClr val="FDECEA"/>
          </a:solidFill>
          <a:ln w="12700">
            <a:solidFill>
              <a:srgbClr val="E2E8F0"/>
            </a:solidFill>
            <a:prstDash val="solid"/>
          </a:ln>
        </p:spPr>
      </p:sp>
      <p:sp>
        <p:nvSpPr>
          <p:cNvPr id="16" name="Text 14"/>
          <p:cNvSpPr/>
          <p:nvPr/>
        </p:nvSpPr>
        <p:spPr>
          <a:xfrm>
            <a:off x="530352" y="2816352"/>
            <a:ext cx="1280160" cy="402336"/>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Partner names</a:t>
            </a:r>
            <a:endParaRPr lang="en-US" sz="950" dirty="0"/>
          </a:p>
        </p:txBody>
      </p:sp>
      <p:sp>
        <p:nvSpPr>
          <p:cNvPr id="17" name="Text 15"/>
          <p:cNvSpPr/>
          <p:nvPr/>
        </p:nvSpPr>
        <p:spPr>
          <a:xfrm>
            <a:off x="1828800" y="2816352"/>
            <a:ext cx="2377440" cy="402336"/>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spaCy PERSON → [PERSON_REDACTED]</a:t>
            </a:r>
            <a:endParaRPr lang="en-US" sz="850" dirty="0"/>
          </a:p>
        </p:txBody>
      </p:sp>
      <p:sp>
        <p:nvSpPr>
          <p:cNvPr id="18" name="Shape 16"/>
          <p:cNvSpPr/>
          <p:nvPr/>
        </p:nvSpPr>
        <p:spPr>
          <a:xfrm>
            <a:off x="438912" y="3291840"/>
            <a:ext cx="3913632" cy="402336"/>
          </a:xfrm>
          <a:prstGeom prst="rect">
            <a:avLst/>
          </a:prstGeom>
          <a:solidFill>
            <a:srgbClr val="FFFFFF"/>
          </a:solidFill>
          <a:ln w="12700">
            <a:solidFill>
              <a:srgbClr val="E2E8F0"/>
            </a:solidFill>
            <a:prstDash val="solid"/>
          </a:ln>
        </p:spPr>
      </p:sp>
      <p:sp>
        <p:nvSpPr>
          <p:cNvPr id="19" name="Text 17"/>
          <p:cNvSpPr/>
          <p:nvPr/>
        </p:nvSpPr>
        <p:spPr>
          <a:xfrm>
            <a:off x="530352" y="3291840"/>
            <a:ext cx="1280160" cy="402336"/>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Dollar amounts</a:t>
            </a:r>
            <a:endParaRPr lang="en-US" sz="950" dirty="0"/>
          </a:p>
        </p:txBody>
      </p:sp>
      <p:sp>
        <p:nvSpPr>
          <p:cNvPr id="20" name="Text 18"/>
          <p:cNvSpPr/>
          <p:nvPr/>
        </p:nvSpPr>
        <p:spPr>
          <a:xfrm>
            <a:off x="1828800" y="3291840"/>
            <a:ext cx="2377440" cy="402336"/>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Keep magnitude only → [AMT_REDACTED]</a:t>
            </a:r>
            <a:endParaRPr lang="en-US" sz="850" dirty="0"/>
          </a:p>
        </p:txBody>
      </p:sp>
      <p:sp>
        <p:nvSpPr>
          <p:cNvPr id="21" name="Shape 19"/>
          <p:cNvSpPr/>
          <p:nvPr/>
        </p:nvSpPr>
        <p:spPr>
          <a:xfrm>
            <a:off x="438912" y="3767328"/>
            <a:ext cx="3913632" cy="402336"/>
          </a:xfrm>
          <a:prstGeom prst="rect">
            <a:avLst/>
          </a:prstGeom>
          <a:solidFill>
            <a:srgbClr val="FDECEA"/>
          </a:solidFill>
          <a:ln w="12700">
            <a:solidFill>
              <a:srgbClr val="E2E8F0"/>
            </a:solidFill>
            <a:prstDash val="solid"/>
          </a:ln>
        </p:spPr>
      </p:sp>
      <p:sp>
        <p:nvSpPr>
          <p:cNvPr id="22" name="Text 20"/>
          <p:cNvSpPr/>
          <p:nvPr/>
        </p:nvSpPr>
        <p:spPr>
          <a:xfrm>
            <a:off x="530352" y="3767328"/>
            <a:ext cx="1280160" cy="402336"/>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Engagement dates</a:t>
            </a:r>
            <a:endParaRPr lang="en-US" sz="950" dirty="0"/>
          </a:p>
        </p:txBody>
      </p:sp>
      <p:sp>
        <p:nvSpPr>
          <p:cNvPr id="23" name="Text 21"/>
          <p:cNvSpPr/>
          <p:nvPr/>
        </p:nvSpPr>
        <p:spPr>
          <a:xfrm>
            <a:off x="1828800" y="3767328"/>
            <a:ext cx="2377440" cy="402336"/>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Keep fiscal_year int, strip full dates</a:t>
            </a:r>
            <a:endParaRPr lang="en-US" sz="850" dirty="0"/>
          </a:p>
        </p:txBody>
      </p:sp>
      <p:sp>
        <p:nvSpPr>
          <p:cNvPr id="24" name="Shape 22"/>
          <p:cNvSpPr/>
          <p:nvPr/>
        </p:nvSpPr>
        <p:spPr>
          <a:xfrm>
            <a:off x="438912" y="4242816"/>
            <a:ext cx="3913632" cy="402336"/>
          </a:xfrm>
          <a:prstGeom prst="rect">
            <a:avLst/>
          </a:prstGeom>
          <a:solidFill>
            <a:srgbClr val="FFFFFF"/>
          </a:solidFill>
          <a:ln w="12700">
            <a:solidFill>
              <a:srgbClr val="E2E8F0"/>
            </a:solidFill>
            <a:prstDash val="solid"/>
          </a:ln>
        </p:spPr>
      </p:sp>
      <p:sp>
        <p:nvSpPr>
          <p:cNvPr id="25" name="Text 23"/>
          <p:cNvSpPr/>
          <p:nvPr/>
        </p:nvSpPr>
        <p:spPr>
          <a:xfrm>
            <a:off x="530352" y="4242816"/>
            <a:ext cx="1280160" cy="402336"/>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Addresses / locations</a:t>
            </a:r>
            <a:endParaRPr lang="en-US" sz="950" dirty="0"/>
          </a:p>
        </p:txBody>
      </p:sp>
      <p:sp>
        <p:nvSpPr>
          <p:cNvPr id="26" name="Text 24"/>
          <p:cNvSpPr/>
          <p:nvPr/>
        </p:nvSpPr>
        <p:spPr>
          <a:xfrm>
            <a:off x="1828800" y="4242816"/>
            <a:ext cx="2377440" cy="402336"/>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spaCy GPE,LOC → [LOC_REDACTED]</a:t>
            </a:r>
            <a:endParaRPr lang="en-US" sz="850" dirty="0"/>
          </a:p>
        </p:txBody>
      </p:sp>
      <p:sp>
        <p:nvSpPr>
          <p:cNvPr id="27" name="Shape 25"/>
          <p:cNvSpPr/>
          <p:nvPr/>
        </p:nvSpPr>
        <p:spPr>
          <a:xfrm>
            <a:off x="438912" y="4645152"/>
            <a:ext cx="3913632" cy="274320"/>
          </a:xfrm>
          <a:prstGeom prst="rect">
            <a:avLst/>
          </a:prstGeom>
          <a:solidFill>
            <a:srgbClr val="FDECEA"/>
          </a:solidFill>
          <a:ln w="12700">
            <a:solidFill>
              <a:srgbClr val="FDECEA"/>
            </a:solidFill>
            <a:prstDash val="solid"/>
          </a:ln>
        </p:spPr>
      </p:sp>
      <p:sp>
        <p:nvSpPr>
          <p:cNvPr id="28" name="Text 26"/>
          <p:cNvSpPr/>
          <p:nvPr/>
        </p:nvSpPr>
        <p:spPr>
          <a:xfrm>
            <a:off x="530352" y="4645152"/>
            <a:ext cx="3730752" cy="274320"/>
          </a:xfrm>
          <a:prstGeom prst="rect">
            <a:avLst/>
          </a:prstGeom>
          <a:noFill/>
          <a:ln/>
        </p:spPr>
        <p:txBody>
          <a:bodyPr wrap="square" lIns="0" tIns="0" rIns="0" bIns="0" rtlCol="0" anchor="ctr"/>
          <a:lstStyle/>
          <a:p>
            <a:pPr indent="0" marL="0">
              <a:buNone/>
            </a:pPr>
            <a:r>
              <a:rPr lang="en-US" sz="900" dirty="0">
                <a:solidFill>
                  <a:srgbClr val="C0392B"/>
                </a:solidFill>
                <a:latin typeface="Calibri" pitchFamily="34" charset="0"/>
                <a:ea typeface="Calibri" pitchFamily="34" charset="-122"/>
                <a:cs typeface="Calibri" pitchFamily="34" charset="-120"/>
              </a:rPr>
              <a:t>Run PII strip BEFORE extraction — never after. LLM must never see real client names.</a:t>
            </a:r>
            <a:endParaRPr lang="en-US" sz="900" dirty="0"/>
          </a:p>
        </p:txBody>
      </p:sp>
      <p:sp>
        <p:nvSpPr>
          <p:cNvPr id="29" name="Shape 27"/>
          <p:cNvSpPr/>
          <p:nvPr/>
        </p:nvSpPr>
        <p:spPr>
          <a:xfrm>
            <a:off x="4645152" y="1371600"/>
            <a:ext cx="4151376" cy="3511296"/>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9000"/>
              </a:srgbClr>
            </a:outerShdw>
          </a:effectLst>
        </p:spPr>
      </p:sp>
      <p:sp>
        <p:nvSpPr>
          <p:cNvPr id="30" name="Shape 28"/>
          <p:cNvSpPr/>
          <p:nvPr/>
        </p:nvSpPr>
        <p:spPr>
          <a:xfrm>
            <a:off x="4645152" y="1371600"/>
            <a:ext cx="54864" cy="3511296"/>
          </a:xfrm>
          <a:prstGeom prst="rect">
            <a:avLst/>
          </a:prstGeom>
          <a:solidFill>
            <a:srgbClr val="D4A017"/>
          </a:solidFill>
          <a:ln w="12700">
            <a:solidFill>
              <a:srgbClr val="D4A017"/>
            </a:solidFill>
            <a:prstDash val="solid"/>
          </a:ln>
        </p:spPr>
      </p:sp>
      <p:sp>
        <p:nvSpPr>
          <p:cNvPr id="31" name="Text 29"/>
          <p:cNvSpPr/>
          <p:nvPr/>
        </p:nvSpPr>
        <p:spPr>
          <a:xfrm>
            <a:off x="4864608" y="1517904"/>
            <a:ext cx="3749040" cy="237744"/>
          </a:xfrm>
          <a:prstGeom prst="rect">
            <a:avLst/>
          </a:prstGeom>
          <a:noFill/>
          <a:ln/>
        </p:spPr>
        <p:txBody>
          <a:bodyPr wrap="square" lIns="0" tIns="0" rIns="0" bIns="0" rtlCol="0" anchor="ctr"/>
          <a:lstStyle/>
          <a:p>
            <a:pPr indent="0" marL="0">
              <a:buNone/>
            </a:pPr>
            <a:r>
              <a:rPr lang="en-US" sz="1050" b="1" dirty="0">
                <a:solidFill>
                  <a:srgbClr val="D4A017"/>
                </a:solidFill>
                <a:latin typeface="Calibri" pitchFamily="34" charset="0"/>
                <a:ea typeface="Calibri" pitchFamily="34" charset="-122"/>
                <a:cs typeface="Calibri" pitchFamily="34" charset="-120"/>
              </a:rPr>
              <a:t>Confidence routing — what happens to each record</a:t>
            </a:r>
            <a:endParaRPr lang="en-US" sz="1050" dirty="0"/>
          </a:p>
        </p:txBody>
      </p:sp>
      <p:sp>
        <p:nvSpPr>
          <p:cNvPr id="32" name="Shape 30"/>
          <p:cNvSpPr/>
          <p:nvPr/>
        </p:nvSpPr>
        <p:spPr>
          <a:xfrm>
            <a:off x="4736592" y="1865376"/>
            <a:ext cx="3913632" cy="658368"/>
          </a:xfrm>
          <a:prstGeom prst="rect">
            <a:avLst/>
          </a:prstGeom>
          <a:solidFill>
            <a:srgbClr val="E8F5EE"/>
          </a:solidFill>
          <a:ln w="12700">
            <a:solidFill>
              <a:srgbClr val="1A7A4A"/>
            </a:solidFill>
            <a:prstDash val="solid"/>
          </a:ln>
        </p:spPr>
      </p:sp>
      <p:sp>
        <p:nvSpPr>
          <p:cNvPr id="33" name="Text 31"/>
          <p:cNvSpPr/>
          <p:nvPr/>
        </p:nvSpPr>
        <p:spPr>
          <a:xfrm>
            <a:off x="4828032" y="1920240"/>
            <a:ext cx="868680" cy="274320"/>
          </a:xfrm>
          <a:prstGeom prst="rect">
            <a:avLst/>
          </a:prstGeom>
          <a:noFill/>
          <a:ln/>
        </p:spPr>
        <p:txBody>
          <a:bodyPr wrap="square" lIns="0" tIns="0" rIns="0" bIns="0" rtlCol="0" anchor="ctr"/>
          <a:lstStyle/>
          <a:p>
            <a:pPr indent="0" marL="0">
              <a:buNone/>
            </a:pPr>
            <a:r>
              <a:rPr lang="en-US" sz="1200" b="1" dirty="0">
                <a:solidFill>
                  <a:srgbClr val="1A7A4A"/>
                </a:solidFill>
                <a:latin typeface="Calibri" pitchFamily="34" charset="0"/>
                <a:ea typeface="Calibri" pitchFamily="34" charset="-122"/>
                <a:cs typeface="Calibri" pitchFamily="34" charset="-120"/>
              </a:rPr>
              <a:t>≥ 0.9</a:t>
            </a:r>
            <a:endParaRPr lang="en-US" sz="1200" dirty="0"/>
          </a:p>
        </p:txBody>
      </p:sp>
      <p:sp>
        <p:nvSpPr>
          <p:cNvPr id="34" name="Text 32"/>
          <p:cNvSpPr/>
          <p:nvPr/>
        </p:nvSpPr>
        <p:spPr>
          <a:xfrm>
            <a:off x="5724144" y="1938528"/>
            <a:ext cx="2834640" cy="512064"/>
          </a:xfrm>
          <a:prstGeom prst="rect">
            <a:avLst/>
          </a:prstGeom>
          <a:noFill/>
          <a:ln/>
        </p:spPr>
        <p:txBody>
          <a:bodyPr wrap="square" lIns="0" tIns="0" rIns="0" bIns="0" rtlCol="0" anchor="ctr"/>
          <a:lstStyle/>
          <a:p>
            <a:pPr indent="0" marL="0">
              <a:buNone/>
            </a:pPr>
            <a:r>
              <a:rPr lang="en-US" sz="900" dirty="0">
                <a:solidFill>
                  <a:srgbClr val="0D1117"/>
                </a:solidFill>
                <a:latin typeface="Calibri" pitchFamily="34" charset="0"/>
                <a:ea typeface="Calibri" pitchFamily="34" charset="-122"/>
                <a:cs typeface="Calibri" pitchFamily="34" charset="-120"/>
              </a:rPr>
              <a:t>Enters training directly. High-confidence clean signal.</a:t>
            </a:r>
            <a:endParaRPr lang="en-US" sz="900" dirty="0"/>
          </a:p>
        </p:txBody>
      </p:sp>
      <p:sp>
        <p:nvSpPr>
          <p:cNvPr id="35" name="Shape 33"/>
          <p:cNvSpPr/>
          <p:nvPr/>
        </p:nvSpPr>
        <p:spPr>
          <a:xfrm>
            <a:off x="4736592" y="2615184"/>
            <a:ext cx="3913632" cy="658368"/>
          </a:xfrm>
          <a:prstGeom prst="rect">
            <a:avLst/>
          </a:prstGeom>
          <a:solidFill>
            <a:srgbClr val="FFF3CD"/>
          </a:solidFill>
          <a:ln w="12700">
            <a:solidFill>
              <a:srgbClr val="D4A017"/>
            </a:solidFill>
            <a:prstDash val="solid"/>
          </a:ln>
        </p:spPr>
      </p:sp>
      <p:sp>
        <p:nvSpPr>
          <p:cNvPr id="36" name="Text 34"/>
          <p:cNvSpPr/>
          <p:nvPr/>
        </p:nvSpPr>
        <p:spPr>
          <a:xfrm>
            <a:off x="4828032" y="2670048"/>
            <a:ext cx="868680" cy="274320"/>
          </a:xfrm>
          <a:prstGeom prst="rect">
            <a:avLst/>
          </a:prstGeom>
          <a:noFill/>
          <a:ln/>
        </p:spPr>
        <p:txBody>
          <a:bodyPr wrap="square" lIns="0" tIns="0" rIns="0" bIns="0" rtlCol="0" anchor="ctr"/>
          <a:lstStyle/>
          <a:p>
            <a:pPr indent="0" marL="0">
              <a:buNone/>
            </a:pPr>
            <a:r>
              <a:rPr lang="en-US" sz="1200" b="1" dirty="0">
                <a:solidFill>
                  <a:srgbClr val="D4A017"/>
                </a:solidFill>
                <a:latin typeface="Calibri" pitchFamily="34" charset="0"/>
                <a:ea typeface="Calibri" pitchFamily="34" charset="-122"/>
                <a:cs typeface="Calibri" pitchFamily="34" charset="-120"/>
              </a:rPr>
              <a:t>0.7–0.9</a:t>
            </a:r>
            <a:endParaRPr lang="en-US" sz="1200" dirty="0"/>
          </a:p>
        </p:txBody>
      </p:sp>
      <p:sp>
        <p:nvSpPr>
          <p:cNvPr id="37" name="Text 35"/>
          <p:cNvSpPr/>
          <p:nvPr/>
        </p:nvSpPr>
        <p:spPr>
          <a:xfrm>
            <a:off x="5724144" y="2688336"/>
            <a:ext cx="2834640" cy="512064"/>
          </a:xfrm>
          <a:prstGeom prst="rect">
            <a:avLst/>
          </a:prstGeom>
          <a:noFill/>
          <a:ln/>
        </p:spPr>
        <p:txBody>
          <a:bodyPr wrap="square" lIns="0" tIns="0" rIns="0" bIns="0" rtlCol="0" anchor="ctr"/>
          <a:lstStyle/>
          <a:p>
            <a:pPr indent="0" marL="0">
              <a:buNone/>
            </a:pPr>
            <a:r>
              <a:rPr lang="en-US" sz="900" dirty="0">
                <a:solidFill>
                  <a:srgbClr val="0D1117"/>
                </a:solidFill>
                <a:latin typeface="Calibri" pitchFamily="34" charset="0"/>
                <a:ea typeface="Calibri" pitchFamily="34" charset="-122"/>
                <a:cs typeface="Calibri" pitchFamily="34" charset="-120"/>
              </a:rPr>
              <a:t>Enters training with spot_check=True flag in review_log.csv.</a:t>
            </a:r>
            <a:endParaRPr lang="en-US" sz="900" dirty="0"/>
          </a:p>
        </p:txBody>
      </p:sp>
      <p:sp>
        <p:nvSpPr>
          <p:cNvPr id="38" name="Shape 36"/>
          <p:cNvSpPr/>
          <p:nvPr/>
        </p:nvSpPr>
        <p:spPr>
          <a:xfrm>
            <a:off x="4736592" y="3364992"/>
            <a:ext cx="3913632" cy="658368"/>
          </a:xfrm>
          <a:prstGeom prst="rect">
            <a:avLst/>
          </a:prstGeom>
          <a:solidFill>
            <a:srgbClr val="FDECEA"/>
          </a:solidFill>
          <a:ln w="12700">
            <a:solidFill>
              <a:srgbClr val="C0392B"/>
            </a:solidFill>
            <a:prstDash val="solid"/>
          </a:ln>
        </p:spPr>
      </p:sp>
      <p:sp>
        <p:nvSpPr>
          <p:cNvPr id="39" name="Text 37"/>
          <p:cNvSpPr/>
          <p:nvPr/>
        </p:nvSpPr>
        <p:spPr>
          <a:xfrm>
            <a:off x="4828032" y="3419856"/>
            <a:ext cx="868680" cy="274320"/>
          </a:xfrm>
          <a:prstGeom prst="rect">
            <a:avLst/>
          </a:prstGeom>
          <a:noFill/>
          <a:ln/>
        </p:spPr>
        <p:txBody>
          <a:bodyPr wrap="square" lIns="0" tIns="0" rIns="0" bIns="0"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&lt; 0.7</a:t>
            </a:r>
            <a:endParaRPr lang="en-US" sz="1200" dirty="0"/>
          </a:p>
        </p:txBody>
      </p:sp>
      <p:sp>
        <p:nvSpPr>
          <p:cNvPr id="40" name="Text 38"/>
          <p:cNvSpPr/>
          <p:nvPr/>
        </p:nvSpPr>
        <p:spPr>
          <a:xfrm>
            <a:off x="5724144" y="3438144"/>
            <a:ext cx="2834640" cy="512064"/>
          </a:xfrm>
          <a:prstGeom prst="rect">
            <a:avLst/>
          </a:prstGeom>
          <a:noFill/>
          <a:ln/>
        </p:spPr>
        <p:txBody>
          <a:bodyPr wrap="square" lIns="0" tIns="0" rIns="0" bIns="0" rtlCol="0" anchor="ctr"/>
          <a:lstStyle/>
          <a:p>
            <a:pPr indent="0" marL="0">
              <a:buNone/>
            </a:pPr>
            <a:r>
              <a:rPr lang="en-US" sz="900" dirty="0">
                <a:solidFill>
                  <a:srgbClr val="0D1117"/>
                </a:solidFill>
                <a:latin typeface="Calibri" pitchFamily="34" charset="0"/>
                <a:ea typeface="Calibri" pitchFamily="34" charset="-122"/>
                <a:cs typeface="Calibri" pitchFamily="34" charset="-120"/>
              </a:rPr>
              <a:t>Human review queue — 48h SLA. Corrected → confidence 1.0.</a:t>
            </a:r>
            <a:endParaRPr lang="en-US" sz="900" dirty="0"/>
          </a:p>
        </p:txBody>
      </p:sp>
      <p:sp>
        <p:nvSpPr>
          <p:cNvPr id="41" name="Shape 39"/>
          <p:cNvSpPr/>
          <p:nvPr/>
        </p:nvSpPr>
        <p:spPr>
          <a:xfrm>
            <a:off x="4736592" y="4114800"/>
            <a:ext cx="3913632" cy="658368"/>
          </a:xfrm>
          <a:prstGeom prst="rect">
            <a:avLst/>
          </a:prstGeom>
          <a:solidFill>
            <a:srgbClr val="D0EEEE"/>
          </a:solidFill>
          <a:ln w="12700">
            <a:solidFill>
              <a:srgbClr val="0E7C7B"/>
            </a:solidFill>
            <a:prstDash val="solid"/>
          </a:ln>
        </p:spPr>
      </p:sp>
      <p:sp>
        <p:nvSpPr>
          <p:cNvPr id="42" name="Text 40"/>
          <p:cNvSpPr/>
          <p:nvPr/>
        </p:nvSpPr>
        <p:spPr>
          <a:xfrm>
            <a:off x="4828032" y="4169664"/>
            <a:ext cx="868680" cy="274320"/>
          </a:xfrm>
          <a:prstGeom prst="rect">
            <a:avLst/>
          </a:prstGeom>
          <a:noFill/>
          <a:ln/>
        </p:spPr>
        <p:txBody>
          <a:bodyPr wrap="square" lIns="0" tIns="0" rIns="0" bIns="0" rtlCol="0" anchor="ctr"/>
          <a:lstStyle/>
          <a:p>
            <a:pPr indent="0" marL="0">
              <a:buNone/>
            </a:pPr>
            <a:r>
              <a:rPr lang="en-US" sz="1200" b="1" dirty="0">
                <a:solidFill>
                  <a:srgbClr val="0E7C7B"/>
                </a:solidFill>
                <a:latin typeface="Calibri" pitchFamily="34" charset="0"/>
                <a:ea typeface="Calibri" pitchFamily="34" charset="-122"/>
                <a:cs typeface="Calibri" pitchFamily="34" charset="-120"/>
              </a:rPr>
              <a:t>0.0 per field</a:t>
            </a:r>
            <a:endParaRPr lang="en-US" sz="1200" dirty="0"/>
          </a:p>
        </p:txBody>
      </p:sp>
      <p:sp>
        <p:nvSpPr>
          <p:cNvPr id="43" name="Text 41"/>
          <p:cNvSpPr/>
          <p:nvPr/>
        </p:nvSpPr>
        <p:spPr>
          <a:xfrm>
            <a:off x="5724144" y="4187952"/>
            <a:ext cx="2834640" cy="512064"/>
          </a:xfrm>
          <a:prstGeom prst="rect">
            <a:avLst/>
          </a:prstGeom>
          <a:noFill/>
          <a:ln/>
        </p:spPr>
        <p:txBody>
          <a:bodyPr wrap="square" lIns="0" tIns="0" rIns="0" bIns="0" rtlCol="0" anchor="ctr"/>
          <a:lstStyle/>
          <a:p>
            <a:pPr indent="0" marL="0">
              <a:buNone/>
            </a:pPr>
            <a:r>
              <a:rPr lang="en-US" sz="900" dirty="0">
                <a:solidFill>
                  <a:srgbClr val="0D1117"/>
                </a:solidFill>
                <a:latin typeface="Calibri" pitchFamily="34" charset="0"/>
                <a:ea typeface="Calibri" pitchFamily="34" charset="-122"/>
                <a:cs typeface="Calibri" pitchFamily="34" charset="-120"/>
              </a:rPr>
              <a:t>That field appended to fields_missing — becomes a finding.</a:t>
            </a:r>
            <a:endParaRPr lang="en-US" sz="900" dirty="0"/>
          </a:p>
        </p:txBody>
      </p:sp>
      <p:sp>
        <p:nvSpPr>
          <p:cNvPr id="44" name="Shape 42"/>
          <p:cNvSpPr/>
          <p:nvPr/>
        </p:nvSpPr>
        <p:spPr>
          <a:xfrm>
            <a:off x="4736592" y="4645152"/>
            <a:ext cx="3913632" cy="274320"/>
          </a:xfrm>
          <a:prstGeom prst="rect">
            <a:avLst/>
          </a:prstGeom>
          <a:solidFill>
            <a:srgbClr val="FFF3CD"/>
          </a:solidFill>
          <a:ln w="12700">
            <a:solidFill>
              <a:srgbClr val="FFF3CD"/>
            </a:solidFill>
            <a:prstDash val="solid"/>
          </a:ln>
        </p:spPr>
      </p:sp>
      <p:sp>
        <p:nvSpPr>
          <p:cNvPr id="45" name="Text 43"/>
          <p:cNvSpPr/>
          <p:nvPr/>
        </p:nvSpPr>
        <p:spPr>
          <a:xfrm>
            <a:off x="4828032" y="4645152"/>
            <a:ext cx="3730752" cy="274320"/>
          </a:xfrm>
          <a:prstGeom prst="rect">
            <a:avLst/>
          </a:prstGeom>
          <a:noFill/>
          <a:ln/>
        </p:spPr>
        <p:txBody>
          <a:bodyPr wrap="square" lIns="0" tIns="0" rIns="0" bIns="0" rtlCol="0" anchor="ctr"/>
          <a:lstStyle/>
          <a:p>
            <a:pPr indent="0" marL="0">
              <a:buNone/>
            </a:pPr>
            <a:r>
              <a:rPr lang="en-US" sz="900" dirty="0">
                <a:solidFill>
                  <a:srgbClr val="D4A017"/>
                </a:solidFill>
                <a:latin typeface="Calibri" pitchFamily="34" charset="0"/>
                <a:ea typeface="Calibri" pitchFamily="34" charset="-122"/>
                <a:cs typeface="Calibri" pitchFamily="34" charset="-120"/>
              </a:rPr>
              <a:t>Review queue value: low-confidence = hard case → after correction = most informative training example.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365760" y="219456"/>
            <a:ext cx="3138221" cy="256032"/>
          </a:xfrm>
          <a:prstGeom prst="rect">
            <a:avLst/>
          </a:prstGeom>
          <a:solidFill>
            <a:srgbClr val="0E7C7B"/>
          </a:solidFill>
          <a:ln w="12700">
            <a:solidFill>
              <a:srgbClr val="0E7C7B"/>
            </a:solidFill>
            <a:prstDash val="solid"/>
          </a:ln>
        </p:spPr>
      </p:sp>
      <p:sp>
        <p:nvSpPr>
          <p:cNvPr id="3" name="Text 1"/>
          <p:cNvSpPr/>
          <p:nvPr/>
        </p:nvSpPr>
        <p:spPr>
          <a:xfrm>
            <a:off x="365760" y="219456"/>
            <a:ext cx="3138221"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STAGE 4 · LOCAL LLM FIELD EXTRACTION</a:t>
            </a:r>
            <a:endParaRPr lang="en-US" sz="850" dirty="0"/>
          </a:p>
        </p:txBody>
      </p:sp>
      <p:sp>
        <p:nvSpPr>
          <p:cNvPr id="4" name="Text 2"/>
          <p:cNvSpPr/>
          <p:nvPr/>
        </p:nvSpPr>
        <p:spPr>
          <a:xfrm>
            <a:off x="365760" y="548640"/>
            <a:ext cx="8412480" cy="512064"/>
          </a:xfrm>
          <a:prstGeom prst="rect">
            <a:avLst/>
          </a:prstGeom>
          <a:noFill/>
          <a:ln/>
        </p:spPr>
        <p:txBody>
          <a:bodyPr wrap="square" lIns="0" tIns="0" rIns="0" bIns="0" rtlCol="0" anchor="ctr"/>
          <a:lstStyle/>
          <a:p>
            <a:pPr indent="0" marL="0">
              <a:buNone/>
            </a:pPr>
            <a:r>
              <a:rPr lang="en-US" sz="2600" b="1" dirty="0">
                <a:solidFill>
                  <a:srgbClr val="0D1117"/>
                </a:solidFill>
                <a:latin typeface="Calibri" pitchFamily="34" charset="0"/>
                <a:ea typeface="Calibri" pitchFamily="34" charset="-122"/>
                <a:cs typeface="Calibri" pitchFamily="34" charset="-120"/>
              </a:rPr>
              <a:t>Gemma 3 12B via Ollama — field extraction from clean text</a:t>
            </a:r>
            <a:endParaRPr lang="en-US" sz="2600" dirty="0"/>
          </a:p>
        </p:txBody>
      </p:sp>
      <p:sp>
        <p:nvSpPr>
          <p:cNvPr id="5" name="Text 3"/>
          <p:cNvSpPr/>
          <p:nvPr/>
        </p:nvSpPr>
        <p:spPr>
          <a:xfrm>
            <a:off x="365760" y="1042416"/>
            <a:ext cx="8412480" cy="237744"/>
          </a:xfrm>
          <a:prstGeom prst="rect">
            <a:avLst/>
          </a:prstGeom>
          <a:noFill/>
          <a:ln/>
        </p:spPr>
        <p:txBody>
          <a:bodyPr wrap="square" lIns="0" tIns="0" rIns="0" bIns="0" rtlCol="0" anchor="ctr"/>
          <a:lstStyle/>
          <a:p>
            <a:pPr indent="0" marL="0">
              <a:buNone/>
            </a:pPr>
            <a:r>
              <a:rPr lang="en-US" sz="1100" dirty="0">
                <a:solidFill>
                  <a:srgbClr val="718096"/>
                </a:solidFill>
                <a:latin typeface="Calibri" pitchFamily="34" charset="0"/>
                <a:ea typeface="Calibri" pitchFamily="34" charset="-122"/>
                <a:cs typeface="Calibri" pitchFamily="34" charset="-120"/>
              </a:rPr>
              <a:t>The LLM never sees a raw file. It reads Docling's clean markdown + the SOP required fields list. Data never leaves the machine.</a:t>
            </a:r>
            <a:endParaRPr lang="en-US" sz="1100" dirty="0"/>
          </a:p>
        </p:txBody>
      </p:sp>
      <p:sp>
        <p:nvSpPr>
          <p:cNvPr id="6" name="Shape 4"/>
          <p:cNvSpPr/>
          <p:nvPr/>
        </p:nvSpPr>
        <p:spPr>
          <a:xfrm>
            <a:off x="347472" y="1371600"/>
            <a:ext cx="3291840" cy="3511296"/>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9000"/>
              </a:srgbClr>
            </a:outerShdw>
          </a:effectLst>
        </p:spPr>
      </p:sp>
      <p:sp>
        <p:nvSpPr>
          <p:cNvPr id="7" name="Shape 5"/>
          <p:cNvSpPr/>
          <p:nvPr/>
        </p:nvSpPr>
        <p:spPr>
          <a:xfrm>
            <a:off x="347472" y="1371600"/>
            <a:ext cx="54864" cy="3511296"/>
          </a:xfrm>
          <a:prstGeom prst="rect">
            <a:avLst/>
          </a:prstGeom>
          <a:solidFill>
            <a:srgbClr val="D4A017"/>
          </a:solidFill>
          <a:ln w="12700">
            <a:solidFill>
              <a:srgbClr val="D4A017"/>
            </a:solidFill>
            <a:prstDash val="solid"/>
          </a:ln>
        </p:spPr>
      </p:sp>
      <p:pic>
        <p:nvPicPr>
          <p:cNvPr id="8" name="Image 0" descr="preencoded.png">    </p:cNvPr>
          <p:cNvPicPr>
            <a:picLocks noChangeAspect="1"/>
          </p:cNvPicPr>
          <p:nvPr/>
        </p:nvPicPr>
        <p:blipFill>
          <a:blip r:embed="rId1"/>
          <a:stretch>
            <a:fillRect/>
          </a:stretch>
        </p:blipFill>
        <p:spPr>
          <a:xfrm>
            <a:off x="548640" y="1554480"/>
            <a:ext cx="274320" cy="274320"/>
          </a:xfrm>
          <a:prstGeom prst="rect">
            <a:avLst/>
          </a:prstGeom>
        </p:spPr>
      </p:pic>
      <p:sp>
        <p:nvSpPr>
          <p:cNvPr id="9" name="Text 6"/>
          <p:cNvSpPr/>
          <p:nvPr/>
        </p:nvSpPr>
        <p:spPr>
          <a:xfrm>
            <a:off x="914400" y="1554480"/>
            <a:ext cx="2560320" cy="274320"/>
          </a:xfrm>
          <a:prstGeom prst="rect">
            <a:avLst/>
          </a:prstGeom>
          <a:noFill/>
          <a:ln/>
        </p:spPr>
        <p:txBody>
          <a:bodyPr wrap="square" lIns="0" tIns="0" rIns="0" bIns="0" rtlCol="0" anchor="ctr"/>
          <a:lstStyle/>
          <a:p>
            <a:pPr indent="0" marL="0">
              <a:buNone/>
            </a:pPr>
            <a:r>
              <a:rPr lang="en-US" sz="1100" b="1" dirty="0">
                <a:solidFill>
                  <a:srgbClr val="D4A017"/>
                </a:solidFill>
                <a:latin typeface="Calibri" pitchFamily="34" charset="0"/>
                <a:ea typeface="Calibri" pitchFamily="34" charset="-122"/>
                <a:cs typeface="Calibri" pitchFamily="34" charset="-120"/>
              </a:rPr>
              <a:t>Why Gemma 3 12B</a:t>
            </a:r>
            <a:endParaRPr lang="en-US" sz="1100" dirty="0"/>
          </a:p>
        </p:txBody>
      </p:sp>
      <p:sp>
        <p:nvSpPr>
          <p:cNvPr id="10" name="Shape 7"/>
          <p:cNvSpPr/>
          <p:nvPr/>
        </p:nvSpPr>
        <p:spPr>
          <a:xfrm>
            <a:off x="475488" y="1920240"/>
            <a:ext cx="109728" cy="109728"/>
          </a:xfrm>
          <a:prstGeom prst="rect">
            <a:avLst/>
          </a:prstGeom>
          <a:solidFill>
            <a:srgbClr val="D4A017"/>
          </a:solidFill>
          <a:ln w="12700">
            <a:solidFill>
              <a:srgbClr val="D4A017"/>
            </a:solidFill>
            <a:prstDash val="solid"/>
          </a:ln>
        </p:spPr>
      </p:sp>
      <p:sp>
        <p:nvSpPr>
          <p:cNvPr id="11" name="Text 8"/>
          <p:cNvSpPr/>
          <p:nvPr/>
        </p:nvSpPr>
        <p:spPr>
          <a:xfrm>
            <a:off x="658368" y="1901952"/>
            <a:ext cx="2834640" cy="292608"/>
          </a:xfrm>
          <a:prstGeom prst="rect">
            <a:avLst/>
          </a:prstGeom>
          <a:noFill/>
          <a:ln/>
        </p:spPr>
        <p:txBody>
          <a:bodyPr wrap="square" lIns="0" tIns="0" rIns="0" bIns="0" rtlCol="0" anchor="ctr"/>
          <a:lstStyle/>
          <a:p>
            <a:pPr indent="0" marL="0">
              <a:buNone/>
            </a:pPr>
            <a:r>
              <a:rPr lang="en-US" sz="900" dirty="0">
                <a:solidFill>
                  <a:srgbClr val="0D1117"/>
                </a:solidFill>
                <a:latin typeface="Calibri" pitchFamily="34" charset="0"/>
                <a:ea typeface="Calibri" pitchFamily="34" charset="-122"/>
                <a:cs typeface="Calibri" pitchFamily="34" charset="-120"/>
              </a:rPr>
              <a:t>Best JSON instruction-following in the 10–15B range</a:t>
            </a:r>
            <a:endParaRPr lang="en-US" sz="900" dirty="0"/>
          </a:p>
        </p:txBody>
      </p:sp>
      <p:sp>
        <p:nvSpPr>
          <p:cNvPr id="12" name="Shape 9"/>
          <p:cNvSpPr/>
          <p:nvPr/>
        </p:nvSpPr>
        <p:spPr>
          <a:xfrm>
            <a:off x="475488" y="2267712"/>
            <a:ext cx="109728" cy="109728"/>
          </a:xfrm>
          <a:prstGeom prst="rect">
            <a:avLst/>
          </a:prstGeom>
          <a:solidFill>
            <a:srgbClr val="D4A017"/>
          </a:solidFill>
          <a:ln w="12700">
            <a:solidFill>
              <a:srgbClr val="D4A017"/>
            </a:solidFill>
            <a:prstDash val="solid"/>
          </a:ln>
        </p:spPr>
      </p:sp>
      <p:sp>
        <p:nvSpPr>
          <p:cNvPr id="13" name="Text 10"/>
          <p:cNvSpPr/>
          <p:nvPr/>
        </p:nvSpPr>
        <p:spPr>
          <a:xfrm>
            <a:off x="658368" y="2249424"/>
            <a:ext cx="2834640" cy="292608"/>
          </a:xfrm>
          <a:prstGeom prst="rect">
            <a:avLst/>
          </a:prstGeom>
          <a:noFill/>
          <a:ln/>
        </p:spPr>
        <p:txBody>
          <a:bodyPr wrap="square" lIns="0" tIns="0" rIns="0" bIns="0" rtlCol="0" anchor="ctr"/>
          <a:lstStyle/>
          <a:p>
            <a:pPr indent="0" marL="0">
              <a:buNone/>
            </a:pPr>
            <a:r>
              <a:rPr lang="en-US" sz="900" dirty="0">
                <a:solidFill>
                  <a:srgbClr val="0D1117"/>
                </a:solidFill>
                <a:latin typeface="Calibri" pitchFamily="34" charset="0"/>
                <a:ea typeface="Calibri" pitchFamily="34" charset="-122"/>
                <a:cs typeface="Calibri" pitchFamily="34" charset="-120"/>
              </a:rPr>
              <a:t>Instruction-tuned: understands 'return only JSON, no commentary'</a:t>
            </a:r>
            <a:endParaRPr lang="en-US" sz="900" dirty="0"/>
          </a:p>
        </p:txBody>
      </p:sp>
      <p:sp>
        <p:nvSpPr>
          <p:cNvPr id="14" name="Shape 11"/>
          <p:cNvSpPr/>
          <p:nvPr/>
        </p:nvSpPr>
        <p:spPr>
          <a:xfrm>
            <a:off x="475488" y="2615184"/>
            <a:ext cx="109728" cy="109728"/>
          </a:xfrm>
          <a:prstGeom prst="rect">
            <a:avLst/>
          </a:prstGeom>
          <a:solidFill>
            <a:srgbClr val="D4A017"/>
          </a:solidFill>
          <a:ln w="12700">
            <a:solidFill>
              <a:srgbClr val="D4A017"/>
            </a:solidFill>
            <a:prstDash val="solid"/>
          </a:ln>
        </p:spPr>
      </p:sp>
      <p:sp>
        <p:nvSpPr>
          <p:cNvPr id="15" name="Text 12"/>
          <p:cNvSpPr/>
          <p:nvPr/>
        </p:nvSpPr>
        <p:spPr>
          <a:xfrm>
            <a:off x="658368" y="2596896"/>
            <a:ext cx="2834640" cy="292608"/>
          </a:xfrm>
          <a:prstGeom prst="rect">
            <a:avLst/>
          </a:prstGeom>
          <a:noFill/>
          <a:ln/>
        </p:spPr>
        <p:txBody>
          <a:bodyPr wrap="square" lIns="0" tIns="0" rIns="0" bIns="0" rtlCol="0" anchor="ctr"/>
          <a:lstStyle/>
          <a:p>
            <a:pPr indent="0" marL="0">
              <a:buNone/>
            </a:pPr>
            <a:r>
              <a:rPr lang="en-US" sz="900" dirty="0">
                <a:solidFill>
                  <a:srgbClr val="0D1117"/>
                </a:solidFill>
                <a:latin typeface="Calibri" pitchFamily="34" charset="0"/>
                <a:ea typeface="Calibri" pitchFamily="34" charset="-122"/>
                <a:cs typeface="Calibri" pitchFamily="34" charset="-120"/>
              </a:rPr>
              <a:t>Runs fully local via Ollama — one command to start</a:t>
            </a:r>
            <a:endParaRPr lang="en-US" sz="900" dirty="0"/>
          </a:p>
        </p:txBody>
      </p:sp>
      <p:sp>
        <p:nvSpPr>
          <p:cNvPr id="16" name="Shape 13"/>
          <p:cNvSpPr/>
          <p:nvPr/>
        </p:nvSpPr>
        <p:spPr>
          <a:xfrm>
            <a:off x="475488" y="2962656"/>
            <a:ext cx="109728" cy="109728"/>
          </a:xfrm>
          <a:prstGeom prst="rect">
            <a:avLst/>
          </a:prstGeom>
          <a:solidFill>
            <a:srgbClr val="D4A017"/>
          </a:solidFill>
          <a:ln w="12700">
            <a:solidFill>
              <a:srgbClr val="D4A017"/>
            </a:solidFill>
            <a:prstDash val="solid"/>
          </a:ln>
        </p:spPr>
      </p:sp>
      <p:sp>
        <p:nvSpPr>
          <p:cNvPr id="17" name="Text 14"/>
          <p:cNvSpPr/>
          <p:nvPr/>
        </p:nvSpPr>
        <p:spPr>
          <a:xfrm>
            <a:off x="658368" y="2944368"/>
            <a:ext cx="2834640" cy="292608"/>
          </a:xfrm>
          <a:prstGeom prst="rect">
            <a:avLst/>
          </a:prstGeom>
          <a:noFill/>
          <a:ln/>
        </p:spPr>
        <p:txBody>
          <a:bodyPr wrap="square" lIns="0" tIns="0" rIns="0" bIns="0" rtlCol="0" anchor="ctr"/>
          <a:lstStyle/>
          <a:p>
            <a:pPr indent="0" marL="0">
              <a:buNone/>
            </a:pPr>
            <a:r>
              <a:rPr lang="en-US" sz="900" dirty="0">
                <a:solidFill>
                  <a:srgbClr val="0D1117"/>
                </a:solidFill>
                <a:latin typeface="Calibri" pitchFamily="34" charset="0"/>
                <a:ea typeface="Calibri" pitchFamily="34" charset="-122"/>
                <a:cs typeface="Calibri" pitchFamily="34" charset="-120"/>
              </a:rPr>
              <a:t>OpenAI-compatible API — one line change from existing code</a:t>
            </a:r>
            <a:endParaRPr lang="en-US" sz="900" dirty="0"/>
          </a:p>
        </p:txBody>
      </p:sp>
      <p:sp>
        <p:nvSpPr>
          <p:cNvPr id="18" name="Shape 15"/>
          <p:cNvSpPr/>
          <p:nvPr/>
        </p:nvSpPr>
        <p:spPr>
          <a:xfrm>
            <a:off x="475488" y="3310128"/>
            <a:ext cx="109728" cy="109728"/>
          </a:xfrm>
          <a:prstGeom prst="rect">
            <a:avLst/>
          </a:prstGeom>
          <a:solidFill>
            <a:srgbClr val="D4A017"/>
          </a:solidFill>
          <a:ln w="12700">
            <a:solidFill>
              <a:srgbClr val="D4A017"/>
            </a:solidFill>
            <a:prstDash val="solid"/>
          </a:ln>
        </p:spPr>
      </p:sp>
      <p:sp>
        <p:nvSpPr>
          <p:cNvPr id="19" name="Text 16"/>
          <p:cNvSpPr/>
          <p:nvPr/>
        </p:nvSpPr>
        <p:spPr>
          <a:xfrm>
            <a:off x="658368" y="3291840"/>
            <a:ext cx="2834640" cy="292608"/>
          </a:xfrm>
          <a:prstGeom prst="rect">
            <a:avLst/>
          </a:prstGeom>
          <a:noFill/>
          <a:ln/>
        </p:spPr>
        <p:txBody>
          <a:bodyPr wrap="square" lIns="0" tIns="0" rIns="0" bIns="0" rtlCol="0" anchor="ctr"/>
          <a:lstStyle/>
          <a:p>
            <a:pPr indent="0" marL="0">
              <a:buNone/>
            </a:pPr>
            <a:r>
              <a:rPr lang="en-US" sz="900" dirty="0">
                <a:solidFill>
                  <a:srgbClr val="0D1117"/>
                </a:solidFill>
                <a:latin typeface="Calibri" pitchFamily="34" charset="0"/>
                <a:ea typeface="Calibri" pitchFamily="34" charset="-122"/>
                <a:cs typeface="Calibri" pitchFamily="34" charset="-120"/>
              </a:rPr>
              <a:t>8GB RAM — fits on dev machine or M-series Mac</a:t>
            </a:r>
            <a:endParaRPr lang="en-US" sz="900" dirty="0"/>
          </a:p>
        </p:txBody>
      </p:sp>
      <p:sp>
        <p:nvSpPr>
          <p:cNvPr id="20" name="Shape 17"/>
          <p:cNvSpPr/>
          <p:nvPr/>
        </p:nvSpPr>
        <p:spPr>
          <a:xfrm>
            <a:off x="475488" y="3657600"/>
            <a:ext cx="109728" cy="109728"/>
          </a:xfrm>
          <a:prstGeom prst="rect">
            <a:avLst/>
          </a:prstGeom>
          <a:solidFill>
            <a:srgbClr val="D4A017"/>
          </a:solidFill>
          <a:ln w="12700">
            <a:solidFill>
              <a:srgbClr val="D4A017"/>
            </a:solidFill>
            <a:prstDash val="solid"/>
          </a:ln>
        </p:spPr>
      </p:sp>
      <p:sp>
        <p:nvSpPr>
          <p:cNvPr id="21" name="Text 18"/>
          <p:cNvSpPr/>
          <p:nvPr/>
        </p:nvSpPr>
        <p:spPr>
          <a:xfrm>
            <a:off x="658368" y="3639312"/>
            <a:ext cx="2834640" cy="292608"/>
          </a:xfrm>
          <a:prstGeom prst="rect">
            <a:avLst/>
          </a:prstGeom>
          <a:noFill/>
          <a:ln/>
        </p:spPr>
        <p:txBody>
          <a:bodyPr wrap="square" lIns="0" tIns="0" rIns="0" bIns="0" rtlCol="0" anchor="ctr"/>
          <a:lstStyle/>
          <a:p>
            <a:pPr indent="0" marL="0">
              <a:buNone/>
            </a:pPr>
            <a:r>
              <a:rPr lang="en-US" sz="900" dirty="0">
                <a:solidFill>
                  <a:srgbClr val="0D1117"/>
                </a:solidFill>
                <a:latin typeface="Calibri" pitchFamily="34" charset="0"/>
                <a:ea typeface="Calibri" pitchFamily="34" charset="-122"/>
                <a:cs typeface="Calibri" pitchFamily="34" charset="-120"/>
              </a:rPr>
              <a:t>temperature=0.0 → deterministic, same output every run</a:t>
            </a:r>
            <a:endParaRPr lang="en-US" sz="900" dirty="0"/>
          </a:p>
        </p:txBody>
      </p:sp>
      <p:sp>
        <p:nvSpPr>
          <p:cNvPr id="22" name="Shape 19"/>
          <p:cNvSpPr/>
          <p:nvPr/>
        </p:nvSpPr>
        <p:spPr>
          <a:xfrm>
            <a:off x="438912" y="4645152"/>
            <a:ext cx="3090672" cy="274320"/>
          </a:xfrm>
          <a:prstGeom prst="rect">
            <a:avLst/>
          </a:prstGeom>
          <a:solidFill>
            <a:srgbClr val="FFF3CD"/>
          </a:solidFill>
          <a:ln w="12700">
            <a:solidFill>
              <a:srgbClr val="FFF3CD"/>
            </a:solidFill>
            <a:prstDash val="solid"/>
          </a:ln>
        </p:spPr>
      </p:sp>
      <p:sp>
        <p:nvSpPr>
          <p:cNvPr id="23" name="Text 20"/>
          <p:cNvSpPr/>
          <p:nvPr/>
        </p:nvSpPr>
        <p:spPr>
          <a:xfrm>
            <a:off x="530352" y="4645152"/>
            <a:ext cx="2907792" cy="274320"/>
          </a:xfrm>
          <a:prstGeom prst="rect">
            <a:avLst/>
          </a:prstGeom>
          <a:noFill/>
          <a:ln/>
        </p:spPr>
        <p:txBody>
          <a:bodyPr wrap="square" lIns="0" tIns="0" rIns="0" bIns="0" rtlCol="0" anchor="ctr"/>
          <a:lstStyle/>
          <a:p>
            <a:pPr indent="0" marL="0">
              <a:buNone/>
            </a:pPr>
            <a:r>
              <a:rPr lang="en-US" sz="900" dirty="0">
                <a:solidFill>
                  <a:srgbClr val="D4A017"/>
                </a:solidFill>
                <a:latin typeface="Calibri" pitchFamily="34" charset="0"/>
                <a:ea typeface="Calibri" pitchFamily="34" charset="-122"/>
                <a:cs typeface="Calibri" pitchFamily="34" charset="-120"/>
              </a:rPr>
              <a:t>Fallback: Phi-4 14B for reasoning-heavy disambiguation. Benchmark both on your actual docs.</a:t>
            </a:r>
            <a:endParaRPr lang="en-US" sz="900" dirty="0"/>
          </a:p>
        </p:txBody>
      </p:sp>
      <p:sp>
        <p:nvSpPr>
          <p:cNvPr id="24" name="Shape 21"/>
          <p:cNvSpPr/>
          <p:nvPr/>
        </p:nvSpPr>
        <p:spPr>
          <a:xfrm>
            <a:off x="3822192" y="1371600"/>
            <a:ext cx="4974336" cy="3511296"/>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9000"/>
              </a:srgbClr>
            </a:outerShdw>
          </a:effectLst>
        </p:spPr>
      </p:sp>
      <p:sp>
        <p:nvSpPr>
          <p:cNvPr id="25" name="Shape 22"/>
          <p:cNvSpPr/>
          <p:nvPr/>
        </p:nvSpPr>
        <p:spPr>
          <a:xfrm>
            <a:off x="3822192" y="1371600"/>
            <a:ext cx="54864" cy="3511296"/>
          </a:xfrm>
          <a:prstGeom prst="rect">
            <a:avLst/>
          </a:prstGeom>
          <a:solidFill>
            <a:srgbClr val="0E7C7B"/>
          </a:solidFill>
          <a:ln w="12700">
            <a:solidFill>
              <a:srgbClr val="0E7C7B"/>
            </a:solidFill>
            <a:prstDash val="solid"/>
          </a:ln>
        </p:spPr>
      </p:sp>
      <p:sp>
        <p:nvSpPr>
          <p:cNvPr id="26" name="Text 23"/>
          <p:cNvSpPr/>
          <p:nvPr/>
        </p:nvSpPr>
        <p:spPr>
          <a:xfrm>
            <a:off x="4041648" y="1517904"/>
            <a:ext cx="4480560" cy="237744"/>
          </a:xfrm>
          <a:prstGeom prst="rect">
            <a:avLst/>
          </a:prstGeom>
          <a:noFill/>
          <a:ln/>
        </p:spPr>
        <p:txBody>
          <a:bodyPr wrap="square" lIns="0" tIns="0" rIns="0" bIns="0" rtlCol="0" anchor="ctr"/>
          <a:lstStyle/>
          <a:p>
            <a:pPr indent="0" marL="0">
              <a:buNone/>
            </a:pPr>
            <a:r>
              <a:rPr lang="en-US" sz="1050" b="1" dirty="0">
                <a:solidFill>
                  <a:srgbClr val="0E7C7B"/>
                </a:solidFill>
                <a:latin typeface="Calibri" pitchFamily="34" charset="0"/>
                <a:ea typeface="Calibri" pitchFamily="34" charset="-122"/>
                <a:cs typeface="Calibri" pitchFamily="34" charset="-120"/>
              </a:rPr>
              <a:t>The extraction prompt structure</a:t>
            </a:r>
            <a:endParaRPr lang="en-US" sz="1050" dirty="0"/>
          </a:p>
        </p:txBody>
      </p:sp>
      <p:sp>
        <p:nvSpPr>
          <p:cNvPr id="27" name="Shape 24"/>
          <p:cNvSpPr/>
          <p:nvPr/>
        </p:nvSpPr>
        <p:spPr>
          <a:xfrm>
            <a:off x="3931920" y="1792224"/>
            <a:ext cx="4736592" cy="1901952"/>
          </a:xfrm>
          <a:prstGeom prst="rect">
            <a:avLst/>
          </a:prstGeom>
          <a:solidFill>
            <a:srgbClr val="161B22"/>
          </a:solidFill>
          <a:ln w="12700">
            <a:solidFill>
              <a:srgbClr val="30363D"/>
            </a:solidFill>
            <a:prstDash val="solid"/>
          </a:ln>
        </p:spPr>
      </p:sp>
      <p:sp>
        <p:nvSpPr>
          <p:cNvPr id="28" name="Text 25"/>
          <p:cNvSpPr/>
          <p:nvPr/>
        </p:nvSpPr>
        <p:spPr>
          <a:xfrm>
            <a:off x="4059936" y="1883664"/>
            <a:ext cx="4480560" cy="1719072"/>
          </a:xfrm>
          <a:prstGeom prst="rect">
            <a:avLst/>
          </a:prstGeom>
          <a:noFill/>
          <a:ln/>
        </p:spPr>
        <p:txBody>
          <a:bodyPr wrap="square" lIns="0" tIns="0" rIns="0" bIns="0" rtlCol="0" anchor="t"/>
          <a:lstStyle/>
          <a:p>
            <a:pPr indent="0" marL="0">
              <a:buNone/>
            </a:pPr>
            <a:r>
              <a:rPr lang="en-US" sz="800" dirty="0">
                <a:solidFill>
                  <a:srgbClr val="A8D8A8"/>
                </a:solidFill>
                <a:latin typeface="Courier New" pitchFamily="34" charset="0"/>
                <a:ea typeface="Courier New" pitchFamily="34" charset="-122"/>
                <a:cs typeface="Courier New" pitchFamily="34" charset="-120"/>
              </a:rPr>
              <a:t>INPUT 1 — Docling clean markdown:</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 Engagement Acceptance Form</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Partner Name: ______  (blank)</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Risk Assessment: 3/5</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Scope: NPO GAAS audit FY2024</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Independence: completed</a:t>
            </a:r>
            <a:endParaRPr lang="en-US" sz="800" dirty="0"/>
          </a:p>
          <a:p>
            <a:pPr indent="0" marL="0">
              <a:buNone/>
            </a:pP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INPUT 2 — SOP required fields list:</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["partner_signature §2.1",</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 "risk_score §2.3",</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 "independence_signoff §5.1",</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 "engagement_scope §2.2",</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 "prior_year_status §2.4"]</a:t>
            </a:r>
            <a:endParaRPr lang="en-US" sz="800" dirty="0"/>
          </a:p>
          <a:p>
            <a:pPr indent="0" marL="0">
              <a:buNone/>
            </a:pP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PROMPT: Extract each field. Return JSON only.</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        null if absent. No commentary.</a:t>
            </a:r>
            <a:endParaRPr lang="en-US" sz="800" dirty="0"/>
          </a:p>
        </p:txBody>
      </p:sp>
      <p:sp>
        <p:nvSpPr>
          <p:cNvPr id="29" name="Shape 26"/>
          <p:cNvSpPr/>
          <p:nvPr/>
        </p:nvSpPr>
        <p:spPr>
          <a:xfrm>
            <a:off x="3931920" y="3730752"/>
            <a:ext cx="4736592" cy="1042416"/>
          </a:xfrm>
          <a:prstGeom prst="rect">
            <a:avLst/>
          </a:prstGeom>
          <a:solidFill>
            <a:srgbClr val="161B22"/>
          </a:solidFill>
          <a:ln w="12700">
            <a:solidFill>
              <a:srgbClr val="30363D"/>
            </a:solidFill>
            <a:prstDash val="solid"/>
          </a:ln>
        </p:spPr>
      </p:sp>
      <p:sp>
        <p:nvSpPr>
          <p:cNvPr id="30" name="Text 27"/>
          <p:cNvSpPr/>
          <p:nvPr/>
        </p:nvSpPr>
        <p:spPr>
          <a:xfrm>
            <a:off x="4059936" y="3822192"/>
            <a:ext cx="4480560" cy="859536"/>
          </a:xfrm>
          <a:prstGeom prst="rect">
            <a:avLst/>
          </a:prstGeom>
          <a:noFill/>
          <a:ln/>
        </p:spPr>
        <p:txBody>
          <a:bodyPr wrap="square" lIns="0" tIns="0" rIns="0" bIns="0" rtlCol="0" anchor="t"/>
          <a:lstStyle/>
          <a:p>
            <a:pPr indent="0" marL="0">
              <a:buNone/>
            </a:pPr>
            <a:r>
              <a:rPr lang="en-US" sz="800" dirty="0">
                <a:solidFill>
                  <a:srgbClr val="A8D8A8"/>
                </a:solidFill>
                <a:latin typeface="Courier New" pitchFamily="34" charset="0"/>
                <a:ea typeface="Courier New" pitchFamily="34" charset="-122"/>
                <a:cs typeface="Courier New" pitchFamily="34" charset="-120"/>
              </a:rPr>
              <a:t>OUTPUT — Gemma 3 returns:</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  "partner_signature": null,</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  "risk_score": "3/5",</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  "independence_signoff": "completed",</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  "engagement_scope": "NPO GAAS FY2024",</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  "prior_year_status": null</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a:t>
            </a:r>
            <a:endParaRPr lang="en-US" sz="800" dirty="0"/>
          </a:p>
        </p:txBody>
      </p:sp>
      <p:sp>
        <p:nvSpPr>
          <p:cNvPr id="31" name="Shape 28"/>
          <p:cNvSpPr/>
          <p:nvPr/>
        </p:nvSpPr>
        <p:spPr>
          <a:xfrm>
            <a:off x="3931920" y="4846320"/>
            <a:ext cx="4736592" cy="274320"/>
          </a:xfrm>
          <a:prstGeom prst="rect">
            <a:avLst/>
          </a:prstGeom>
          <a:solidFill>
            <a:srgbClr val="D0EEEE"/>
          </a:solidFill>
          <a:ln w="12700">
            <a:solidFill>
              <a:srgbClr val="D0EEEE"/>
            </a:solidFill>
            <a:prstDash val="solid"/>
          </a:ln>
        </p:spPr>
      </p:sp>
      <p:sp>
        <p:nvSpPr>
          <p:cNvPr id="32" name="Text 29"/>
          <p:cNvSpPr/>
          <p:nvPr/>
        </p:nvSpPr>
        <p:spPr>
          <a:xfrm>
            <a:off x="4023360" y="4846320"/>
            <a:ext cx="4553712" cy="274320"/>
          </a:xfrm>
          <a:prstGeom prst="rect">
            <a:avLst/>
          </a:prstGeom>
          <a:noFill/>
          <a:ln/>
        </p:spPr>
        <p:txBody>
          <a:bodyPr wrap="square" lIns="0" tIns="0" rIns="0" bIns="0" rtlCol="0" anchor="ctr"/>
          <a:lstStyle/>
          <a:p>
            <a:pPr indent="0" marL="0">
              <a:buNone/>
            </a:pPr>
            <a:r>
              <a:rPr lang="en-US" sz="900" dirty="0">
                <a:solidFill>
                  <a:srgbClr val="0E7C7B"/>
                </a:solidFill>
                <a:latin typeface="Calibri" pitchFamily="34" charset="0"/>
                <a:ea typeface="Calibri" pitchFamily="34" charset="-122"/>
                <a:cs typeface="Calibri" pitchFamily="34" charset="-120"/>
              </a:rPr>
              <a:t>null fields → fields_missing. Non-null fields → fields_present. WorkpaperRecord built from this JSON.</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365760" y="219456"/>
            <a:ext cx="3695090" cy="256032"/>
          </a:xfrm>
          <a:prstGeom prst="rect">
            <a:avLst/>
          </a:prstGeom>
          <a:solidFill>
            <a:srgbClr val="0E7C7B"/>
          </a:solidFill>
          <a:ln w="12700">
            <a:solidFill>
              <a:srgbClr val="0E7C7B"/>
            </a:solidFill>
            <a:prstDash val="solid"/>
          </a:ln>
        </p:spPr>
      </p:sp>
      <p:sp>
        <p:nvSpPr>
          <p:cNvPr id="3" name="Text 1"/>
          <p:cNvSpPr/>
          <p:nvPr/>
        </p:nvSpPr>
        <p:spPr>
          <a:xfrm>
            <a:off x="365760" y="219456"/>
            <a:ext cx="369509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STAGE 5 · BUILDING THE THREE MESSAGE BLOCKS</a:t>
            </a:r>
            <a:endParaRPr lang="en-US" sz="850" dirty="0"/>
          </a:p>
        </p:txBody>
      </p:sp>
      <p:sp>
        <p:nvSpPr>
          <p:cNvPr id="4" name="Text 2"/>
          <p:cNvSpPr/>
          <p:nvPr/>
        </p:nvSpPr>
        <p:spPr>
          <a:xfrm>
            <a:off x="365760" y="548640"/>
            <a:ext cx="8412480" cy="512064"/>
          </a:xfrm>
          <a:prstGeom prst="rect">
            <a:avLst/>
          </a:prstGeom>
          <a:noFill/>
          <a:ln/>
        </p:spPr>
        <p:txBody>
          <a:bodyPr wrap="square" lIns="0" tIns="0" rIns="0" bIns="0" rtlCol="0" anchor="ctr"/>
          <a:lstStyle/>
          <a:p>
            <a:pPr indent="0" marL="0">
              <a:buNone/>
            </a:pPr>
            <a:r>
              <a:rPr lang="en-US" sz="2600" b="1" dirty="0">
                <a:solidFill>
                  <a:srgbClr val="0D1117"/>
                </a:solidFill>
                <a:latin typeface="Calibri" pitchFamily="34" charset="0"/>
                <a:ea typeface="Calibri" pitchFamily="34" charset="-122"/>
                <a:cs typeface="Calibri" pitchFamily="34" charset="-120"/>
              </a:rPr>
              <a:t>WorkpaperRecord → three JSON blocks → one JSONL line</a:t>
            </a:r>
            <a:endParaRPr lang="en-US" sz="2600" dirty="0"/>
          </a:p>
        </p:txBody>
      </p:sp>
      <p:sp>
        <p:nvSpPr>
          <p:cNvPr id="5" name="Text 3"/>
          <p:cNvSpPr/>
          <p:nvPr/>
        </p:nvSpPr>
        <p:spPr>
          <a:xfrm>
            <a:off x="365760" y="1042416"/>
            <a:ext cx="8412480" cy="237744"/>
          </a:xfrm>
          <a:prstGeom prst="rect">
            <a:avLst/>
          </a:prstGeom>
          <a:noFill/>
          <a:ln/>
        </p:spPr>
        <p:txBody>
          <a:bodyPr wrap="square" lIns="0" tIns="0" rIns="0" bIns="0" rtlCol="0" anchor="ctr"/>
          <a:lstStyle/>
          <a:p>
            <a:pPr indent="0" marL="0">
              <a:buNone/>
            </a:pPr>
            <a:r>
              <a:rPr lang="en-US" sz="1100" dirty="0">
                <a:solidFill>
                  <a:srgbClr val="718096"/>
                </a:solidFill>
                <a:latin typeface="Calibri" pitchFamily="34" charset="0"/>
                <a:ea typeface="Calibri" pitchFamily="34" charset="-122"/>
                <a:cs typeface="Calibri" pitchFamily="34" charset="-120"/>
              </a:rPr>
              <a:t>Each block has exactly one source. No block is improvised — everything comes from the WorkpaperRecord or the SOP.</a:t>
            </a:r>
            <a:endParaRPr lang="en-US" sz="1100" dirty="0"/>
          </a:p>
        </p:txBody>
      </p:sp>
      <p:sp>
        <p:nvSpPr>
          <p:cNvPr id="6" name="Shape 4"/>
          <p:cNvSpPr/>
          <p:nvPr/>
        </p:nvSpPr>
        <p:spPr>
          <a:xfrm>
            <a:off x="347472" y="1371600"/>
            <a:ext cx="8449056" cy="102412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9000"/>
              </a:srgbClr>
            </a:outerShdw>
          </a:effectLst>
        </p:spPr>
      </p:sp>
      <p:sp>
        <p:nvSpPr>
          <p:cNvPr id="7" name="Shape 5"/>
          <p:cNvSpPr/>
          <p:nvPr/>
        </p:nvSpPr>
        <p:spPr>
          <a:xfrm>
            <a:off x="347472" y="1371600"/>
            <a:ext cx="54864" cy="1024128"/>
          </a:xfrm>
          <a:prstGeom prst="rect">
            <a:avLst/>
          </a:prstGeom>
          <a:solidFill>
            <a:srgbClr val="4A5568"/>
          </a:solidFill>
          <a:ln w="12700">
            <a:solidFill>
              <a:srgbClr val="4A5568"/>
            </a:solidFill>
            <a:prstDash val="solid"/>
          </a:ln>
        </p:spPr>
      </p:sp>
      <p:sp>
        <p:nvSpPr>
          <p:cNvPr id="8" name="Shape 6"/>
          <p:cNvSpPr/>
          <p:nvPr/>
        </p:nvSpPr>
        <p:spPr>
          <a:xfrm>
            <a:off x="347472" y="1371600"/>
            <a:ext cx="54864" cy="1024128"/>
          </a:xfrm>
          <a:prstGeom prst="rect">
            <a:avLst/>
          </a:prstGeom>
          <a:solidFill>
            <a:srgbClr val="4A5568"/>
          </a:solidFill>
          <a:ln w="12700">
            <a:solidFill>
              <a:srgbClr val="4A5568"/>
            </a:solidFill>
            <a:prstDash val="solid"/>
          </a:ln>
        </p:spPr>
      </p:sp>
      <p:sp>
        <p:nvSpPr>
          <p:cNvPr id="9" name="Text 7"/>
          <p:cNvSpPr/>
          <p:nvPr/>
        </p:nvSpPr>
        <p:spPr>
          <a:xfrm>
            <a:off x="475488" y="1426464"/>
            <a:ext cx="1005840" cy="237744"/>
          </a:xfrm>
          <a:prstGeom prst="rect">
            <a:avLst/>
          </a:prstGeom>
          <a:noFill/>
          <a:ln/>
        </p:spPr>
        <p:txBody>
          <a:bodyPr wrap="square" lIns="0" tIns="0" rIns="0" bIns="0" rtlCol="0" anchor="ctr"/>
          <a:lstStyle/>
          <a:p>
            <a:pPr indent="0" marL="0">
              <a:buNone/>
            </a:pPr>
            <a:r>
              <a:rPr lang="en-US" sz="1000" b="1" dirty="0">
                <a:solidFill>
                  <a:srgbClr val="4A5568"/>
                </a:solidFill>
                <a:latin typeface="Calibri" pitchFamily="34" charset="0"/>
                <a:ea typeface="Calibri" pitchFamily="34" charset="-122"/>
                <a:cs typeface="Calibri" pitchFamily="34" charset="-120"/>
              </a:rPr>
              <a:t>SYSTEM</a:t>
            </a:r>
            <a:endParaRPr lang="en-US" sz="1000" dirty="0"/>
          </a:p>
        </p:txBody>
      </p:sp>
      <p:sp>
        <p:nvSpPr>
          <p:cNvPr id="10" name="Text 8"/>
          <p:cNvSpPr/>
          <p:nvPr/>
        </p:nvSpPr>
        <p:spPr>
          <a:xfrm>
            <a:off x="475488" y="1664208"/>
            <a:ext cx="2743200" cy="603504"/>
          </a:xfrm>
          <a:prstGeom prst="rect">
            <a:avLst/>
          </a:prstGeom>
          <a:noFill/>
          <a:ln/>
        </p:spPr>
        <p:txBody>
          <a:bodyPr wrap="square" lIns="0" tIns="0" rIns="0" bIns="0" rtlCol="0" anchor="ctr"/>
          <a:lstStyle/>
          <a:p>
            <a:pPr indent="0" marL="0">
              <a:buNone/>
            </a:pPr>
            <a:r>
              <a:rPr lang="en-US" sz="850" dirty="0">
                <a:solidFill>
                  <a:srgbClr val="718096"/>
                </a:solidFill>
                <a:latin typeface="Calibri" pitchFamily="34" charset="0"/>
                <a:ea typeface="Calibri" pitchFamily="34" charset="-122"/>
                <a:cs typeface="Calibri" pitchFamily="34" charset="-120"/>
              </a:rPr>
              <a:t>Source: hardcoded string — same for every training pair. Written once, never changes.</a:t>
            </a:r>
            <a:endParaRPr lang="en-US" sz="850" dirty="0"/>
          </a:p>
        </p:txBody>
      </p:sp>
      <p:sp>
        <p:nvSpPr>
          <p:cNvPr id="11" name="Shape 9"/>
          <p:cNvSpPr/>
          <p:nvPr/>
        </p:nvSpPr>
        <p:spPr>
          <a:xfrm>
            <a:off x="3364992" y="1426464"/>
            <a:ext cx="5340096" cy="877824"/>
          </a:xfrm>
          <a:prstGeom prst="rect">
            <a:avLst/>
          </a:prstGeom>
          <a:solidFill>
            <a:srgbClr val="161B22"/>
          </a:solidFill>
          <a:ln w="12700">
            <a:solidFill>
              <a:srgbClr val="30363D"/>
            </a:solidFill>
            <a:prstDash val="solid"/>
          </a:ln>
        </p:spPr>
      </p:sp>
      <p:sp>
        <p:nvSpPr>
          <p:cNvPr id="12" name="Text 10"/>
          <p:cNvSpPr/>
          <p:nvPr/>
        </p:nvSpPr>
        <p:spPr>
          <a:xfrm>
            <a:off x="3493008" y="1517904"/>
            <a:ext cx="5084064" cy="694944"/>
          </a:xfrm>
          <a:prstGeom prst="rect">
            <a:avLst/>
          </a:prstGeom>
          <a:noFill/>
          <a:ln/>
        </p:spPr>
        <p:txBody>
          <a:bodyPr wrap="square" lIns="0" tIns="0" rIns="0" bIns="0" rtlCol="0" anchor="t"/>
          <a:lstStyle/>
          <a:p>
            <a:pPr indent="0" marL="0">
              <a:buNone/>
            </a:pPr>
            <a:r>
              <a:rPr lang="en-US" sz="800" dirty="0">
                <a:solidFill>
                  <a:srgbClr val="A8D8A8"/>
                </a:solidFill>
                <a:latin typeface="Courier New" pitchFamily="34" charset="0"/>
                <a:ea typeface="Courier New" pitchFamily="34" charset="-122"/>
                <a:cs typeface="Courier New" pitchFamily="34" charset="-120"/>
              </a:rPr>
              <a:t>"You are AuditAI, an expert auditor for Harshwal &amp; Company LLP.</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You follow HCLLP SOPs exactly and cite §section numbers in all</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findings. Structure: ENGAGEMENT TYPE → FINDINGS → RECOMMENDATION."</a:t>
            </a:r>
            <a:endParaRPr lang="en-US" sz="800" dirty="0"/>
          </a:p>
        </p:txBody>
      </p:sp>
      <p:sp>
        <p:nvSpPr>
          <p:cNvPr id="13" name="Shape 11"/>
          <p:cNvSpPr/>
          <p:nvPr/>
        </p:nvSpPr>
        <p:spPr>
          <a:xfrm>
            <a:off x="347472" y="2505456"/>
            <a:ext cx="8449056" cy="120700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9000"/>
              </a:srgbClr>
            </a:outerShdw>
          </a:effectLst>
        </p:spPr>
      </p:sp>
      <p:sp>
        <p:nvSpPr>
          <p:cNvPr id="14" name="Shape 12"/>
          <p:cNvSpPr/>
          <p:nvPr/>
        </p:nvSpPr>
        <p:spPr>
          <a:xfrm>
            <a:off x="347472" y="2505456"/>
            <a:ext cx="54864" cy="1207008"/>
          </a:xfrm>
          <a:prstGeom prst="rect">
            <a:avLst/>
          </a:prstGeom>
          <a:solidFill>
            <a:srgbClr val="4C3B8A"/>
          </a:solidFill>
          <a:ln w="12700">
            <a:solidFill>
              <a:srgbClr val="4C3B8A"/>
            </a:solidFill>
            <a:prstDash val="solid"/>
          </a:ln>
        </p:spPr>
      </p:sp>
      <p:sp>
        <p:nvSpPr>
          <p:cNvPr id="15" name="Shape 13"/>
          <p:cNvSpPr/>
          <p:nvPr/>
        </p:nvSpPr>
        <p:spPr>
          <a:xfrm>
            <a:off x="347472" y="2505456"/>
            <a:ext cx="54864" cy="1207008"/>
          </a:xfrm>
          <a:prstGeom prst="rect">
            <a:avLst/>
          </a:prstGeom>
          <a:solidFill>
            <a:srgbClr val="4C3B8A"/>
          </a:solidFill>
          <a:ln w="12700">
            <a:solidFill>
              <a:srgbClr val="4C3B8A"/>
            </a:solidFill>
            <a:prstDash val="solid"/>
          </a:ln>
        </p:spPr>
      </p:sp>
      <p:sp>
        <p:nvSpPr>
          <p:cNvPr id="16" name="Text 14"/>
          <p:cNvSpPr/>
          <p:nvPr/>
        </p:nvSpPr>
        <p:spPr>
          <a:xfrm>
            <a:off x="475488" y="2560320"/>
            <a:ext cx="1005840" cy="237744"/>
          </a:xfrm>
          <a:prstGeom prst="rect">
            <a:avLst/>
          </a:prstGeom>
          <a:noFill/>
          <a:ln/>
        </p:spPr>
        <p:txBody>
          <a:bodyPr wrap="square" lIns="0" tIns="0" rIns="0" bIns="0" rtlCol="0" anchor="ctr"/>
          <a:lstStyle/>
          <a:p>
            <a:pPr indent="0" marL="0">
              <a:buNone/>
            </a:pPr>
            <a:r>
              <a:rPr lang="en-US" sz="1000" b="1" dirty="0">
                <a:solidFill>
                  <a:srgbClr val="4C3B8A"/>
                </a:solidFill>
                <a:latin typeface="Calibri" pitchFamily="34" charset="0"/>
                <a:ea typeface="Calibri" pitchFamily="34" charset="-122"/>
                <a:cs typeface="Calibri" pitchFamily="34" charset="-120"/>
              </a:rPr>
              <a:t>USER</a:t>
            </a:r>
            <a:endParaRPr lang="en-US" sz="1000" dirty="0"/>
          </a:p>
        </p:txBody>
      </p:sp>
      <p:sp>
        <p:nvSpPr>
          <p:cNvPr id="17" name="Text 15"/>
          <p:cNvSpPr/>
          <p:nvPr/>
        </p:nvSpPr>
        <p:spPr>
          <a:xfrm>
            <a:off x="475488" y="2798064"/>
            <a:ext cx="2651760" cy="786384"/>
          </a:xfrm>
          <a:prstGeom prst="rect">
            <a:avLst/>
          </a:prstGeom>
          <a:noFill/>
          <a:ln/>
        </p:spPr>
        <p:txBody>
          <a:bodyPr wrap="square" lIns="0" tIns="0" rIns="0" bIns="0" rtlCol="0" anchor="t"/>
          <a:lstStyle/>
          <a:p>
            <a:pPr indent="0" marL="0">
              <a:buNone/>
            </a:pPr>
            <a:r>
              <a:rPr lang="en-US" sz="850" dirty="0">
                <a:solidFill>
                  <a:srgbClr val="718096"/>
                </a:solidFill>
                <a:latin typeface="Calibri" pitchFamily="34" charset="0"/>
                <a:ea typeface="Calibri" pitchFamily="34" charset="-122"/>
                <a:cs typeface="Calibri" pitchFamily="34" charset="-120"/>
              </a:rPr>
              <a:t>Source: Python f-string</a:t>
            </a:r>
            <a:endParaRPr lang="en-US" sz="850" dirty="0"/>
          </a:p>
          <a:p>
            <a:pPr indent="0" marL="0">
              <a:buNone/>
            </a:pPr>
            <a:r>
              <a:rPr lang="en-US" sz="850" dirty="0">
                <a:solidFill>
                  <a:srgbClr val="718096"/>
                </a:solidFill>
                <a:latin typeface="Calibri" pitchFamily="34" charset="0"/>
                <a:ea typeface="Calibri" pitchFamily="34" charset="-122"/>
                <a:cs typeface="Calibri" pitchFamily="34" charset="-120"/>
              </a:rPr>
              <a:t>interpolating WorkpaperRecord</a:t>
            </a:r>
            <a:endParaRPr lang="en-US" sz="850" dirty="0"/>
          </a:p>
          <a:p>
            <a:pPr indent="0" marL="0">
              <a:buNone/>
            </a:pPr>
            <a:r>
              <a:rPr lang="en-US" sz="850" dirty="0">
                <a:solidFill>
                  <a:srgbClr val="718096"/>
                </a:solidFill>
                <a:latin typeface="Calibri" pitchFamily="34" charset="0"/>
                <a:ea typeface="Calibri" pitchFamily="34" charset="-122"/>
                <a:cs typeface="Calibri" pitchFamily="34" charset="-120"/>
              </a:rPr>
              <a:t>fields directly.</a:t>
            </a:r>
            <a:endParaRPr lang="en-US" sz="850" dirty="0"/>
          </a:p>
        </p:txBody>
      </p:sp>
      <p:sp>
        <p:nvSpPr>
          <p:cNvPr id="18" name="Shape 16"/>
          <p:cNvSpPr/>
          <p:nvPr/>
        </p:nvSpPr>
        <p:spPr>
          <a:xfrm>
            <a:off x="3364992" y="2560320"/>
            <a:ext cx="5340096" cy="1060704"/>
          </a:xfrm>
          <a:prstGeom prst="rect">
            <a:avLst/>
          </a:prstGeom>
          <a:solidFill>
            <a:srgbClr val="161B22"/>
          </a:solidFill>
          <a:ln w="12700">
            <a:solidFill>
              <a:srgbClr val="30363D"/>
            </a:solidFill>
            <a:prstDash val="solid"/>
          </a:ln>
        </p:spPr>
      </p:sp>
      <p:sp>
        <p:nvSpPr>
          <p:cNvPr id="19" name="Text 17"/>
          <p:cNvSpPr/>
          <p:nvPr/>
        </p:nvSpPr>
        <p:spPr>
          <a:xfrm>
            <a:off x="3493008" y="2651760"/>
            <a:ext cx="5084064" cy="877824"/>
          </a:xfrm>
          <a:prstGeom prst="rect">
            <a:avLst/>
          </a:prstGeom>
          <a:noFill/>
          <a:ln/>
        </p:spPr>
        <p:txBody>
          <a:bodyPr wrap="square" lIns="0" tIns="0" rIns="0" bIns="0" rtlCol="0" anchor="t"/>
          <a:lstStyle/>
          <a:p>
            <a:pPr indent="0" marL="0">
              <a:buNone/>
            </a:pPr>
            <a:r>
              <a:rPr lang="en-US" sz="800" dirty="0">
                <a:solidFill>
                  <a:srgbClr val="A8D8A8"/>
                </a:solidFill>
                <a:latin typeface="Courier New" pitchFamily="34" charset="0"/>
                <a:ea typeface="Courier New" pitchFamily="34" charset="-122"/>
                <a:cs typeface="Courier New" pitchFamily="34" charset="-120"/>
              </a:rPr>
              <a:t>"workpaper_type: PPC</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client_type: NPO</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is_gagas: False | has_single_audit: False</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audit_phase: Planning</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fields_present: [risk_score, scope]</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fields_missing: [partner_signature, independence_signoff]</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Review this workpaper for SOP compliance."</a:t>
            </a:r>
            <a:endParaRPr lang="en-US" sz="800" dirty="0"/>
          </a:p>
        </p:txBody>
      </p:sp>
      <p:sp>
        <p:nvSpPr>
          <p:cNvPr id="20" name="Text 18"/>
          <p:cNvSpPr/>
          <p:nvPr/>
        </p:nvSpPr>
        <p:spPr>
          <a:xfrm>
            <a:off x="475488" y="2560320"/>
            <a:ext cx="2651760" cy="256032"/>
          </a:xfrm>
          <a:prstGeom prst="rect">
            <a:avLst/>
          </a:prstGeom>
          <a:noFill/>
          <a:ln/>
        </p:spPr>
        <p:txBody>
          <a:bodyPr wrap="square" lIns="0" tIns="0" rIns="0" bIns="0" rtlCol="0" anchor="ctr"/>
          <a:lstStyle/>
          <a:p>
            <a:pPr indent="0" marL="0">
              <a:buNone/>
            </a:pPr>
            <a:r>
              <a:rPr lang="en-US" sz="750" i="1" dirty="0">
                <a:solidFill>
                  <a:srgbClr val="4C3B8A"/>
                </a:solidFill>
                <a:latin typeface="Calibri" pitchFamily="34" charset="0"/>
                <a:ea typeface="Calibri" pitchFamily="34" charset="-122"/>
                <a:cs typeface="Calibri" pitchFamily="34" charset="-120"/>
              </a:rPr>
              <a:t>← 5 classification labels</a:t>
            </a:r>
            <a:endParaRPr lang="en-US" sz="750" dirty="0"/>
          </a:p>
        </p:txBody>
      </p:sp>
      <p:sp>
        <p:nvSpPr>
          <p:cNvPr id="21" name="Shape 19"/>
          <p:cNvSpPr/>
          <p:nvPr/>
        </p:nvSpPr>
        <p:spPr>
          <a:xfrm>
            <a:off x="347472" y="3822192"/>
            <a:ext cx="8449056" cy="1042416"/>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9000"/>
              </a:srgbClr>
            </a:outerShdw>
          </a:effectLst>
        </p:spPr>
      </p:sp>
      <p:sp>
        <p:nvSpPr>
          <p:cNvPr id="22" name="Shape 20"/>
          <p:cNvSpPr/>
          <p:nvPr/>
        </p:nvSpPr>
        <p:spPr>
          <a:xfrm>
            <a:off x="347472" y="3822192"/>
            <a:ext cx="54864" cy="1042416"/>
          </a:xfrm>
          <a:prstGeom prst="rect">
            <a:avLst/>
          </a:prstGeom>
          <a:solidFill>
            <a:srgbClr val="D4A017"/>
          </a:solidFill>
          <a:ln w="12700">
            <a:solidFill>
              <a:srgbClr val="D4A017"/>
            </a:solidFill>
            <a:prstDash val="solid"/>
          </a:ln>
        </p:spPr>
      </p:sp>
      <p:sp>
        <p:nvSpPr>
          <p:cNvPr id="23" name="Shape 21"/>
          <p:cNvSpPr/>
          <p:nvPr/>
        </p:nvSpPr>
        <p:spPr>
          <a:xfrm>
            <a:off x="347472" y="3822192"/>
            <a:ext cx="54864" cy="1042416"/>
          </a:xfrm>
          <a:prstGeom prst="rect">
            <a:avLst/>
          </a:prstGeom>
          <a:solidFill>
            <a:srgbClr val="D4A017"/>
          </a:solidFill>
          <a:ln w="12700">
            <a:solidFill>
              <a:srgbClr val="D4A017"/>
            </a:solidFill>
            <a:prstDash val="solid"/>
          </a:ln>
        </p:spPr>
      </p:sp>
      <p:sp>
        <p:nvSpPr>
          <p:cNvPr id="24" name="Text 22"/>
          <p:cNvSpPr/>
          <p:nvPr/>
        </p:nvSpPr>
        <p:spPr>
          <a:xfrm>
            <a:off x="475488" y="3877056"/>
            <a:ext cx="1188720" cy="237744"/>
          </a:xfrm>
          <a:prstGeom prst="rect">
            <a:avLst/>
          </a:prstGeom>
          <a:noFill/>
          <a:ln/>
        </p:spPr>
        <p:txBody>
          <a:bodyPr wrap="square" lIns="0" tIns="0" rIns="0" bIns="0" rtlCol="0" anchor="ctr"/>
          <a:lstStyle/>
          <a:p>
            <a:pPr indent="0" marL="0">
              <a:buNone/>
            </a:pPr>
            <a:r>
              <a:rPr lang="en-US" sz="1000" b="1" dirty="0">
                <a:solidFill>
                  <a:srgbClr val="D4A017"/>
                </a:solidFill>
                <a:latin typeface="Calibri" pitchFamily="34" charset="0"/>
                <a:ea typeface="Calibri" pitchFamily="34" charset="-122"/>
                <a:cs typeface="Calibri" pitchFamily="34" charset="-120"/>
              </a:rPr>
              <a:t>ASSISTANT</a:t>
            </a:r>
            <a:endParaRPr lang="en-US" sz="1000" dirty="0"/>
          </a:p>
        </p:txBody>
      </p:sp>
      <p:sp>
        <p:nvSpPr>
          <p:cNvPr id="25" name="Text 23"/>
          <p:cNvSpPr/>
          <p:nvPr/>
        </p:nvSpPr>
        <p:spPr>
          <a:xfrm>
            <a:off x="475488" y="4114800"/>
            <a:ext cx="2651760" cy="640080"/>
          </a:xfrm>
          <a:prstGeom prst="rect">
            <a:avLst/>
          </a:prstGeom>
          <a:noFill/>
          <a:ln/>
        </p:spPr>
        <p:txBody>
          <a:bodyPr wrap="square" lIns="0" tIns="0" rIns="0" bIns="0" rtlCol="0" anchor="t"/>
          <a:lstStyle/>
          <a:p>
            <a:pPr indent="0" marL="0">
              <a:buNone/>
            </a:pPr>
            <a:r>
              <a:rPr lang="en-US" sz="850" dirty="0">
                <a:solidFill>
                  <a:srgbClr val="718096"/>
                </a:solidFill>
                <a:latin typeface="Calibri" pitchFamily="34" charset="0"/>
                <a:ea typeface="Calibri" pitchFamily="34" charset="-122"/>
                <a:cs typeface="Calibri" pitchFamily="34" charset="-120"/>
              </a:rPr>
              <a:t>Source: Gemma 3 draft</a:t>
            </a:r>
            <a:endParaRPr lang="en-US" sz="850" dirty="0"/>
          </a:p>
          <a:p>
            <a:pPr indent="0" marL="0">
              <a:buNone/>
            </a:pPr>
            <a:r>
              <a:rPr lang="en-US" sz="850" dirty="0">
                <a:solidFill>
                  <a:srgbClr val="718096"/>
                </a:solidFill>
                <a:latin typeface="Calibri" pitchFamily="34" charset="0"/>
                <a:ea typeface="Calibri" pitchFamily="34" charset="-122"/>
                <a:cs typeface="Calibri" pitchFamily="34" charset="-120"/>
              </a:rPr>
              <a:t>→ auditor review</a:t>
            </a:r>
            <a:endParaRPr lang="en-US" sz="850" dirty="0"/>
          </a:p>
          <a:p>
            <a:pPr indent="0" marL="0">
              <a:buNone/>
            </a:pPr>
            <a:r>
              <a:rPr lang="en-US" sz="850" dirty="0">
                <a:solidFill>
                  <a:srgbClr val="718096"/>
                </a:solidFill>
                <a:latin typeface="Calibri" pitchFamily="34" charset="0"/>
                <a:ea typeface="Calibri" pitchFamily="34" charset="-122"/>
                <a:cs typeface="Calibri" pitchFamily="34" charset="-120"/>
              </a:rPr>
              <a:t>→ approved string</a:t>
            </a:r>
            <a:endParaRPr lang="en-US" sz="850" dirty="0"/>
          </a:p>
        </p:txBody>
      </p:sp>
      <p:sp>
        <p:nvSpPr>
          <p:cNvPr id="26" name="Shape 24"/>
          <p:cNvSpPr/>
          <p:nvPr/>
        </p:nvSpPr>
        <p:spPr>
          <a:xfrm>
            <a:off x="3364992" y="3877056"/>
            <a:ext cx="5340096" cy="896112"/>
          </a:xfrm>
          <a:prstGeom prst="rect">
            <a:avLst/>
          </a:prstGeom>
          <a:solidFill>
            <a:srgbClr val="161B22"/>
          </a:solidFill>
          <a:ln w="12700">
            <a:solidFill>
              <a:srgbClr val="30363D"/>
            </a:solidFill>
            <a:prstDash val="solid"/>
          </a:ln>
        </p:spPr>
      </p:sp>
      <p:sp>
        <p:nvSpPr>
          <p:cNvPr id="27" name="Text 25"/>
          <p:cNvSpPr/>
          <p:nvPr/>
        </p:nvSpPr>
        <p:spPr>
          <a:xfrm>
            <a:off x="3493008" y="3968496"/>
            <a:ext cx="5084064" cy="713232"/>
          </a:xfrm>
          <a:prstGeom prst="rect">
            <a:avLst/>
          </a:prstGeom>
          <a:noFill/>
          <a:ln/>
        </p:spPr>
        <p:txBody>
          <a:bodyPr wrap="square" lIns="0" tIns="0" rIns="0" bIns="0" rtlCol="0" anchor="t"/>
          <a:lstStyle/>
          <a:p>
            <a:pPr indent="0" marL="0">
              <a:buNone/>
            </a:pPr>
            <a:r>
              <a:rPr lang="en-US" sz="800" dirty="0">
                <a:solidFill>
                  <a:srgbClr val="A8D8A8"/>
                </a:solidFill>
                <a:latin typeface="Courier New" pitchFamily="34" charset="0"/>
                <a:ea typeface="Courier New" pitchFamily="34" charset="-122"/>
                <a:cs typeface="Courier New" pitchFamily="34" charset="-120"/>
              </a:rPr>
              <a:t>"ENGAGEMENT TYPE: NPO-GAAS</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FINDINGS:</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1. partner_signature blank — per SOP §2.1</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2. independence_signoff absent — per SOP §5.1</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RECOMMENDATION: Do not accept engagement until</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items 1–2 resolved by engagement partner."</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365760" y="219456"/>
            <a:ext cx="3933749" cy="256032"/>
          </a:xfrm>
          <a:prstGeom prst="rect">
            <a:avLst/>
          </a:prstGeom>
          <a:solidFill>
            <a:srgbClr val="0E7C7B"/>
          </a:solidFill>
          <a:ln w="12700">
            <a:solidFill>
              <a:srgbClr val="0E7C7B"/>
            </a:solidFill>
            <a:prstDash val="solid"/>
          </a:ln>
        </p:spPr>
      </p:sp>
      <p:sp>
        <p:nvSpPr>
          <p:cNvPr id="3" name="Text 1"/>
          <p:cNvSpPr/>
          <p:nvPr/>
        </p:nvSpPr>
        <p:spPr>
          <a:xfrm>
            <a:off x="365760" y="219456"/>
            <a:ext cx="3933749"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STAGE 5 · COMPLETION DRAFTING &amp; AUDITOR REVIEW</a:t>
            </a:r>
            <a:endParaRPr lang="en-US" sz="850" dirty="0"/>
          </a:p>
        </p:txBody>
      </p:sp>
      <p:sp>
        <p:nvSpPr>
          <p:cNvPr id="4" name="Text 2"/>
          <p:cNvSpPr/>
          <p:nvPr/>
        </p:nvSpPr>
        <p:spPr>
          <a:xfrm>
            <a:off x="365760" y="548640"/>
            <a:ext cx="8412480" cy="512064"/>
          </a:xfrm>
          <a:prstGeom prst="rect">
            <a:avLst/>
          </a:prstGeom>
          <a:noFill/>
          <a:ln/>
        </p:spPr>
        <p:txBody>
          <a:bodyPr wrap="square" lIns="0" tIns="0" rIns="0" bIns="0" rtlCol="0" anchor="ctr"/>
          <a:lstStyle/>
          <a:p>
            <a:pPr indent="0" marL="0">
              <a:buNone/>
            </a:pPr>
            <a:r>
              <a:rPr lang="en-US" sz="2600" b="1" dirty="0">
                <a:solidFill>
                  <a:srgbClr val="0D1117"/>
                </a:solidFill>
                <a:latin typeface="Calibri" pitchFamily="34" charset="0"/>
                <a:ea typeface="Calibri" pitchFamily="34" charset="-122"/>
                <a:cs typeface="Calibri" pitchFamily="34" charset="-120"/>
              </a:rPr>
              <a:t>Gemma 3 drafts the completion. The auditor is the gatekeeper.</a:t>
            </a:r>
            <a:endParaRPr lang="en-US" sz="2600" dirty="0"/>
          </a:p>
        </p:txBody>
      </p:sp>
      <p:sp>
        <p:nvSpPr>
          <p:cNvPr id="5" name="Text 3"/>
          <p:cNvSpPr/>
          <p:nvPr/>
        </p:nvSpPr>
        <p:spPr>
          <a:xfrm>
            <a:off x="365760" y="1042416"/>
            <a:ext cx="8412480" cy="237744"/>
          </a:xfrm>
          <a:prstGeom prst="rect">
            <a:avLst/>
          </a:prstGeom>
          <a:noFill/>
          <a:ln/>
        </p:spPr>
        <p:txBody>
          <a:bodyPr wrap="square" lIns="0" tIns="0" rIns="0" bIns="0" rtlCol="0" anchor="ctr"/>
          <a:lstStyle/>
          <a:p>
            <a:pPr indent="0" marL="0">
              <a:buNone/>
            </a:pPr>
            <a:r>
              <a:rPr lang="en-US" sz="1100" dirty="0">
                <a:solidFill>
                  <a:srgbClr val="718096"/>
                </a:solidFill>
                <a:latin typeface="Calibri" pitchFamily="34" charset="0"/>
                <a:ea typeface="Calibri" pitchFamily="34" charset="-122"/>
                <a:cs typeface="Calibri" pitchFamily="34" charset="-120"/>
              </a:rPr>
              <a:t>GPT-4 or Gemma drafts ~80% correct completions from the SOP. The auditor verifies, corrects, and approves. No pair trains without sign-off.</a:t>
            </a:r>
            <a:endParaRPr lang="en-US" sz="1100" dirty="0"/>
          </a:p>
        </p:txBody>
      </p:sp>
      <p:sp>
        <p:nvSpPr>
          <p:cNvPr id="6" name="Shape 4"/>
          <p:cNvSpPr/>
          <p:nvPr/>
        </p:nvSpPr>
        <p:spPr>
          <a:xfrm>
            <a:off x="347472" y="1371600"/>
            <a:ext cx="4754880" cy="22860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9000"/>
              </a:srgbClr>
            </a:outerShdw>
          </a:effectLst>
        </p:spPr>
      </p:sp>
      <p:sp>
        <p:nvSpPr>
          <p:cNvPr id="7" name="Shape 5"/>
          <p:cNvSpPr/>
          <p:nvPr/>
        </p:nvSpPr>
        <p:spPr>
          <a:xfrm>
            <a:off x="347472" y="1371600"/>
            <a:ext cx="54864" cy="2286000"/>
          </a:xfrm>
          <a:prstGeom prst="rect">
            <a:avLst/>
          </a:prstGeom>
          <a:solidFill>
            <a:srgbClr val="D4A017"/>
          </a:solidFill>
          <a:ln w="12700">
            <a:solidFill>
              <a:srgbClr val="D4A017"/>
            </a:solidFill>
            <a:prstDash val="solid"/>
          </a:ln>
        </p:spPr>
      </p:sp>
      <p:sp>
        <p:nvSpPr>
          <p:cNvPr id="8" name="Text 6"/>
          <p:cNvSpPr/>
          <p:nvPr/>
        </p:nvSpPr>
        <p:spPr>
          <a:xfrm>
            <a:off x="566928" y="1517904"/>
            <a:ext cx="4297680" cy="237744"/>
          </a:xfrm>
          <a:prstGeom prst="rect">
            <a:avLst/>
          </a:prstGeom>
          <a:noFill/>
          <a:ln/>
        </p:spPr>
        <p:txBody>
          <a:bodyPr wrap="square" lIns="0" tIns="0" rIns="0" bIns="0" rtlCol="0" anchor="ctr"/>
          <a:lstStyle/>
          <a:p>
            <a:pPr indent="0" marL="0">
              <a:buNone/>
            </a:pPr>
            <a:r>
              <a:rPr lang="en-US" sz="1050" b="1" dirty="0">
                <a:solidFill>
                  <a:srgbClr val="D4A017"/>
                </a:solidFill>
                <a:latin typeface="Calibri" pitchFamily="34" charset="0"/>
                <a:ea typeface="Calibri" pitchFamily="34" charset="-122"/>
                <a:cs typeface="Calibri" pitchFamily="34" charset="-120"/>
              </a:rPr>
              <a:t>Drafting prompt — Gemma 3 receives</a:t>
            </a:r>
            <a:endParaRPr lang="en-US" sz="1050" dirty="0"/>
          </a:p>
        </p:txBody>
      </p:sp>
      <p:sp>
        <p:nvSpPr>
          <p:cNvPr id="9" name="Shape 7"/>
          <p:cNvSpPr/>
          <p:nvPr/>
        </p:nvSpPr>
        <p:spPr>
          <a:xfrm>
            <a:off x="475488" y="1792224"/>
            <a:ext cx="4498848" cy="1755648"/>
          </a:xfrm>
          <a:prstGeom prst="rect">
            <a:avLst/>
          </a:prstGeom>
          <a:solidFill>
            <a:srgbClr val="161B22"/>
          </a:solidFill>
          <a:ln w="12700">
            <a:solidFill>
              <a:srgbClr val="30363D"/>
            </a:solidFill>
            <a:prstDash val="solid"/>
          </a:ln>
        </p:spPr>
      </p:sp>
      <p:sp>
        <p:nvSpPr>
          <p:cNvPr id="10" name="Text 8"/>
          <p:cNvSpPr/>
          <p:nvPr/>
        </p:nvSpPr>
        <p:spPr>
          <a:xfrm>
            <a:off x="603504" y="1883664"/>
            <a:ext cx="4242816" cy="1572768"/>
          </a:xfrm>
          <a:prstGeom prst="rect">
            <a:avLst/>
          </a:prstGeom>
          <a:noFill/>
          <a:ln/>
        </p:spPr>
        <p:txBody>
          <a:bodyPr wrap="square" lIns="0" tIns="0" rIns="0" bIns="0" rtlCol="0" anchor="t"/>
          <a:lstStyle/>
          <a:p>
            <a:pPr indent="0" marL="0">
              <a:buNone/>
            </a:pPr>
            <a:r>
              <a:rPr lang="en-US" sz="800" dirty="0">
                <a:solidFill>
                  <a:srgbClr val="A8D8A8"/>
                </a:solidFill>
                <a:latin typeface="Courier New" pitchFamily="34" charset="0"/>
                <a:ea typeface="Courier New" pitchFamily="34" charset="-122"/>
                <a:cs typeface="Courier New" pitchFamily="34" charset="-120"/>
              </a:rPr>
              <a:t>SOP section text: §2.1 Required fields...</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§5.1 Independence requirements...</a:t>
            </a:r>
            <a:endParaRPr lang="en-US" sz="800" dirty="0"/>
          </a:p>
          <a:p>
            <a:pPr indent="0" marL="0">
              <a:buNone/>
            </a:pP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WorkpaperRecord.fields_missing:</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  ["partner_signature", "independence_signoff"]</a:t>
            </a:r>
            <a:endParaRPr lang="en-US" sz="800" dirty="0"/>
          </a:p>
          <a:p>
            <a:pPr indent="0" marL="0">
              <a:buNone/>
            </a:pP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client_type: NPO | is_gagas: False</a:t>
            </a:r>
            <a:endParaRPr lang="en-US" sz="800" dirty="0"/>
          </a:p>
          <a:p>
            <a:pPr indent="0" marL="0">
              <a:buNone/>
            </a:pP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Task: Write the ideal senior HCLLP auditor</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response. Format: ENGAGEMENT TYPE →</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FINDINGS (numbered, each citing SOP §) →</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RECOMMENDATION. Be specific. No fabrication.</a:t>
            </a:r>
            <a:endParaRPr lang="en-US" sz="800" dirty="0"/>
          </a:p>
        </p:txBody>
      </p:sp>
      <p:sp>
        <p:nvSpPr>
          <p:cNvPr id="11" name="Shape 9"/>
          <p:cNvSpPr/>
          <p:nvPr/>
        </p:nvSpPr>
        <p:spPr>
          <a:xfrm>
            <a:off x="5285232" y="1371600"/>
            <a:ext cx="3511296" cy="22860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9000"/>
              </a:srgbClr>
            </a:outerShdw>
          </a:effectLst>
        </p:spPr>
      </p:sp>
      <p:sp>
        <p:nvSpPr>
          <p:cNvPr id="12" name="Shape 10"/>
          <p:cNvSpPr/>
          <p:nvPr/>
        </p:nvSpPr>
        <p:spPr>
          <a:xfrm>
            <a:off x="5285232" y="1371600"/>
            <a:ext cx="54864" cy="2286000"/>
          </a:xfrm>
          <a:prstGeom prst="rect">
            <a:avLst/>
          </a:prstGeom>
          <a:solidFill>
            <a:srgbClr val="C0392B"/>
          </a:solidFill>
          <a:ln w="12700">
            <a:solidFill>
              <a:srgbClr val="C0392B"/>
            </a:solidFill>
            <a:prstDash val="solid"/>
          </a:ln>
        </p:spPr>
      </p:sp>
      <p:sp>
        <p:nvSpPr>
          <p:cNvPr id="13" name="Text 11"/>
          <p:cNvSpPr/>
          <p:nvPr/>
        </p:nvSpPr>
        <p:spPr>
          <a:xfrm>
            <a:off x="5504688" y="1517904"/>
            <a:ext cx="3108960" cy="237744"/>
          </a:xfrm>
          <a:prstGeom prst="rect">
            <a:avLst/>
          </a:prstGeom>
          <a:noFill/>
          <a:ln/>
        </p:spPr>
        <p:txBody>
          <a:bodyPr wrap="square" lIns="0" tIns="0" rIns="0" bIns="0" rtlCol="0" anchor="ctr"/>
          <a:lstStyle/>
          <a:p>
            <a:pPr indent="0" marL="0">
              <a:buNone/>
            </a:pPr>
            <a:r>
              <a:rPr lang="en-US" sz="1050" b="1" dirty="0">
                <a:solidFill>
                  <a:srgbClr val="C0392B"/>
                </a:solidFill>
                <a:latin typeface="Calibri" pitchFamily="34" charset="0"/>
                <a:ea typeface="Calibri" pitchFamily="34" charset="-122"/>
                <a:cs typeface="Calibri" pitchFamily="34" charset="-120"/>
              </a:rPr>
              <a:t>Auditor review — must check</a:t>
            </a:r>
            <a:endParaRPr lang="en-US" sz="1050" dirty="0"/>
          </a:p>
        </p:txBody>
      </p:sp>
      <p:sp>
        <p:nvSpPr>
          <p:cNvPr id="14" name="Shape 12"/>
          <p:cNvSpPr/>
          <p:nvPr/>
        </p:nvSpPr>
        <p:spPr>
          <a:xfrm>
            <a:off x="5376672" y="1901952"/>
            <a:ext cx="45720" cy="310896"/>
          </a:xfrm>
          <a:prstGeom prst="rect">
            <a:avLst/>
          </a:prstGeom>
          <a:solidFill>
            <a:srgbClr val="C0392B"/>
          </a:solidFill>
          <a:ln w="12700">
            <a:solidFill>
              <a:srgbClr val="C0392B"/>
            </a:solidFill>
            <a:prstDash val="solid"/>
          </a:ln>
        </p:spPr>
      </p:sp>
      <p:sp>
        <p:nvSpPr>
          <p:cNvPr id="15" name="Text 13"/>
          <p:cNvSpPr/>
          <p:nvPr/>
        </p:nvSpPr>
        <p:spPr>
          <a:xfrm>
            <a:off x="5504688" y="1901952"/>
            <a:ext cx="3163824" cy="182880"/>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SOP citation is correct</a:t>
            </a:r>
            <a:endParaRPr lang="en-US" sz="950" dirty="0"/>
          </a:p>
        </p:txBody>
      </p:sp>
      <p:sp>
        <p:nvSpPr>
          <p:cNvPr id="16" name="Text 14"/>
          <p:cNvSpPr/>
          <p:nvPr/>
        </p:nvSpPr>
        <p:spPr>
          <a:xfrm>
            <a:off x="5504688" y="2084832"/>
            <a:ext cx="3163824" cy="182880"/>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§2.1 not §3.4 — verify against physical SOP</a:t>
            </a:r>
            <a:endParaRPr lang="en-US" sz="850" dirty="0"/>
          </a:p>
        </p:txBody>
      </p:sp>
      <p:sp>
        <p:nvSpPr>
          <p:cNvPr id="17" name="Shape 15"/>
          <p:cNvSpPr/>
          <p:nvPr/>
        </p:nvSpPr>
        <p:spPr>
          <a:xfrm>
            <a:off x="5376672" y="2322576"/>
            <a:ext cx="45720" cy="310896"/>
          </a:xfrm>
          <a:prstGeom prst="rect">
            <a:avLst/>
          </a:prstGeom>
          <a:solidFill>
            <a:srgbClr val="C0392B"/>
          </a:solidFill>
          <a:ln w="12700">
            <a:solidFill>
              <a:srgbClr val="C0392B"/>
            </a:solidFill>
            <a:prstDash val="solid"/>
          </a:ln>
        </p:spPr>
      </p:sp>
      <p:sp>
        <p:nvSpPr>
          <p:cNvPr id="18" name="Text 16"/>
          <p:cNvSpPr/>
          <p:nvPr/>
        </p:nvSpPr>
        <p:spPr>
          <a:xfrm>
            <a:off x="5504688" y="2322576"/>
            <a:ext cx="3163824" cy="182880"/>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Finding justified by document</a:t>
            </a:r>
            <a:endParaRPr lang="en-US" sz="950" dirty="0"/>
          </a:p>
        </p:txBody>
      </p:sp>
      <p:sp>
        <p:nvSpPr>
          <p:cNvPr id="19" name="Text 17"/>
          <p:cNvSpPr/>
          <p:nvPr/>
        </p:nvSpPr>
        <p:spPr>
          <a:xfrm>
            <a:off x="5504688" y="2505456"/>
            <a:ext cx="3163824" cy="182880"/>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No fabricated findings — only what's actually missing</a:t>
            </a:r>
            <a:endParaRPr lang="en-US" sz="850" dirty="0"/>
          </a:p>
        </p:txBody>
      </p:sp>
      <p:sp>
        <p:nvSpPr>
          <p:cNvPr id="20" name="Shape 18"/>
          <p:cNvSpPr/>
          <p:nvPr/>
        </p:nvSpPr>
        <p:spPr>
          <a:xfrm>
            <a:off x="5376672" y="2743200"/>
            <a:ext cx="45720" cy="310896"/>
          </a:xfrm>
          <a:prstGeom prst="rect">
            <a:avLst/>
          </a:prstGeom>
          <a:solidFill>
            <a:srgbClr val="C0392B"/>
          </a:solidFill>
          <a:ln w="12700">
            <a:solidFill>
              <a:srgbClr val="C0392B"/>
            </a:solidFill>
            <a:prstDash val="solid"/>
          </a:ln>
        </p:spPr>
      </p:sp>
      <p:sp>
        <p:nvSpPr>
          <p:cNvPr id="21" name="Text 19"/>
          <p:cNvSpPr/>
          <p:nvPr/>
        </p:nvSpPr>
        <p:spPr>
          <a:xfrm>
            <a:off x="5504688" y="2743200"/>
            <a:ext cx="3163824" cy="182880"/>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Client type logic correct</a:t>
            </a:r>
            <a:endParaRPr lang="en-US" sz="950" dirty="0"/>
          </a:p>
        </p:txBody>
      </p:sp>
      <p:sp>
        <p:nvSpPr>
          <p:cNvPr id="22" name="Text 20"/>
          <p:cNvSpPr/>
          <p:nvPr/>
        </p:nvSpPr>
        <p:spPr>
          <a:xfrm>
            <a:off x="5504688" y="2926080"/>
            <a:ext cx="3163824" cy="182880"/>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Govt-GAGAS rules don't apply to NPO-GAAS</a:t>
            </a:r>
            <a:endParaRPr lang="en-US" sz="850" dirty="0"/>
          </a:p>
        </p:txBody>
      </p:sp>
      <p:sp>
        <p:nvSpPr>
          <p:cNvPr id="23" name="Shape 21"/>
          <p:cNvSpPr/>
          <p:nvPr/>
        </p:nvSpPr>
        <p:spPr>
          <a:xfrm>
            <a:off x="5376672" y="3163824"/>
            <a:ext cx="45720" cy="310896"/>
          </a:xfrm>
          <a:prstGeom prst="rect">
            <a:avLst/>
          </a:prstGeom>
          <a:solidFill>
            <a:srgbClr val="D4A017"/>
          </a:solidFill>
          <a:ln w="12700">
            <a:solidFill>
              <a:srgbClr val="D4A017"/>
            </a:solidFill>
            <a:prstDash val="solid"/>
          </a:ln>
        </p:spPr>
      </p:sp>
      <p:sp>
        <p:nvSpPr>
          <p:cNvPr id="24" name="Text 22"/>
          <p:cNvSpPr/>
          <p:nvPr/>
        </p:nvSpPr>
        <p:spPr>
          <a:xfrm>
            <a:off x="5504688" y="3163824"/>
            <a:ext cx="3163824" cy="182880"/>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HCLLP house style used</a:t>
            </a:r>
            <a:endParaRPr lang="en-US" sz="950" dirty="0"/>
          </a:p>
        </p:txBody>
      </p:sp>
      <p:sp>
        <p:nvSpPr>
          <p:cNvPr id="25" name="Text 23"/>
          <p:cNvSpPr/>
          <p:nvPr/>
        </p:nvSpPr>
        <p:spPr>
          <a:xfrm>
            <a:off x="5504688" y="3346704"/>
            <a:ext cx="3163824" cy="182880"/>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'RECOMMENDATION:' not 'I recommend...'</a:t>
            </a:r>
            <a:endParaRPr lang="en-US" sz="850" dirty="0"/>
          </a:p>
        </p:txBody>
      </p:sp>
      <p:sp>
        <p:nvSpPr>
          <p:cNvPr id="26" name="Shape 24"/>
          <p:cNvSpPr/>
          <p:nvPr/>
        </p:nvSpPr>
        <p:spPr>
          <a:xfrm>
            <a:off x="347472" y="3749040"/>
            <a:ext cx="4114800" cy="1133856"/>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9000"/>
              </a:srgbClr>
            </a:outerShdw>
          </a:effectLst>
        </p:spPr>
      </p:sp>
      <p:sp>
        <p:nvSpPr>
          <p:cNvPr id="27" name="Shape 25"/>
          <p:cNvSpPr/>
          <p:nvPr/>
        </p:nvSpPr>
        <p:spPr>
          <a:xfrm>
            <a:off x="347472" y="3749040"/>
            <a:ext cx="54864" cy="1133856"/>
          </a:xfrm>
          <a:prstGeom prst="rect">
            <a:avLst/>
          </a:prstGeom>
          <a:solidFill>
            <a:srgbClr val="0E7C7B"/>
          </a:solidFill>
          <a:ln w="12700">
            <a:solidFill>
              <a:srgbClr val="0E7C7B"/>
            </a:solidFill>
            <a:prstDash val="solid"/>
          </a:ln>
        </p:spPr>
      </p:sp>
      <p:sp>
        <p:nvSpPr>
          <p:cNvPr id="28" name="Text 26"/>
          <p:cNvSpPr/>
          <p:nvPr/>
        </p:nvSpPr>
        <p:spPr>
          <a:xfrm>
            <a:off x="566928" y="3895344"/>
            <a:ext cx="3657600" cy="219456"/>
          </a:xfrm>
          <a:prstGeom prst="rect">
            <a:avLst/>
          </a:prstGeom>
          <a:noFill/>
          <a:ln/>
        </p:spPr>
        <p:txBody>
          <a:bodyPr wrap="square" lIns="0" tIns="0" rIns="0" bIns="0" rtlCol="0" anchor="ctr"/>
          <a:lstStyle/>
          <a:p>
            <a:pPr indent="0" marL="0">
              <a:buNone/>
            </a:pPr>
            <a:r>
              <a:rPr lang="en-US" sz="1000" b="1" dirty="0">
                <a:solidFill>
                  <a:srgbClr val="0E7C7B"/>
                </a:solidFill>
                <a:latin typeface="Calibri" pitchFamily="34" charset="0"/>
                <a:ea typeface="Calibri" pitchFamily="34" charset="-122"/>
                <a:cs typeface="Calibri" pitchFamily="34" charset="-120"/>
              </a:rPr>
              <a:t>Review log entry (review_log.csv)</a:t>
            </a:r>
            <a:endParaRPr lang="en-US" sz="1000" dirty="0"/>
          </a:p>
        </p:txBody>
      </p:sp>
      <p:sp>
        <p:nvSpPr>
          <p:cNvPr id="29" name="Shape 27"/>
          <p:cNvSpPr/>
          <p:nvPr/>
        </p:nvSpPr>
        <p:spPr>
          <a:xfrm>
            <a:off x="475488" y="4151376"/>
            <a:ext cx="3877056" cy="603504"/>
          </a:xfrm>
          <a:prstGeom prst="rect">
            <a:avLst/>
          </a:prstGeom>
          <a:solidFill>
            <a:srgbClr val="161B22"/>
          </a:solidFill>
          <a:ln w="12700">
            <a:solidFill>
              <a:srgbClr val="30363D"/>
            </a:solidFill>
            <a:prstDash val="solid"/>
          </a:ln>
        </p:spPr>
      </p:sp>
      <p:sp>
        <p:nvSpPr>
          <p:cNvPr id="30" name="Text 28"/>
          <p:cNvSpPr/>
          <p:nvPr/>
        </p:nvSpPr>
        <p:spPr>
          <a:xfrm>
            <a:off x="603504" y="4242816"/>
            <a:ext cx="3621024" cy="420624"/>
          </a:xfrm>
          <a:prstGeom prst="rect">
            <a:avLst/>
          </a:prstGeom>
          <a:noFill/>
          <a:ln/>
        </p:spPr>
        <p:txBody>
          <a:bodyPr wrap="square" lIns="0" tIns="0" rIns="0" bIns="0" rtlCol="0" anchor="t"/>
          <a:lstStyle/>
          <a:p>
            <a:pPr indent="0" marL="0">
              <a:buNone/>
            </a:pPr>
            <a:r>
              <a:rPr lang="en-US" sz="800" dirty="0">
                <a:solidFill>
                  <a:srgbClr val="A8D8A8"/>
                </a:solidFill>
                <a:latin typeface="Courier New" pitchFamily="34" charset="0"/>
                <a:ea typeface="Courier New" pitchFamily="34" charset="-122"/>
                <a:cs typeface="Courier New" pitchFamily="34" charset="-120"/>
              </a:rPr>
              <a:t>pair_id, reviewer_id, date, source_hash, status, changes_made</a:t>
            </a:r>
            <a:endParaRPr lang="en-US" sz="800" dirty="0"/>
          </a:p>
        </p:txBody>
      </p:sp>
      <p:sp>
        <p:nvSpPr>
          <p:cNvPr id="31" name="Shape 29"/>
          <p:cNvSpPr/>
          <p:nvPr/>
        </p:nvSpPr>
        <p:spPr>
          <a:xfrm>
            <a:off x="4645152" y="3749040"/>
            <a:ext cx="4151376" cy="1133856"/>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9000"/>
              </a:srgbClr>
            </a:outerShdw>
          </a:effectLst>
        </p:spPr>
      </p:sp>
      <p:sp>
        <p:nvSpPr>
          <p:cNvPr id="32" name="Shape 30"/>
          <p:cNvSpPr/>
          <p:nvPr/>
        </p:nvSpPr>
        <p:spPr>
          <a:xfrm>
            <a:off x="4645152" y="3749040"/>
            <a:ext cx="54864" cy="1133856"/>
          </a:xfrm>
          <a:prstGeom prst="rect">
            <a:avLst/>
          </a:prstGeom>
          <a:solidFill>
            <a:srgbClr val="4C3B8A"/>
          </a:solidFill>
          <a:ln w="12700">
            <a:solidFill>
              <a:srgbClr val="4C3B8A"/>
            </a:solidFill>
            <a:prstDash val="solid"/>
          </a:ln>
        </p:spPr>
      </p:sp>
      <p:sp>
        <p:nvSpPr>
          <p:cNvPr id="33" name="Text 31"/>
          <p:cNvSpPr/>
          <p:nvPr/>
        </p:nvSpPr>
        <p:spPr>
          <a:xfrm>
            <a:off x="4864608" y="3895344"/>
            <a:ext cx="3749040" cy="219456"/>
          </a:xfrm>
          <a:prstGeom prst="rect">
            <a:avLst/>
          </a:prstGeom>
          <a:noFill/>
          <a:ln/>
        </p:spPr>
        <p:txBody>
          <a:bodyPr wrap="square" lIns="0" tIns="0" rIns="0" bIns="0" rtlCol="0" anchor="ctr"/>
          <a:lstStyle/>
          <a:p>
            <a:pPr indent="0" marL="0">
              <a:buNone/>
            </a:pPr>
            <a:r>
              <a:rPr lang="en-US" sz="1000" b="1" dirty="0">
                <a:solidFill>
                  <a:srgbClr val="4C3B8A"/>
                </a:solidFill>
                <a:latin typeface="Calibri" pitchFamily="34" charset="0"/>
                <a:ea typeface="Calibri" pitchFamily="34" charset="-122"/>
                <a:cs typeface="Calibri" pitchFamily="34" charset="-120"/>
              </a:rPr>
              <a:t>Pair variations to create per workpaper</a:t>
            </a:r>
            <a:endParaRPr lang="en-US" sz="1000" dirty="0"/>
          </a:p>
        </p:txBody>
      </p:sp>
      <p:sp>
        <p:nvSpPr>
          <p:cNvPr id="34" name="Shape 32"/>
          <p:cNvSpPr/>
          <p:nvPr/>
        </p:nvSpPr>
        <p:spPr>
          <a:xfrm>
            <a:off x="4736592" y="4151376"/>
            <a:ext cx="91440" cy="91440"/>
          </a:xfrm>
          <a:prstGeom prst="rect">
            <a:avLst/>
          </a:prstGeom>
          <a:solidFill>
            <a:srgbClr val="4C3B8A"/>
          </a:solidFill>
          <a:ln w="12700">
            <a:solidFill>
              <a:srgbClr val="4C3B8A"/>
            </a:solidFill>
            <a:prstDash val="solid"/>
          </a:ln>
        </p:spPr>
      </p:sp>
      <p:sp>
        <p:nvSpPr>
          <p:cNvPr id="35" name="Text 33"/>
          <p:cNvSpPr/>
          <p:nvPr/>
        </p:nvSpPr>
        <p:spPr>
          <a:xfrm>
            <a:off x="4882896" y="4133088"/>
            <a:ext cx="3749040" cy="182880"/>
          </a:xfrm>
          <a:prstGeom prst="rect">
            <a:avLst/>
          </a:prstGeom>
          <a:noFill/>
          <a:ln/>
        </p:spPr>
        <p:txBody>
          <a:bodyPr wrap="square" lIns="0" tIns="0" rIns="0" bIns="0" rtlCol="0" anchor="ctr"/>
          <a:lstStyle/>
          <a:p>
            <a:pPr indent="0" marL="0">
              <a:buNone/>
            </a:pPr>
            <a:r>
              <a:rPr lang="en-US" sz="850" dirty="0">
                <a:solidFill>
                  <a:srgbClr val="0D1117"/>
                </a:solidFill>
                <a:latin typeface="Calibri" pitchFamily="34" charset="0"/>
                <a:ea typeface="Calibri" pitchFamily="34" charset="-122"/>
                <a:cs typeface="Calibri" pitchFamily="34" charset="-120"/>
              </a:rPr>
              <a:t>1 clean (all fields present) → approve only</a:t>
            </a:r>
            <a:endParaRPr lang="en-US" sz="850" dirty="0"/>
          </a:p>
        </p:txBody>
      </p:sp>
      <p:sp>
        <p:nvSpPr>
          <p:cNvPr id="36" name="Shape 34"/>
          <p:cNvSpPr/>
          <p:nvPr/>
        </p:nvSpPr>
        <p:spPr>
          <a:xfrm>
            <a:off x="4736592" y="4352544"/>
            <a:ext cx="91440" cy="91440"/>
          </a:xfrm>
          <a:prstGeom prst="rect">
            <a:avLst/>
          </a:prstGeom>
          <a:solidFill>
            <a:srgbClr val="4C3B8A"/>
          </a:solidFill>
          <a:ln w="12700">
            <a:solidFill>
              <a:srgbClr val="4C3B8A"/>
            </a:solidFill>
            <a:prstDash val="solid"/>
          </a:ln>
        </p:spPr>
      </p:sp>
      <p:sp>
        <p:nvSpPr>
          <p:cNvPr id="37" name="Text 35"/>
          <p:cNvSpPr/>
          <p:nvPr/>
        </p:nvSpPr>
        <p:spPr>
          <a:xfrm>
            <a:off x="4882896" y="4334256"/>
            <a:ext cx="3749040" cy="182880"/>
          </a:xfrm>
          <a:prstGeom prst="rect">
            <a:avLst/>
          </a:prstGeom>
          <a:noFill/>
          <a:ln/>
        </p:spPr>
        <p:txBody>
          <a:bodyPr wrap="square" lIns="0" tIns="0" rIns="0" bIns="0" rtlCol="0" anchor="ctr"/>
          <a:lstStyle/>
          <a:p>
            <a:pPr indent="0" marL="0">
              <a:buNone/>
            </a:pPr>
            <a:r>
              <a:rPr lang="en-US" sz="850" dirty="0">
                <a:solidFill>
                  <a:srgbClr val="0D1117"/>
                </a:solidFill>
                <a:latin typeface="Calibri" pitchFamily="34" charset="0"/>
                <a:ea typeface="Calibri" pitchFamily="34" charset="-122"/>
                <a:cs typeface="Calibri" pitchFamily="34" charset="-120"/>
              </a:rPr>
              <a:t>2–3 deficient (different missing field combos)</a:t>
            </a:r>
            <a:endParaRPr lang="en-US" sz="850" dirty="0"/>
          </a:p>
        </p:txBody>
      </p:sp>
      <p:sp>
        <p:nvSpPr>
          <p:cNvPr id="38" name="Shape 36"/>
          <p:cNvSpPr/>
          <p:nvPr/>
        </p:nvSpPr>
        <p:spPr>
          <a:xfrm>
            <a:off x="4736592" y="4553712"/>
            <a:ext cx="91440" cy="91440"/>
          </a:xfrm>
          <a:prstGeom prst="rect">
            <a:avLst/>
          </a:prstGeom>
          <a:solidFill>
            <a:srgbClr val="4C3B8A"/>
          </a:solidFill>
          <a:ln w="12700">
            <a:solidFill>
              <a:srgbClr val="4C3B8A"/>
            </a:solidFill>
            <a:prstDash val="solid"/>
          </a:ln>
        </p:spPr>
      </p:sp>
      <p:sp>
        <p:nvSpPr>
          <p:cNvPr id="39" name="Text 37"/>
          <p:cNvSpPr/>
          <p:nvPr/>
        </p:nvSpPr>
        <p:spPr>
          <a:xfrm>
            <a:off x="4882896" y="4535424"/>
            <a:ext cx="3749040" cy="182880"/>
          </a:xfrm>
          <a:prstGeom prst="rect">
            <a:avLst/>
          </a:prstGeom>
          <a:noFill/>
          <a:ln/>
        </p:spPr>
        <p:txBody>
          <a:bodyPr wrap="square" lIns="0" tIns="0" rIns="0" bIns="0" rtlCol="0" anchor="ctr"/>
          <a:lstStyle/>
          <a:p>
            <a:pPr indent="0" marL="0">
              <a:buNone/>
            </a:pPr>
            <a:r>
              <a:rPr lang="en-US" sz="850" dirty="0">
                <a:solidFill>
                  <a:srgbClr val="0D1117"/>
                </a:solidFill>
                <a:latin typeface="Calibri" pitchFamily="34" charset="0"/>
                <a:ea typeface="Calibri" pitchFamily="34" charset="-122"/>
                <a:cs typeface="Calibri" pitchFamily="34" charset="-120"/>
              </a:rPr>
              <a:t>1 per client_type combination (NPO-GAAS, Govt-GAGAS)</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365760" y="219456"/>
            <a:ext cx="2183587" cy="256032"/>
          </a:xfrm>
          <a:prstGeom prst="rect">
            <a:avLst/>
          </a:prstGeom>
          <a:solidFill>
            <a:srgbClr val="0E7C7B"/>
          </a:solidFill>
          <a:ln w="12700">
            <a:solidFill>
              <a:srgbClr val="0E7C7B"/>
            </a:solidFill>
            <a:prstDash val="solid"/>
          </a:ln>
        </p:spPr>
      </p:sp>
      <p:sp>
        <p:nvSpPr>
          <p:cNvPr id="3" name="Text 1"/>
          <p:cNvSpPr/>
          <p:nvPr/>
        </p:nvSpPr>
        <p:spPr>
          <a:xfrm>
            <a:off x="365760" y="219456"/>
            <a:ext cx="2183587"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STAGE 6 · JSONL ASSEMBLY</a:t>
            </a:r>
            <a:endParaRPr lang="en-US" sz="850" dirty="0"/>
          </a:p>
        </p:txBody>
      </p:sp>
      <p:sp>
        <p:nvSpPr>
          <p:cNvPr id="4" name="Text 2"/>
          <p:cNvSpPr/>
          <p:nvPr/>
        </p:nvSpPr>
        <p:spPr>
          <a:xfrm>
            <a:off x="365760" y="548640"/>
            <a:ext cx="8412480" cy="512064"/>
          </a:xfrm>
          <a:prstGeom prst="rect">
            <a:avLst/>
          </a:prstGeom>
          <a:noFill/>
          <a:ln/>
        </p:spPr>
        <p:txBody>
          <a:bodyPr wrap="square" lIns="0" tIns="0" rIns="0" bIns="0" rtlCol="0" anchor="ctr"/>
          <a:lstStyle/>
          <a:p>
            <a:pPr indent="0" marL="0">
              <a:buNone/>
            </a:pPr>
            <a:r>
              <a:rPr lang="en-US" sz="2600" b="1" dirty="0">
                <a:solidFill>
                  <a:srgbClr val="0D1117"/>
                </a:solidFill>
                <a:latin typeface="Calibri" pitchFamily="34" charset="0"/>
                <a:ea typeface="Calibri" pitchFamily="34" charset="-122"/>
                <a:cs typeface="Calibri" pitchFamily="34" charset="-120"/>
              </a:rPr>
              <a:t>Three dicts → json.dumps() → one line appended to .jsonl</a:t>
            </a:r>
            <a:endParaRPr lang="en-US" sz="2600" dirty="0"/>
          </a:p>
        </p:txBody>
      </p:sp>
      <p:sp>
        <p:nvSpPr>
          <p:cNvPr id="5" name="Text 3"/>
          <p:cNvSpPr/>
          <p:nvPr/>
        </p:nvSpPr>
        <p:spPr>
          <a:xfrm>
            <a:off x="365760" y="1042416"/>
            <a:ext cx="8412480" cy="237744"/>
          </a:xfrm>
          <a:prstGeom prst="rect">
            <a:avLst/>
          </a:prstGeom>
          <a:noFill/>
          <a:ln/>
        </p:spPr>
        <p:txBody>
          <a:bodyPr wrap="square" lIns="0" tIns="0" rIns="0" bIns="0" rtlCol="0" anchor="ctr"/>
          <a:lstStyle/>
          <a:p>
            <a:pPr indent="0" marL="0">
              <a:buNone/>
            </a:pPr>
            <a:r>
              <a:rPr lang="en-US" sz="1100" dirty="0">
                <a:solidFill>
                  <a:srgbClr val="718096"/>
                </a:solidFill>
                <a:latin typeface="Calibri" pitchFamily="34" charset="0"/>
                <a:ea typeface="Calibri" pitchFamily="34" charset="-122"/>
                <a:cs typeface="Calibri" pitchFamily="34" charset="-120"/>
              </a:rPr>
              <a:t>The assembly step is pure Python stdlib. No library, no framework. One workpaper = one line in the training file.</a:t>
            </a:r>
            <a:endParaRPr lang="en-US" sz="1100" dirty="0"/>
          </a:p>
        </p:txBody>
      </p:sp>
      <p:sp>
        <p:nvSpPr>
          <p:cNvPr id="6" name="Shape 4"/>
          <p:cNvSpPr/>
          <p:nvPr/>
        </p:nvSpPr>
        <p:spPr>
          <a:xfrm>
            <a:off x="347472" y="1371600"/>
            <a:ext cx="8449056" cy="175564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9000"/>
              </a:srgbClr>
            </a:outerShdw>
          </a:effectLst>
        </p:spPr>
      </p:sp>
      <p:sp>
        <p:nvSpPr>
          <p:cNvPr id="7" name="Shape 5"/>
          <p:cNvSpPr/>
          <p:nvPr/>
        </p:nvSpPr>
        <p:spPr>
          <a:xfrm>
            <a:off x="347472" y="1371600"/>
            <a:ext cx="54864" cy="1755648"/>
          </a:xfrm>
          <a:prstGeom prst="rect">
            <a:avLst/>
          </a:prstGeom>
          <a:solidFill>
            <a:srgbClr val="0E7C7B"/>
          </a:solidFill>
          <a:ln w="12700">
            <a:solidFill>
              <a:srgbClr val="0E7C7B"/>
            </a:solidFill>
            <a:prstDash val="solid"/>
          </a:ln>
        </p:spPr>
      </p:sp>
      <p:sp>
        <p:nvSpPr>
          <p:cNvPr id="8" name="Text 6"/>
          <p:cNvSpPr/>
          <p:nvPr/>
        </p:nvSpPr>
        <p:spPr>
          <a:xfrm>
            <a:off x="566928" y="1517904"/>
            <a:ext cx="7955280" cy="237744"/>
          </a:xfrm>
          <a:prstGeom prst="rect">
            <a:avLst/>
          </a:prstGeom>
          <a:noFill/>
          <a:ln/>
        </p:spPr>
        <p:txBody>
          <a:bodyPr wrap="square" lIns="0" tIns="0" rIns="0" bIns="0" rtlCol="0" anchor="ctr"/>
          <a:lstStyle/>
          <a:p>
            <a:pPr indent="0" marL="0">
              <a:buNone/>
            </a:pPr>
            <a:r>
              <a:rPr lang="en-US" sz="1050" b="1" dirty="0">
                <a:solidFill>
                  <a:srgbClr val="0E7C7B"/>
                </a:solidFill>
                <a:latin typeface="Calibri" pitchFamily="34" charset="0"/>
                <a:ea typeface="Calibri" pitchFamily="34" charset="-122"/>
                <a:cs typeface="Calibri" pitchFamily="34" charset="-120"/>
              </a:rPr>
              <a:t>Full assembled JSONL line — what one workpaper produces</a:t>
            </a:r>
            <a:endParaRPr lang="en-US" sz="1050" dirty="0"/>
          </a:p>
        </p:txBody>
      </p:sp>
      <p:sp>
        <p:nvSpPr>
          <p:cNvPr id="9" name="Shape 7"/>
          <p:cNvSpPr/>
          <p:nvPr/>
        </p:nvSpPr>
        <p:spPr>
          <a:xfrm>
            <a:off x="475488" y="1792224"/>
            <a:ext cx="8211312" cy="1243584"/>
          </a:xfrm>
          <a:prstGeom prst="rect">
            <a:avLst/>
          </a:prstGeom>
          <a:solidFill>
            <a:srgbClr val="161B22"/>
          </a:solidFill>
          <a:ln w="12700">
            <a:solidFill>
              <a:srgbClr val="30363D"/>
            </a:solidFill>
            <a:prstDash val="solid"/>
          </a:ln>
        </p:spPr>
      </p:sp>
      <p:sp>
        <p:nvSpPr>
          <p:cNvPr id="10" name="Text 8"/>
          <p:cNvSpPr/>
          <p:nvPr/>
        </p:nvSpPr>
        <p:spPr>
          <a:xfrm>
            <a:off x="603504" y="1883664"/>
            <a:ext cx="7955280" cy="1060704"/>
          </a:xfrm>
          <a:prstGeom prst="rect">
            <a:avLst/>
          </a:prstGeom>
          <a:noFill/>
          <a:ln/>
        </p:spPr>
        <p:txBody>
          <a:bodyPr wrap="square" lIns="0" tIns="0" rIns="0" bIns="0" rtlCol="0" anchor="t"/>
          <a:lstStyle/>
          <a:p>
            <a:pPr indent="0" marL="0">
              <a:buNone/>
            </a:pPr>
            <a:r>
              <a:rPr lang="en-US" sz="800" dirty="0">
                <a:solidFill>
                  <a:srgbClr val="A8D8A8"/>
                </a:solidFill>
                <a:latin typeface="Courier New" pitchFamily="34" charset="0"/>
                <a:ea typeface="Courier New" pitchFamily="34" charset="-122"/>
                <a:cs typeface="Courier New" pitchFamily="34" charset="-120"/>
              </a:rPr>
              <a:t>{"messages": [</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  {"role": "system",    "content": "You are AuditAI, an expert auditor for Harshwal &amp; Company LLP. You follow HCLLP SOPs..."},</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  {"role": "user",      "content": "workpaper_type: PPC</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client_type: NPO</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is_gagas: False</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has_single_audit: False</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audit_phase: Planning</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fields_present: [risk_score, engagement_scope]</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fields_missing: [partner_signature, independence_signoff]</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Review this workpaper for SOP compliance."},</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  {"role": "assistant", "content": "ENGAGEMENT TYPE: NPO-GAAS</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FINDINGS:</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1. partner_signature blank — per SOP §2.1</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2. independence_signoff absent — per SOP §5.1</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RECOMMENDATION: Do not accept engagement until items 1–2 resolved."}</a:t>
            </a:r>
            <a:endParaRPr lang="en-US" sz="800" dirty="0"/>
          </a:p>
          <a:p>
            <a:pPr indent="0" marL="0">
              <a:buNone/>
            </a:pPr>
            <a:r>
              <a:rPr lang="en-US" sz="800" dirty="0">
                <a:solidFill>
                  <a:srgbClr val="A8D8A8"/>
                </a:solidFill>
                <a:latin typeface="Courier New" pitchFamily="34" charset="0"/>
                <a:ea typeface="Courier New" pitchFamily="34" charset="-122"/>
                <a:cs typeface="Courier New" pitchFamily="34" charset="-120"/>
              </a:rPr>
              <a:t>]}</a:t>
            </a:r>
            <a:endParaRPr lang="en-US" sz="800" dirty="0"/>
          </a:p>
        </p:txBody>
      </p:sp>
      <p:sp>
        <p:nvSpPr>
          <p:cNvPr id="11" name="Shape 9"/>
          <p:cNvSpPr/>
          <p:nvPr/>
        </p:nvSpPr>
        <p:spPr>
          <a:xfrm>
            <a:off x="347472" y="3255264"/>
            <a:ext cx="4114800" cy="74980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9000"/>
              </a:srgbClr>
            </a:outerShdw>
          </a:effectLst>
        </p:spPr>
      </p:sp>
      <p:sp>
        <p:nvSpPr>
          <p:cNvPr id="12" name="Shape 10"/>
          <p:cNvSpPr/>
          <p:nvPr/>
        </p:nvSpPr>
        <p:spPr>
          <a:xfrm>
            <a:off x="347472" y="3255264"/>
            <a:ext cx="54864" cy="749808"/>
          </a:xfrm>
          <a:prstGeom prst="rect">
            <a:avLst/>
          </a:prstGeom>
          <a:solidFill>
            <a:srgbClr val="C0392B"/>
          </a:solidFill>
          <a:ln w="12700">
            <a:solidFill>
              <a:srgbClr val="C0392B"/>
            </a:solidFill>
            <a:prstDash val="solid"/>
          </a:ln>
        </p:spPr>
      </p:sp>
      <p:sp>
        <p:nvSpPr>
          <p:cNvPr id="13" name="Shape 11"/>
          <p:cNvSpPr/>
          <p:nvPr/>
        </p:nvSpPr>
        <p:spPr>
          <a:xfrm>
            <a:off x="475488" y="3456432"/>
            <a:ext cx="256032" cy="256032"/>
          </a:xfrm>
          <a:prstGeom prst="ellipse">
            <a:avLst/>
          </a:prstGeom>
          <a:solidFill>
            <a:srgbClr val="C0392B"/>
          </a:solidFill>
          <a:ln w="12700">
            <a:solidFill>
              <a:srgbClr val="C0392B"/>
            </a:solidFill>
            <a:prstDash val="solid"/>
          </a:ln>
        </p:spPr>
      </p:sp>
      <p:sp>
        <p:nvSpPr>
          <p:cNvPr id="14" name="Text 12"/>
          <p:cNvSpPr/>
          <p:nvPr/>
        </p:nvSpPr>
        <p:spPr>
          <a:xfrm>
            <a:off x="475488" y="3456432"/>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5" name="Text 13"/>
          <p:cNvSpPr/>
          <p:nvPr/>
        </p:nvSpPr>
        <p:spPr>
          <a:xfrm>
            <a:off x="822960" y="3346704"/>
            <a:ext cx="3474720" cy="237744"/>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json.dumps not json.dump</a:t>
            </a:r>
            <a:endParaRPr lang="en-US" sz="950" dirty="0"/>
          </a:p>
        </p:txBody>
      </p:sp>
      <p:sp>
        <p:nvSpPr>
          <p:cNvPr id="16" name="Text 14"/>
          <p:cNvSpPr/>
          <p:nvPr/>
        </p:nvSpPr>
        <p:spPr>
          <a:xfrm>
            <a:off x="822960" y="3584448"/>
            <a:ext cx="3474720" cy="347472"/>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json.dump writes formatted JSON with newlines. json.dumps writes a single-line string. JSONL must be exactly one JSON object per line — never multi-line.</a:t>
            </a:r>
            <a:endParaRPr lang="en-US" sz="850" dirty="0"/>
          </a:p>
        </p:txBody>
      </p:sp>
      <p:sp>
        <p:nvSpPr>
          <p:cNvPr id="17" name="Shape 15"/>
          <p:cNvSpPr/>
          <p:nvPr/>
        </p:nvSpPr>
        <p:spPr>
          <a:xfrm>
            <a:off x="4663440" y="3255264"/>
            <a:ext cx="4114800" cy="74980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9000"/>
              </a:srgbClr>
            </a:outerShdw>
          </a:effectLst>
        </p:spPr>
      </p:sp>
      <p:sp>
        <p:nvSpPr>
          <p:cNvPr id="18" name="Shape 16"/>
          <p:cNvSpPr/>
          <p:nvPr/>
        </p:nvSpPr>
        <p:spPr>
          <a:xfrm>
            <a:off x="4663440" y="3255264"/>
            <a:ext cx="54864" cy="749808"/>
          </a:xfrm>
          <a:prstGeom prst="rect">
            <a:avLst/>
          </a:prstGeom>
          <a:solidFill>
            <a:srgbClr val="C0392B"/>
          </a:solidFill>
          <a:ln w="12700">
            <a:solidFill>
              <a:srgbClr val="C0392B"/>
            </a:solidFill>
            <a:prstDash val="solid"/>
          </a:ln>
        </p:spPr>
      </p:sp>
      <p:sp>
        <p:nvSpPr>
          <p:cNvPr id="19" name="Shape 17"/>
          <p:cNvSpPr/>
          <p:nvPr/>
        </p:nvSpPr>
        <p:spPr>
          <a:xfrm>
            <a:off x="4791456" y="3456432"/>
            <a:ext cx="256032" cy="256032"/>
          </a:xfrm>
          <a:prstGeom prst="ellipse">
            <a:avLst/>
          </a:prstGeom>
          <a:solidFill>
            <a:srgbClr val="C0392B"/>
          </a:solidFill>
          <a:ln w="12700">
            <a:solidFill>
              <a:srgbClr val="C0392B"/>
            </a:solidFill>
            <a:prstDash val="solid"/>
          </a:ln>
        </p:spPr>
      </p:sp>
      <p:sp>
        <p:nvSpPr>
          <p:cNvPr id="20" name="Text 18"/>
          <p:cNvSpPr/>
          <p:nvPr/>
        </p:nvSpPr>
        <p:spPr>
          <a:xfrm>
            <a:off x="4791456" y="3456432"/>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1" name="Text 19"/>
          <p:cNvSpPr/>
          <p:nvPr/>
        </p:nvSpPr>
        <p:spPr>
          <a:xfrm>
            <a:off x="5138928" y="3346704"/>
            <a:ext cx="3474720" cy="237744"/>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Append mode 'a' on file open</a:t>
            </a:r>
            <a:endParaRPr lang="en-US" sz="950" dirty="0"/>
          </a:p>
        </p:txBody>
      </p:sp>
      <p:sp>
        <p:nvSpPr>
          <p:cNvPr id="22" name="Text 20"/>
          <p:cNvSpPr/>
          <p:nvPr/>
        </p:nvSpPr>
        <p:spPr>
          <a:xfrm>
            <a:off x="5138928" y="3584448"/>
            <a:ext cx="3474720" cy="347472"/>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Every workpaper appends one line. Opening in 'w' mode would overwrite the entire dataset on every call.</a:t>
            </a:r>
            <a:endParaRPr lang="en-US" sz="850" dirty="0"/>
          </a:p>
        </p:txBody>
      </p:sp>
      <p:sp>
        <p:nvSpPr>
          <p:cNvPr id="23" name="Shape 21"/>
          <p:cNvSpPr/>
          <p:nvPr/>
        </p:nvSpPr>
        <p:spPr>
          <a:xfrm>
            <a:off x="347472" y="4078224"/>
            <a:ext cx="4114800" cy="74980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9000"/>
              </a:srgbClr>
            </a:outerShdw>
          </a:effectLst>
        </p:spPr>
      </p:sp>
      <p:sp>
        <p:nvSpPr>
          <p:cNvPr id="24" name="Shape 22"/>
          <p:cNvSpPr/>
          <p:nvPr/>
        </p:nvSpPr>
        <p:spPr>
          <a:xfrm>
            <a:off x="347472" y="4078224"/>
            <a:ext cx="54864" cy="749808"/>
          </a:xfrm>
          <a:prstGeom prst="rect">
            <a:avLst/>
          </a:prstGeom>
          <a:solidFill>
            <a:srgbClr val="D4A017"/>
          </a:solidFill>
          <a:ln w="12700">
            <a:solidFill>
              <a:srgbClr val="D4A017"/>
            </a:solidFill>
            <a:prstDash val="solid"/>
          </a:ln>
        </p:spPr>
      </p:sp>
      <p:sp>
        <p:nvSpPr>
          <p:cNvPr id="25" name="Shape 23"/>
          <p:cNvSpPr/>
          <p:nvPr/>
        </p:nvSpPr>
        <p:spPr>
          <a:xfrm>
            <a:off x="475488" y="4279392"/>
            <a:ext cx="256032" cy="256032"/>
          </a:xfrm>
          <a:prstGeom prst="ellipse">
            <a:avLst/>
          </a:prstGeom>
          <a:solidFill>
            <a:srgbClr val="D4A017"/>
          </a:solidFill>
          <a:ln w="12700">
            <a:solidFill>
              <a:srgbClr val="D4A017"/>
            </a:solidFill>
            <a:prstDash val="solid"/>
          </a:ln>
        </p:spPr>
      </p:sp>
      <p:sp>
        <p:nvSpPr>
          <p:cNvPr id="26" name="Text 24"/>
          <p:cNvSpPr/>
          <p:nvPr/>
        </p:nvSpPr>
        <p:spPr>
          <a:xfrm>
            <a:off x="475488" y="4279392"/>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7" name="Text 25"/>
          <p:cNvSpPr/>
          <p:nvPr/>
        </p:nvSpPr>
        <p:spPr>
          <a:xfrm>
            <a:off x="822960" y="4169664"/>
            <a:ext cx="3474720" cy="237744"/>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Deduplicate before upload</a:t>
            </a:r>
            <a:endParaRPr lang="en-US" sz="950" dirty="0"/>
          </a:p>
        </p:txBody>
      </p:sp>
      <p:sp>
        <p:nvSpPr>
          <p:cNvPr id="28" name="Text 26"/>
          <p:cNvSpPr/>
          <p:nvPr/>
        </p:nvSpPr>
        <p:spPr>
          <a:xfrm>
            <a:off x="822960" y="4407408"/>
            <a:ext cx="3474720" cy="347472"/>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Hash every line with sha256(json.dumps(pair)). Remove exact duplicates. Duplicates silently cause overfitting on repeated patterns.</a:t>
            </a:r>
            <a:endParaRPr lang="en-US" sz="850" dirty="0"/>
          </a:p>
        </p:txBody>
      </p:sp>
      <p:sp>
        <p:nvSpPr>
          <p:cNvPr id="29" name="Shape 27"/>
          <p:cNvSpPr/>
          <p:nvPr/>
        </p:nvSpPr>
        <p:spPr>
          <a:xfrm>
            <a:off x="4663440" y="4078224"/>
            <a:ext cx="4114800" cy="74980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9000"/>
              </a:srgbClr>
            </a:outerShdw>
          </a:effectLst>
        </p:spPr>
      </p:sp>
      <p:sp>
        <p:nvSpPr>
          <p:cNvPr id="30" name="Shape 28"/>
          <p:cNvSpPr/>
          <p:nvPr/>
        </p:nvSpPr>
        <p:spPr>
          <a:xfrm>
            <a:off x="4663440" y="4078224"/>
            <a:ext cx="54864" cy="749808"/>
          </a:xfrm>
          <a:prstGeom prst="rect">
            <a:avLst/>
          </a:prstGeom>
          <a:solidFill>
            <a:srgbClr val="D4A017"/>
          </a:solidFill>
          <a:ln w="12700">
            <a:solidFill>
              <a:srgbClr val="D4A017"/>
            </a:solidFill>
            <a:prstDash val="solid"/>
          </a:ln>
        </p:spPr>
      </p:sp>
      <p:sp>
        <p:nvSpPr>
          <p:cNvPr id="31" name="Shape 29"/>
          <p:cNvSpPr/>
          <p:nvPr/>
        </p:nvSpPr>
        <p:spPr>
          <a:xfrm>
            <a:off x="4791456" y="4279392"/>
            <a:ext cx="256032" cy="256032"/>
          </a:xfrm>
          <a:prstGeom prst="ellipse">
            <a:avLst/>
          </a:prstGeom>
          <a:solidFill>
            <a:srgbClr val="D4A017"/>
          </a:solidFill>
          <a:ln w="12700">
            <a:solidFill>
              <a:srgbClr val="D4A017"/>
            </a:solidFill>
            <a:prstDash val="solid"/>
          </a:ln>
        </p:spPr>
      </p:sp>
      <p:sp>
        <p:nvSpPr>
          <p:cNvPr id="32" name="Text 30"/>
          <p:cNvSpPr/>
          <p:nvPr/>
        </p:nvSpPr>
        <p:spPr>
          <a:xfrm>
            <a:off x="4791456" y="4279392"/>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3" name="Text 31"/>
          <p:cNvSpPr/>
          <p:nvPr/>
        </p:nvSpPr>
        <p:spPr>
          <a:xfrm>
            <a:off x="5138928" y="4169664"/>
            <a:ext cx="3474720" cy="237744"/>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Two separate files per stage</a:t>
            </a:r>
            <a:endParaRPr lang="en-US" sz="950" dirty="0"/>
          </a:p>
        </p:txBody>
      </p:sp>
      <p:sp>
        <p:nvSpPr>
          <p:cNvPr id="34" name="Text 32"/>
          <p:cNvSpPr/>
          <p:nvPr/>
        </p:nvSpPr>
        <p:spPr>
          <a:xfrm>
            <a:off x="5138928" y="4407408"/>
            <a:ext cx="3474720" cy="347472"/>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stage2_domain.jsonl and stage3_firm.jsonl. Never mix. Stage 2 and 3 are separate fine-tuning runs — mixed data trains neither well.</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365760" y="219456"/>
            <a:ext cx="2104034" cy="256032"/>
          </a:xfrm>
          <a:prstGeom prst="rect">
            <a:avLst/>
          </a:prstGeom>
          <a:solidFill>
            <a:srgbClr val="0E7C7B"/>
          </a:solidFill>
          <a:ln w="12700">
            <a:solidFill>
              <a:srgbClr val="0E7C7B"/>
            </a:solidFill>
            <a:prstDash val="solid"/>
          </a:ln>
        </p:spPr>
      </p:sp>
      <p:sp>
        <p:nvSpPr>
          <p:cNvPr id="3" name="Text 1"/>
          <p:cNvSpPr/>
          <p:nvPr/>
        </p:nvSpPr>
        <p:spPr>
          <a:xfrm>
            <a:off x="365760" y="219456"/>
            <a:ext cx="2104034"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STAGE 7 · QUALITY GATES</a:t>
            </a:r>
            <a:endParaRPr lang="en-US" sz="850" dirty="0"/>
          </a:p>
        </p:txBody>
      </p:sp>
      <p:sp>
        <p:nvSpPr>
          <p:cNvPr id="4" name="Text 2"/>
          <p:cNvSpPr/>
          <p:nvPr/>
        </p:nvSpPr>
        <p:spPr>
          <a:xfrm>
            <a:off x="365760" y="548640"/>
            <a:ext cx="8412480" cy="512064"/>
          </a:xfrm>
          <a:prstGeom prst="rect">
            <a:avLst/>
          </a:prstGeom>
          <a:noFill/>
          <a:ln/>
        </p:spPr>
        <p:txBody>
          <a:bodyPr wrap="square" lIns="0" tIns="0" rIns="0" bIns="0" rtlCol="0" anchor="ctr"/>
          <a:lstStyle/>
          <a:p>
            <a:pPr indent="0" marL="0">
              <a:buNone/>
            </a:pPr>
            <a:r>
              <a:rPr lang="en-US" sz="2600" b="1" dirty="0">
                <a:solidFill>
                  <a:srgbClr val="0D1117"/>
                </a:solidFill>
                <a:latin typeface="Calibri" pitchFamily="34" charset="0"/>
                <a:ea typeface="Calibri" pitchFamily="34" charset="-122"/>
                <a:cs typeface="Calibri" pitchFamily="34" charset="-120"/>
              </a:rPr>
              <a:t>Four quality gates — a pair must pass all four to enter training</a:t>
            </a:r>
            <a:endParaRPr lang="en-US" sz="2600" dirty="0"/>
          </a:p>
        </p:txBody>
      </p:sp>
      <p:sp>
        <p:nvSpPr>
          <p:cNvPr id="5" name="Text 3"/>
          <p:cNvSpPr/>
          <p:nvPr/>
        </p:nvSpPr>
        <p:spPr>
          <a:xfrm>
            <a:off x="365760" y="1042416"/>
            <a:ext cx="8412480" cy="237744"/>
          </a:xfrm>
          <a:prstGeom prst="rect">
            <a:avLst/>
          </a:prstGeom>
          <a:noFill/>
          <a:ln/>
        </p:spPr>
        <p:txBody>
          <a:bodyPr wrap="square" lIns="0" tIns="0" rIns="0" bIns="0" rtlCol="0" anchor="ctr"/>
          <a:lstStyle/>
          <a:p>
            <a:pPr indent="0" marL="0">
              <a:buNone/>
            </a:pPr>
            <a:r>
              <a:rPr lang="en-US" sz="1100" dirty="0">
                <a:solidFill>
                  <a:srgbClr val="718096"/>
                </a:solidFill>
                <a:latin typeface="Calibri" pitchFamily="34" charset="0"/>
                <a:ea typeface="Calibri" pitchFamily="34" charset="-122"/>
                <a:cs typeface="Calibri" pitchFamily="34" charset="-120"/>
              </a:rPr>
              <a:t>These are not guidelines. A pair that fails any gate does not enter the JSONL file. No exceptions.</a:t>
            </a:r>
            <a:endParaRPr lang="en-US" sz="1100" dirty="0"/>
          </a:p>
        </p:txBody>
      </p:sp>
      <p:sp>
        <p:nvSpPr>
          <p:cNvPr id="6" name="Shape 4"/>
          <p:cNvSpPr/>
          <p:nvPr/>
        </p:nvSpPr>
        <p:spPr>
          <a:xfrm>
            <a:off x="347472" y="1389888"/>
            <a:ext cx="8449056" cy="80467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9000"/>
              </a:srgbClr>
            </a:outerShdw>
          </a:effectLst>
        </p:spPr>
      </p:sp>
      <p:sp>
        <p:nvSpPr>
          <p:cNvPr id="7" name="Shape 5"/>
          <p:cNvSpPr/>
          <p:nvPr/>
        </p:nvSpPr>
        <p:spPr>
          <a:xfrm>
            <a:off x="347472" y="1389888"/>
            <a:ext cx="54864" cy="804672"/>
          </a:xfrm>
          <a:prstGeom prst="rect">
            <a:avLst/>
          </a:prstGeom>
          <a:solidFill>
            <a:srgbClr val="0E7C7B"/>
          </a:solidFill>
          <a:ln w="12700">
            <a:solidFill>
              <a:srgbClr val="0E7C7B"/>
            </a:solidFill>
            <a:prstDash val="solid"/>
          </a:ln>
        </p:spPr>
      </p:sp>
      <p:sp>
        <p:nvSpPr>
          <p:cNvPr id="8" name="Shape 6"/>
          <p:cNvSpPr/>
          <p:nvPr/>
        </p:nvSpPr>
        <p:spPr>
          <a:xfrm>
            <a:off x="475488" y="1517904"/>
            <a:ext cx="658368" cy="256032"/>
          </a:xfrm>
          <a:prstGeom prst="rect">
            <a:avLst/>
          </a:prstGeom>
          <a:solidFill>
            <a:srgbClr val="0E7C7B"/>
          </a:solidFill>
          <a:ln w="12700">
            <a:solidFill>
              <a:srgbClr val="0E7C7B"/>
            </a:solidFill>
            <a:prstDash val="solid"/>
          </a:ln>
        </p:spPr>
      </p:sp>
      <p:sp>
        <p:nvSpPr>
          <p:cNvPr id="9" name="Text 7"/>
          <p:cNvSpPr/>
          <p:nvPr/>
        </p:nvSpPr>
        <p:spPr>
          <a:xfrm>
            <a:off x="475488" y="1517904"/>
            <a:ext cx="658368"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Gate 1</a:t>
            </a:r>
            <a:endParaRPr lang="en-US" sz="850" dirty="0"/>
          </a:p>
        </p:txBody>
      </p:sp>
      <p:sp>
        <p:nvSpPr>
          <p:cNvPr id="10" name="Text 8"/>
          <p:cNvSpPr/>
          <p:nvPr/>
        </p:nvSpPr>
        <p:spPr>
          <a:xfrm>
            <a:off x="1243584" y="1481328"/>
            <a:ext cx="2926080" cy="256032"/>
          </a:xfrm>
          <a:prstGeom prst="rect">
            <a:avLst/>
          </a:prstGeom>
          <a:noFill/>
          <a:ln/>
        </p:spPr>
        <p:txBody>
          <a:bodyPr wrap="square" lIns="0" tIns="0" rIns="0" bIns="0" rtlCol="0" anchor="ctr"/>
          <a:lstStyle/>
          <a:p>
            <a:pPr indent="0" marL="0">
              <a:buNone/>
            </a:pPr>
            <a:r>
              <a:rPr lang="en-US" sz="1100" b="1" dirty="0">
                <a:solidFill>
                  <a:srgbClr val="0D1117"/>
                </a:solidFill>
                <a:latin typeface="Calibri" pitchFamily="34" charset="0"/>
                <a:ea typeface="Calibri" pitchFamily="34" charset="-122"/>
                <a:cs typeface="Calibri" pitchFamily="34" charset="-120"/>
              </a:rPr>
              <a:t>Extraction confidence ≥ 0.7</a:t>
            </a:r>
            <a:endParaRPr lang="en-US" sz="1100" dirty="0"/>
          </a:p>
        </p:txBody>
      </p:sp>
      <p:sp>
        <p:nvSpPr>
          <p:cNvPr id="11" name="Text 9"/>
          <p:cNvSpPr/>
          <p:nvPr/>
        </p:nvSpPr>
        <p:spPr>
          <a:xfrm>
            <a:off x="1243584" y="1737360"/>
            <a:ext cx="5943600" cy="347472"/>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extraction_confidence comes from agreement across pdfplumber, Docling, and LLM extractor. Below 0.7 means extractors disagree — the record goes to human review, gets corrected, returns as 1.0. It does not enter training in its uncorrected state.</a:t>
            </a:r>
            <a:endParaRPr lang="en-US" sz="850" dirty="0"/>
          </a:p>
        </p:txBody>
      </p:sp>
      <p:sp>
        <p:nvSpPr>
          <p:cNvPr id="12" name="Text 10"/>
          <p:cNvSpPr/>
          <p:nvPr/>
        </p:nvSpPr>
        <p:spPr>
          <a:xfrm>
            <a:off x="7242048" y="1481328"/>
            <a:ext cx="1426464" cy="603504"/>
          </a:xfrm>
          <a:prstGeom prst="rect">
            <a:avLst/>
          </a:prstGeom>
          <a:noFill/>
          <a:ln/>
        </p:spPr>
        <p:txBody>
          <a:bodyPr wrap="square" lIns="0" tIns="0" rIns="0" bIns="0" rtlCol="0" anchor="ctr"/>
          <a:lstStyle/>
          <a:p>
            <a:pPr indent="0" marL="0">
              <a:buNone/>
            </a:pPr>
            <a:r>
              <a:rPr lang="en-US" sz="800" i="1" dirty="0">
                <a:solidFill>
                  <a:srgbClr val="0E7C7B"/>
                </a:solidFill>
                <a:latin typeface="Calibri" pitchFamily="34" charset="0"/>
                <a:ea typeface="Calibri" pitchFamily="34" charset="-122"/>
                <a:cs typeface="Calibri" pitchFamily="34" charset="-120"/>
              </a:rPr>
              <a:t>Enforced by: normalize_workpaper()</a:t>
            </a:r>
            <a:endParaRPr lang="en-US" sz="800" dirty="0"/>
          </a:p>
        </p:txBody>
      </p:sp>
      <p:sp>
        <p:nvSpPr>
          <p:cNvPr id="13" name="Shape 11"/>
          <p:cNvSpPr/>
          <p:nvPr/>
        </p:nvSpPr>
        <p:spPr>
          <a:xfrm>
            <a:off x="347472" y="2286000"/>
            <a:ext cx="8449056" cy="80467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9000"/>
              </a:srgbClr>
            </a:outerShdw>
          </a:effectLst>
        </p:spPr>
      </p:sp>
      <p:sp>
        <p:nvSpPr>
          <p:cNvPr id="14" name="Shape 12"/>
          <p:cNvSpPr/>
          <p:nvPr/>
        </p:nvSpPr>
        <p:spPr>
          <a:xfrm>
            <a:off x="347472" y="2286000"/>
            <a:ext cx="54864" cy="804672"/>
          </a:xfrm>
          <a:prstGeom prst="rect">
            <a:avLst/>
          </a:prstGeom>
          <a:solidFill>
            <a:srgbClr val="C0392B"/>
          </a:solidFill>
          <a:ln w="12700">
            <a:solidFill>
              <a:srgbClr val="C0392B"/>
            </a:solidFill>
            <a:prstDash val="solid"/>
          </a:ln>
        </p:spPr>
      </p:sp>
      <p:sp>
        <p:nvSpPr>
          <p:cNvPr id="15" name="Shape 13"/>
          <p:cNvSpPr/>
          <p:nvPr/>
        </p:nvSpPr>
        <p:spPr>
          <a:xfrm>
            <a:off x="475488" y="2414016"/>
            <a:ext cx="658368" cy="256032"/>
          </a:xfrm>
          <a:prstGeom prst="rect">
            <a:avLst/>
          </a:prstGeom>
          <a:solidFill>
            <a:srgbClr val="C0392B"/>
          </a:solidFill>
          <a:ln w="12700">
            <a:solidFill>
              <a:srgbClr val="C0392B"/>
            </a:solidFill>
            <a:prstDash val="solid"/>
          </a:ln>
        </p:spPr>
      </p:sp>
      <p:sp>
        <p:nvSpPr>
          <p:cNvPr id="16" name="Text 14"/>
          <p:cNvSpPr/>
          <p:nvPr/>
        </p:nvSpPr>
        <p:spPr>
          <a:xfrm>
            <a:off x="475488" y="2414016"/>
            <a:ext cx="658368"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Gate 2</a:t>
            </a:r>
            <a:endParaRPr lang="en-US" sz="850" dirty="0"/>
          </a:p>
        </p:txBody>
      </p:sp>
      <p:sp>
        <p:nvSpPr>
          <p:cNvPr id="17" name="Text 15"/>
          <p:cNvSpPr/>
          <p:nvPr/>
        </p:nvSpPr>
        <p:spPr>
          <a:xfrm>
            <a:off x="1243584" y="2377440"/>
            <a:ext cx="2926080" cy="256032"/>
          </a:xfrm>
          <a:prstGeom prst="rect">
            <a:avLst/>
          </a:prstGeom>
          <a:noFill/>
          <a:ln/>
        </p:spPr>
        <p:txBody>
          <a:bodyPr wrap="square" lIns="0" tIns="0" rIns="0" bIns="0" rtlCol="0" anchor="ctr"/>
          <a:lstStyle/>
          <a:p>
            <a:pPr indent="0" marL="0">
              <a:buNone/>
            </a:pPr>
            <a:r>
              <a:rPr lang="en-US" sz="1100" b="1" dirty="0">
                <a:solidFill>
                  <a:srgbClr val="0D1117"/>
                </a:solidFill>
                <a:latin typeface="Calibri" pitchFamily="34" charset="0"/>
                <a:ea typeface="Calibri" pitchFamily="34" charset="-122"/>
                <a:cs typeface="Calibri" pitchFamily="34" charset="-120"/>
              </a:rPr>
              <a:t>auditor_approved = True</a:t>
            </a:r>
            <a:endParaRPr lang="en-US" sz="1100" dirty="0"/>
          </a:p>
        </p:txBody>
      </p:sp>
      <p:sp>
        <p:nvSpPr>
          <p:cNvPr id="18" name="Text 16"/>
          <p:cNvSpPr/>
          <p:nvPr/>
        </p:nvSpPr>
        <p:spPr>
          <a:xfrm>
            <a:off x="1243584" y="2633472"/>
            <a:ext cx="5943600" cy="347472"/>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Every pair has auditor_approved=False by default. The senior auditor must review the drafted completion, verify SOP citations, check client_type logic, and set this to True. No automation can set this field to True.</a:t>
            </a:r>
            <a:endParaRPr lang="en-US" sz="850" dirty="0"/>
          </a:p>
        </p:txBody>
      </p:sp>
      <p:sp>
        <p:nvSpPr>
          <p:cNvPr id="19" name="Text 17"/>
          <p:cNvSpPr/>
          <p:nvPr/>
        </p:nvSpPr>
        <p:spPr>
          <a:xfrm>
            <a:off x="7242048" y="2377440"/>
            <a:ext cx="1426464" cy="603504"/>
          </a:xfrm>
          <a:prstGeom prst="rect">
            <a:avLst/>
          </a:prstGeom>
          <a:noFill/>
          <a:ln/>
        </p:spPr>
        <p:txBody>
          <a:bodyPr wrap="square" lIns="0" tIns="0" rIns="0" bIns="0" rtlCol="0" anchor="ctr"/>
          <a:lstStyle/>
          <a:p>
            <a:pPr indent="0" marL="0">
              <a:buNone/>
            </a:pPr>
            <a:r>
              <a:rPr lang="en-US" sz="800" i="1" dirty="0">
                <a:solidFill>
                  <a:srgbClr val="C0392B"/>
                </a:solidFill>
                <a:latin typeface="Calibri" pitchFamily="34" charset="0"/>
                <a:ea typeface="Calibri" pitchFamily="34" charset="-122"/>
                <a:cs typeface="Calibri" pitchFamily="34" charset="-120"/>
              </a:rPr>
              <a:t>Enforced by: review_log.csv sign-off</a:t>
            </a:r>
            <a:endParaRPr lang="en-US" sz="800" dirty="0"/>
          </a:p>
        </p:txBody>
      </p:sp>
      <p:sp>
        <p:nvSpPr>
          <p:cNvPr id="20" name="Shape 18"/>
          <p:cNvSpPr/>
          <p:nvPr/>
        </p:nvSpPr>
        <p:spPr>
          <a:xfrm>
            <a:off x="347472" y="3182112"/>
            <a:ext cx="8449056" cy="80467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9000"/>
              </a:srgbClr>
            </a:outerShdw>
          </a:effectLst>
        </p:spPr>
      </p:sp>
      <p:sp>
        <p:nvSpPr>
          <p:cNvPr id="21" name="Shape 19"/>
          <p:cNvSpPr/>
          <p:nvPr/>
        </p:nvSpPr>
        <p:spPr>
          <a:xfrm>
            <a:off x="347472" y="3182112"/>
            <a:ext cx="54864" cy="804672"/>
          </a:xfrm>
          <a:prstGeom prst="rect">
            <a:avLst/>
          </a:prstGeom>
          <a:solidFill>
            <a:srgbClr val="D4A017"/>
          </a:solidFill>
          <a:ln w="12700">
            <a:solidFill>
              <a:srgbClr val="D4A017"/>
            </a:solidFill>
            <a:prstDash val="solid"/>
          </a:ln>
        </p:spPr>
      </p:sp>
      <p:sp>
        <p:nvSpPr>
          <p:cNvPr id="22" name="Shape 20"/>
          <p:cNvSpPr/>
          <p:nvPr/>
        </p:nvSpPr>
        <p:spPr>
          <a:xfrm>
            <a:off x="475488" y="3310128"/>
            <a:ext cx="658368" cy="256032"/>
          </a:xfrm>
          <a:prstGeom prst="rect">
            <a:avLst/>
          </a:prstGeom>
          <a:solidFill>
            <a:srgbClr val="D4A017"/>
          </a:solidFill>
          <a:ln w="12700">
            <a:solidFill>
              <a:srgbClr val="D4A017"/>
            </a:solidFill>
            <a:prstDash val="solid"/>
          </a:ln>
        </p:spPr>
      </p:sp>
      <p:sp>
        <p:nvSpPr>
          <p:cNvPr id="23" name="Text 21"/>
          <p:cNvSpPr/>
          <p:nvPr/>
        </p:nvSpPr>
        <p:spPr>
          <a:xfrm>
            <a:off x="475488" y="3310128"/>
            <a:ext cx="658368"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Gate 3</a:t>
            </a:r>
            <a:endParaRPr lang="en-US" sz="850" dirty="0"/>
          </a:p>
        </p:txBody>
      </p:sp>
      <p:sp>
        <p:nvSpPr>
          <p:cNvPr id="24" name="Text 22"/>
          <p:cNvSpPr/>
          <p:nvPr/>
        </p:nvSpPr>
        <p:spPr>
          <a:xfrm>
            <a:off x="1243584" y="3273552"/>
            <a:ext cx="2926080" cy="256032"/>
          </a:xfrm>
          <a:prstGeom prst="rect">
            <a:avLst/>
          </a:prstGeom>
          <a:noFill/>
          <a:ln/>
        </p:spPr>
        <p:txBody>
          <a:bodyPr wrap="square" lIns="0" tIns="0" rIns="0" bIns="0" rtlCol="0" anchor="ctr"/>
          <a:lstStyle/>
          <a:p>
            <a:pPr indent="0" marL="0">
              <a:buNone/>
            </a:pPr>
            <a:r>
              <a:rPr lang="en-US" sz="1100" b="1" dirty="0">
                <a:solidFill>
                  <a:srgbClr val="0D1117"/>
                </a:solidFill>
                <a:latin typeface="Calibri" pitchFamily="34" charset="0"/>
                <a:ea typeface="Calibri" pitchFamily="34" charset="-122"/>
                <a:cs typeface="Calibri" pitchFamily="34" charset="-120"/>
              </a:rPr>
              <a:t>No exact duplicates</a:t>
            </a:r>
            <a:endParaRPr lang="en-US" sz="1100" dirty="0"/>
          </a:p>
        </p:txBody>
      </p:sp>
      <p:sp>
        <p:nvSpPr>
          <p:cNvPr id="25" name="Text 23"/>
          <p:cNvSpPr/>
          <p:nvPr/>
        </p:nvSpPr>
        <p:spPr>
          <a:xfrm>
            <a:off x="1243584" y="3529584"/>
            <a:ext cx="5943600" cy="347472"/>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sha256 hash of the full JSON string is computed for every pair. If the hash already exists in the dataset, the pair is discarded before appending. Duplicates cause overfitting on repeated patterns without adding signal.</a:t>
            </a:r>
            <a:endParaRPr lang="en-US" sz="850" dirty="0"/>
          </a:p>
        </p:txBody>
      </p:sp>
      <p:sp>
        <p:nvSpPr>
          <p:cNvPr id="26" name="Text 24"/>
          <p:cNvSpPr/>
          <p:nvPr/>
        </p:nvSpPr>
        <p:spPr>
          <a:xfrm>
            <a:off x="7242048" y="3273552"/>
            <a:ext cx="1426464" cy="603504"/>
          </a:xfrm>
          <a:prstGeom prst="rect">
            <a:avLst/>
          </a:prstGeom>
          <a:noFill/>
          <a:ln/>
        </p:spPr>
        <p:txBody>
          <a:bodyPr wrap="square" lIns="0" tIns="0" rIns="0" bIns="0" rtlCol="0" anchor="ctr"/>
          <a:lstStyle/>
          <a:p>
            <a:pPr indent="0" marL="0">
              <a:buNone/>
            </a:pPr>
            <a:r>
              <a:rPr lang="en-US" sz="800" i="1" dirty="0">
                <a:solidFill>
                  <a:srgbClr val="D4A017"/>
                </a:solidFill>
                <a:latin typeface="Calibri" pitchFamily="34" charset="0"/>
                <a:ea typeface="Calibri" pitchFamily="34" charset="-122"/>
                <a:cs typeface="Calibri" pitchFamily="34" charset="-120"/>
              </a:rPr>
              <a:t>Enforced by: dedup_check() before append</a:t>
            </a:r>
            <a:endParaRPr lang="en-US" sz="800" dirty="0"/>
          </a:p>
        </p:txBody>
      </p:sp>
      <p:sp>
        <p:nvSpPr>
          <p:cNvPr id="27" name="Shape 25"/>
          <p:cNvSpPr/>
          <p:nvPr/>
        </p:nvSpPr>
        <p:spPr>
          <a:xfrm>
            <a:off x="347472" y="4078224"/>
            <a:ext cx="8449056" cy="80467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9000"/>
              </a:srgbClr>
            </a:outerShdw>
          </a:effectLst>
        </p:spPr>
      </p:sp>
      <p:sp>
        <p:nvSpPr>
          <p:cNvPr id="28" name="Shape 26"/>
          <p:cNvSpPr/>
          <p:nvPr/>
        </p:nvSpPr>
        <p:spPr>
          <a:xfrm>
            <a:off x="347472" y="4078224"/>
            <a:ext cx="54864" cy="804672"/>
          </a:xfrm>
          <a:prstGeom prst="rect">
            <a:avLst/>
          </a:prstGeom>
          <a:solidFill>
            <a:srgbClr val="4C3B8A"/>
          </a:solidFill>
          <a:ln w="12700">
            <a:solidFill>
              <a:srgbClr val="4C3B8A"/>
            </a:solidFill>
            <a:prstDash val="solid"/>
          </a:ln>
        </p:spPr>
      </p:sp>
      <p:sp>
        <p:nvSpPr>
          <p:cNvPr id="29" name="Shape 27"/>
          <p:cNvSpPr/>
          <p:nvPr/>
        </p:nvSpPr>
        <p:spPr>
          <a:xfrm>
            <a:off x="475488" y="4206240"/>
            <a:ext cx="658368" cy="256032"/>
          </a:xfrm>
          <a:prstGeom prst="rect">
            <a:avLst/>
          </a:prstGeom>
          <a:solidFill>
            <a:srgbClr val="4C3B8A"/>
          </a:solidFill>
          <a:ln w="12700">
            <a:solidFill>
              <a:srgbClr val="4C3B8A"/>
            </a:solidFill>
            <a:prstDash val="solid"/>
          </a:ln>
        </p:spPr>
      </p:sp>
      <p:sp>
        <p:nvSpPr>
          <p:cNvPr id="30" name="Text 28"/>
          <p:cNvSpPr/>
          <p:nvPr/>
        </p:nvSpPr>
        <p:spPr>
          <a:xfrm>
            <a:off x="475488" y="4206240"/>
            <a:ext cx="658368"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Gate 4</a:t>
            </a:r>
            <a:endParaRPr lang="en-US" sz="850" dirty="0"/>
          </a:p>
        </p:txBody>
      </p:sp>
      <p:sp>
        <p:nvSpPr>
          <p:cNvPr id="31" name="Text 29"/>
          <p:cNvSpPr/>
          <p:nvPr/>
        </p:nvSpPr>
        <p:spPr>
          <a:xfrm>
            <a:off x="1243584" y="4169664"/>
            <a:ext cx="2926080" cy="256032"/>
          </a:xfrm>
          <a:prstGeom prst="rect">
            <a:avLst/>
          </a:prstGeom>
          <a:noFill/>
          <a:ln/>
        </p:spPr>
        <p:txBody>
          <a:bodyPr wrap="square" lIns="0" tIns="0" rIns="0" bIns="0" rtlCol="0" anchor="ctr"/>
          <a:lstStyle/>
          <a:p>
            <a:pPr indent="0" marL="0">
              <a:buNone/>
            </a:pPr>
            <a:r>
              <a:rPr lang="en-US" sz="1100" b="1" dirty="0">
                <a:solidFill>
                  <a:srgbClr val="0D1117"/>
                </a:solidFill>
                <a:latin typeface="Calibri" pitchFamily="34" charset="0"/>
                <a:ea typeface="Calibri" pitchFamily="34" charset="-122"/>
                <a:cs typeface="Calibri" pitchFamily="34" charset="-120"/>
              </a:rPr>
              <a:t>Stage isolation — domain vs firm</a:t>
            </a:r>
            <a:endParaRPr lang="en-US" sz="1100" dirty="0"/>
          </a:p>
        </p:txBody>
      </p:sp>
      <p:sp>
        <p:nvSpPr>
          <p:cNvPr id="32" name="Text 30"/>
          <p:cNvSpPr/>
          <p:nvPr/>
        </p:nvSpPr>
        <p:spPr>
          <a:xfrm>
            <a:off x="1243584" y="4425696"/>
            <a:ext cx="5943600" cy="347472"/>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Stage 2 pairs (GAAS, Yellow Book, Uniform Guidance domain knowledge) and Stage 3 pairs (HCLLP SOP, house style, §citations) are written to separate JSONL files and run as separate fine-tuning jobs. They are never merged.</a:t>
            </a:r>
            <a:endParaRPr lang="en-US" sz="850" dirty="0"/>
          </a:p>
        </p:txBody>
      </p:sp>
      <p:sp>
        <p:nvSpPr>
          <p:cNvPr id="33" name="Text 31"/>
          <p:cNvSpPr/>
          <p:nvPr/>
        </p:nvSpPr>
        <p:spPr>
          <a:xfrm>
            <a:off x="7242048" y="4169664"/>
            <a:ext cx="1426464" cy="603504"/>
          </a:xfrm>
          <a:prstGeom prst="rect">
            <a:avLst/>
          </a:prstGeom>
          <a:noFill/>
          <a:ln/>
        </p:spPr>
        <p:txBody>
          <a:bodyPr wrap="square" lIns="0" tIns="0" rIns="0" bIns="0" rtlCol="0" anchor="ctr"/>
          <a:lstStyle/>
          <a:p>
            <a:pPr indent="0" marL="0">
              <a:buNone/>
            </a:pPr>
            <a:r>
              <a:rPr lang="en-US" sz="800" i="1" dirty="0">
                <a:solidFill>
                  <a:srgbClr val="4C3B8A"/>
                </a:solidFill>
                <a:latin typeface="Calibri" pitchFamily="34" charset="0"/>
                <a:ea typeface="Calibri" pitchFamily="34" charset="-122"/>
                <a:cs typeface="Calibri" pitchFamily="34" charset="-120"/>
              </a:rPr>
              <a:t>Enforced by: filename convention — stage2_ / stage3_</a:t>
            </a:r>
            <a:endParaRPr lang="en-US" sz="800" dirty="0"/>
          </a:p>
        </p:txBody>
      </p:sp>
      <p:sp>
        <p:nvSpPr>
          <p:cNvPr id="34" name="Shape 32"/>
          <p:cNvSpPr/>
          <p:nvPr/>
        </p:nvSpPr>
        <p:spPr>
          <a:xfrm>
            <a:off x="347472" y="4937760"/>
            <a:ext cx="8449056" cy="36576"/>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9000"/>
              </a:srgbClr>
            </a:outerShdw>
          </a:effectLst>
        </p:spPr>
      </p:sp>
      <p:sp>
        <p:nvSpPr>
          <p:cNvPr id="35" name="Shape 33"/>
          <p:cNvSpPr/>
          <p:nvPr/>
        </p:nvSpPr>
        <p:spPr>
          <a:xfrm>
            <a:off x="347472" y="4956048"/>
            <a:ext cx="8449056" cy="274320"/>
          </a:xfrm>
          <a:prstGeom prst="rect">
            <a:avLst/>
          </a:prstGeom>
          <a:solidFill>
            <a:srgbClr val="EDF2F7"/>
          </a:solidFill>
          <a:ln w="12700">
            <a:solidFill>
              <a:srgbClr val="EDF2F7"/>
            </a:solidFill>
            <a:prstDash val="solid"/>
          </a:ln>
        </p:spPr>
      </p:sp>
      <p:sp>
        <p:nvSpPr>
          <p:cNvPr id="36" name="Text 34"/>
          <p:cNvSpPr/>
          <p:nvPr/>
        </p:nvSpPr>
        <p:spPr>
          <a:xfrm>
            <a:off x="438912" y="4956048"/>
            <a:ext cx="8266176" cy="274320"/>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Target dataset: 10–20 approved pairs per workpaper type × 4 client_type combos = ~280+ pairs for Planning Section alone. Quality &gt; quantity.</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365760" y="219456"/>
            <a:ext cx="2899562" cy="256032"/>
          </a:xfrm>
          <a:prstGeom prst="rect">
            <a:avLst/>
          </a:prstGeom>
          <a:solidFill>
            <a:srgbClr val="0E7C7B"/>
          </a:solidFill>
          <a:ln w="12700">
            <a:solidFill>
              <a:srgbClr val="0E7C7B"/>
            </a:solidFill>
            <a:prstDash val="solid"/>
          </a:ln>
        </p:spPr>
      </p:sp>
      <p:sp>
        <p:nvSpPr>
          <p:cNvPr id="3" name="Text 1"/>
          <p:cNvSpPr/>
          <p:nvPr/>
        </p:nvSpPr>
        <p:spPr>
          <a:xfrm>
            <a:off x="365760" y="219456"/>
            <a:ext cx="2899562"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OPTIMIZATION · LATENCY &amp; ACCURACY</a:t>
            </a:r>
            <a:endParaRPr lang="en-US" sz="850" dirty="0"/>
          </a:p>
        </p:txBody>
      </p:sp>
      <p:sp>
        <p:nvSpPr>
          <p:cNvPr id="4" name="Text 2"/>
          <p:cNvSpPr/>
          <p:nvPr/>
        </p:nvSpPr>
        <p:spPr>
          <a:xfrm>
            <a:off x="365760" y="548640"/>
            <a:ext cx="8412480" cy="512064"/>
          </a:xfrm>
          <a:prstGeom prst="rect">
            <a:avLst/>
          </a:prstGeom>
          <a:noFill/>
          <a:ln/>
        </p:spPr>
        <p:txBody>
          <a:bodyPr wrap="square" lIns="0" tIns="0" rIns="0" bIns="0" rtlCol="0" anchor="ctr"/>
          <a:lstStyle/>
          <a:p>
            <a:pPr indent="0" marL="0">
              <a:buNone/>
            </a:pPr>
            <a:r>
              <a:rPr lang="en-US" sz="2600" b="1" dirty="0">
                <a:solidFill>
                  <a:srgbClr val="0D1117"/>
                </a:solidFill>
                <a:latin typeface="Calibri" pitchFamily="34" charset="0"/>
                <a:ea typeface="Calibri" pitchFamily="34" charset="-122"/>
                <a:cs typeface="Calibri" pitchFamily="34" charset="-120"/>
              </a:rPr>
              <a:t>Where time is lost and how to cut it — plus accuracy levers</a:t>
            </a:r>
            <a:endParaRPr lang="en-US" sz="2600" dirty="0"/>
          </a:p>
        </p:txBody>
      </p:sp>
      <p:sp>
        <p:nvSpPr>
          <p:cNvPr id="5" name="Text 3"/>
          <p:cNvSpPr/>
          <p:nvPr/>
        </p:nvSpPr>
        <p:spPr>
          <a:xfrm>
            <a:off x="365760" y="1042416"/>
            <a:ext cx="8412480" cy="237744"/>
          </a:xfrm>
          <a:prstGeom prst="rect">
            <a:avLst/>
          </a:prstGeom>
          <a:noFill/>
          <a:ln/>
        </p:spPr>
        <p:txBody>
          <a:bodyPr wrap="square" lIns="0" tIns="0" rIns="0" bIns="0" rtlCol="0" anchor="ctr"/>
          <a:lstStyle/>
          <a:p>
            <a:pPr indent="0" marL="0">
              <a:buNone/>
            </a:pPr>
            <a:r>
              <a:rPr lang="en-US" sz="1100" dirty="0">
                <a:solidFill>
                  <a:srgbClr val="718096"/>
                </a:solidFill>
                <a:latin typeface="Calibri" pitchFamily="34" charset="0"/>
                <a:ea typeface="Calibri" pitchFamily="34" charset="-122"/>
                <a:cs typeface="Calibri" pitchFamily="34" charset="-120"/>
              </a:rPr>
              <a:t>Processing time matters for batch runs. Accuracy matters for training signal quality. Different fixes for each.</a:t>
            </a:r>
            <a:endParaRPr lang="en-US" sz="1100" dirty="0"/>
          </a:p>
        </p:txBody>
      </p:sp>
      <p:sp>
        <p:nvSpPr>
          <p:cNvPr id="6" name="Shape 4"/>
          <p:cNvSpPr/>
          <p:nvPr/>
        </p:nvSpPr>
        <p:spPr>
          <a:xfrm>
            <a:off x="347472" y="1371600"/>
            <a:ext cx="4206240" cy="22860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9000"/>
              </a:srgbClr>
            </a:outerShdw>
          </a:effectLst>
        </p:spPr>
      </p:sp>
      <p:sp>
        <p:nvSpPr>
          <p:cNvPr id="7" name="Shape 5"/>
          <p:cNvSpPr/>
          <p:nvPr/>
        </p:nvSpPr>
        <p:spPr>
          <a:xfrm>
            <a:off x="347472" y="1371600"/>
            <a:ext cx="54864" cy="2286000"/>
          </a:xfrm>
          <a:prstGeom prst="rect">
            <a:avLst/>
          </a:prstGeom>
          <a:solidFill>
            <a:srgbClr val="0E7C7B"/>
          </a:solidFill>
          <a:ln w="12700">
            <a:solidFill>
              <a:srgbClr val="0E7C7B"/>
            </a:solidFill>
            <a:prstDash val="solid"/>
          </a:ln>
        </p:spPr>
      </p:sp>
      <p:sp>
        <p:nvSpPr>
          <p:cNvPr id="8" name="Text 6"/>
          <p:cNvSpPr/>
          <p:nvPr/>
        </p:nvSpPr>
        <p:spPr>
          <a:xfrm>
            <a:off x="566928" y="1517904"/>
            <a:ext cx="3749040" cy="237744"/>
          </a:xfrm>
          <a:prstGeom prst="rect">
            <a:avLst/>
          </a:prstGeom>
          <a:noFill/>
          <a:ln/>
        </p:spPr>
        <p:txBody>
          <a:bodyPr wrap="square" lIns="0" tIns="0" rIns="0" bIns="0" rtlCol="0" anchor="ctr"/>
          <a:lstStyle/>
          <a:p>
            <a:pPr indent="0" marL="0">
              <a:buNone/>
            </a:pPr>
            <a:r>
              <a:rPr lang="en-US" sz="1050" b="1" dirty="0">
                <a:solidFill>
                  <a:srgbClr val="0E7C7B"/>
                </a:solidFill>
                <a:latin typeface="Calibri" pitchFamily="34" charset="0"/>
                <a:ea typeface="Calibri" pitchFamily="34" charset="-122"/>
                <a:cs typeface="Calibri" pitchFamily="34" charset="-120"/>
              </a:rPr>
              <a:t>Latency per workpaper</a:t>
            </a:r>
            <a:endParaRPr lang="en-US" sz="1050" dirty="0"/>
          </a:p>
        </p:txBody>
      </p:sp>
      <p:sp>
        <p:nvSpPr>
          <p:cNvPr id="9" name="Shape 7"/>
          <p:cNvSpPr/>
          <p:nvPr/>
        </p:nvSpPr>
        <p:spPr>
          <a:xfrm>
            <a:off x="438912" y="1865376"/>
            <a:ext cx="4005072" cy="292608"/>
          </a:xfrm>
          <a:prstGeom prst="rect">
            <a:avLst/>
          </a:prstGeom>
          <a:solidFill>
            <a:srgbClr val="EDF2F7"/>
          </a:solidFill>
          <a:ln w="12700">
            <a:solidFill>
              <a:srgbClr val="E2E8F0"/>
            </a:solidFill>
            <a:prstDash val="solid"/>
          </a:ln>
        </p:spPr>
      </p:sp>
      <p:sp>
        <p:nvSpPr>
          <p:cNvPr id="10" name="Text 8"/>
          <p:cNvSpPr/>
          <p:nvPr/>
        </p:nvSpPr>
        <p:spPr>
          <a:xfrm>
            <a:off x="530352" y="1865376"/>
            <a:ext cx="2743200" cy="292608"/>
          </a:xfrm>
          <a:prstGeom prst="rect">
            <a:avLst/>
          </a:prstGeom>
          <a:noFill/>
          <a:ln/>
        </p:spPr>
        <p:txBody>
          <a:bodyPr wrap="square" lIns="0" tIns="0" rIns="0" bIns="0" rtlCol="0" anchor="ctr"/>
          <a:lstStyle/>
          <a:p>
            <a:pPr indent="0" marL="0">
              <a:buNone/>
            </a:pPr>
            <a:r>
              <a:rPr lang="en-US" sz="850" dirty="0">
                <a:solidFill>
                  <a:srgbClr val="0D1117"/>
                </a:solidFill>
                <a:latin typeface="Calibri" pitchFamily="34" charset="0"/>
                <a:ea typeface="Calibri" pitchFamily="34" charset="-122"/>
                <a:cs typeface="Calibri" pitchFamily="34" charset="-120"/>
              </a:rPr>
              <a:t>Docling — digital PDF</a:t>
            </a:r>
            <a:endParaRPr lang="en-US" sz="850" dirty="0"/>
          </a:p>
        </p:txBody>
      </p:sp>
      <p:sp>
        <p:nvSpPr>
          <p:cNvPr id="11" name="Text 9"/>
          <p:cNvSpPr/>
          <p:nvPr/>
        </p:nvSpPr>
        <p:spPr>
          <a:xfrm>
            <a:off x="3291840" y="1865376"/>
            <a:ext cx="1005840" cy="292608"/>
          </a:xfrm>
          <a:prstGeom prst="rect">
            <a:avLst/>
          </a:prstGeom>
          <a:noFill/>
          <a:ln/>
        </p:spPr>
        <p:txBody>
          <a:bodyPr wrap="square" lIns="0" tIns="0" rIns="0" bIns="0" rtlCol="0" anchor="ctr"/>
          <a:lstStyle/>
          <a:p>
            <a:pPr indent="0" marL="0">
              <a:buNone/>
            </a:pPr>
            <a:r>
              <a:rPr lang="en-US" sz="850" b="1" dirty="0">
                <a:solidFill>
                  <a:srgbClr val="0E7C7B"/>
                </a:solidFill>
                <a:latin typeface="Calibri" pitchFamily="34" charset="0"/>
                <a:ea typeface="Calibri" pitchFamily="34" charset="-122"/>
                <a:cs typeface="Calibri" pitchFamily="34" charset="-120"/>
              </a:rPr>
              <a:t>2–5 sec</a:t>
            </a:r>
            <a:endParaRPr lang="en-US" sz="850" dirty="0"/>
          </a:p>
        </p:txBody>
      </p:sp>
      <p:sp>
        <p:nvSpPr>
          <p:cNvPr id="12" name="Shape 10"/>
          <p:cNvSpPr/>
          <p:nvPr/>
        </p:nvSpPr>
        <p:spPr>
          <a:xfrm>
            <a:off x="438912" y="2212848"/>
            <a:ext cx="4005072" cy="292608"/>
          </a:xfrm>
          <a:prstGeom prst="rect">
            <a:avLst/>
          </a:prstGeom>
          <a:solidFill>
            <a:srgbClr val="FFFFFF"/>
          </a:solidFill>
          <a:ln w="12700">
            <a:solidFill>
              <a:srgbClr val="E2E8F0"/>
            </a:solidFill>
            <a:prstDash val="solid"/>
          </a:ln>
        </p:spPr>
      </p:sp>
      <p:sp>
        <p:nvSpPr>
          <p:cNvPr id="13" name="Text 11"/>
          <p:cNvSpPr/>
          <p:nvPr/>
        </p:nvSpPr>
        <p:spPr>
          <a:xfrm>
            <a:off x="530352" y="2212848"/>
            <a:ext cx="2743200" cy="292608"/>
          </a:xfrm>
          <a:prstGeom prst="rect">
            <a:avLst/>
          </a:prstGeom>
          <a:noFill/>
          <a:ln/>
        </p:spPr>
        <p:txBody>
          <a:bodyPr wrap="square" lIns="0" tIns="0" rIns="0" bIns="0" rtlCol="0" anchor="ctr"/>
          <a:lstStyle/>
          <a:p>
            <a:pPr indent="0" marL="0">
              <a:buNone/>
            </a:pPr>
            <a:r>
              <a:rPr lang="en-US" sz="850" dirty="0">
                <a:solidFill>
                  <a:srgbClr val="0D1117"/>
                </a:solidFill>
                <a:latin typeface="Calibri" pitchFamily="34" charset="0"/>
                <a:ea typeface="Calibri" pitchFamily="34" charset="-122"/>
                <a:cs typeface="Calibri" pitchFamily="34" charset="-120"/>
              </a:rPr>
              <a:t>Docling + OCR — scanned</a:t>
            </a:r>
            <a:endParaRPr lang="en-US" sz="850" dirty="0"/>
          </a:p>
        </p:txBody>
      </p:sp>
      <p:sp>
        <p:nvSpPr>
          <p:cNvPr id="14" name="Text 12"/>
          <p:cNvSpPr/>
          <p:nvPr/>
        </p:nvSpPr>
        <p:spPr>
          <a:xfrm>
            <a:off x="3291840" y="2212848"/>
            <a:ext cx="1005840" cy="292608"/>
          </a:xfrm>
          <a:prstGeom prst="rect">
            <a:avLst/>
          </a:prstGeom>
          <a:noFill/>
          <a:ln/>
        </p:spPr>
        <p:txBody>
          <a:bodyPr wrap="square" lIns="0" tIns="0" rIns="0" bIns="0" rtlCol="0" anchor="ctr"/>
          <a:lstStyle/>
          <a:p>
            <a:pPr indent="0" marL="0">
              <a:buNone/>
            </a:pPr>
            <a:r>
              <a:rPr lang="en-US" sz="850" b="1" dirty="0">
                <a:solidFill>
                  <a:srgbClr val="0E7C7B"/>
                </a:solidFill>
                <a:latin typeface="Calibri" pitchFamily="34" charset="0"/>
                <a:ea typeface="Calibri" pitchFamily="34" charset="-122"/>
                <a:cs typeface="Calibri" pitchFamily="34" charset="-120"/>
              </a:rPr>
              <a:t>15–40 sec</a:t>
            </a:r>
            <a:endParaRPr lang="en-US" sz="850" dirty="0"/>
          </a:p>
        </p:txBody>
      </p:sp>
      <p:sp>
        <p:nvSpPr>
          <p:cNvPr id="15" name="Shape 13"/>
          <p:cNvSpPr/>
          <p:nvPr/>
        </p:nvSpPr>
        <p:spPr>
          <a:xfrm>
            <a:off x="438912" y="2560320"/>
            <a:ext cx="4005072" cy="292608"/>
          </a:xfrm>
          <a:prstGeom prst="rect">
            <a:avLst/>
          </a:prstGeom>
          <a:solidFill>
            <a:srgbClr val="EDF2F7"/>
          </a:solidFill>
          <a:ln w="12700">
            <a:solidFill>
              <a:srgbClr val="E2E8F0"/>
            </a:solidFill>
            <a:prstDash val="solid"/>
          </a:ln>
        </p:spPr>
      </p:sp>
      <p:sp>
        <p:nvSpPr>
          <p:cNvPr id="16" name="Text 14"/>
          <p:cNvSpPr/>
          <p:nvPr/>
        </p:nvSpPr>
        <p:spPr>
          <a:xfrm>
            <a:off x="530352" y="2560320"/>
            <a:ext cx="2743200" cy="292608"/>
          </a:xfrm>
          <a:prstGeom prst="rect">
            <a:avLst/>
          </a:prstGeom>
          <a:noFill/>
          <a:ln/>
        </p:spPr>
        <p:txBody>
          <a:bodyPr wrap="square" lIns="0" tIns="0" rIns="0" bIns="0" rtlCol="0" anchor="ctr"/>
          <a:lstStyle/>
          <a:p>
            <a:pPr indent="0" marL="0">
              <a:buNone/>
            </a:pPr>
            <a:r>
              <a:rPr lang="en-US" sz="850" dirty="0">
                <a:solidFill>
                  <a:srgbClr val="0D1117"/>
                </a:solidFill>
                <a:latin typeface="Calibri" pitchFamily="34" charset="0"/>
                <a:ea typeface="Calibri" pitchFamily="34" charset="-122"/>
                <a:cs typeface="Calibri" pitchFamily="34" charset="-120"/>
              </a:rPr>
              <a:t>python-docx / openpyxl</a:t>
            </a:r>
            <a:endParaRPr lang="en-US" sz="850" dirty="0"/>
          </a:p>
        </p:txBody>
      </p:sp>
      <p:sp>
        <p:nvSpPr>
          <p:cNvPr id="17" name="Text 15"/>
          <p:cNvSpPr/>
          <p:nvPr/>
        </p:nvSpPr>
        <p:spPr>
          <a:xfrm>
            <a:off x="3291840" y="2560320"/>
            <a:ext cx="1005840" cy="292608"/>
          </a:xfrm>
          <a:prstGeom prst="rect">
            <a:avLst/>
          </a:prstGeom>
          <a:noFill/>
          <a:ln/>
        </p:spPr>
        <p:txBody>
          <a:bodyPr wrap="square" lIns="0" tIns="0" rIns="0" bIns="0" rtlCol="0" anchor="ctr"/>
          <a:lstStyle/>
          <a:p>
            <a:pPr indent="0" marL="0">
              <a:buNone/>
            </a:pPr>
            <a:r>
              <a:rPr lang="en-US" sz="850" b="1" dirty="0">
                <a:solidFill>
                  <a:srgbClr val="0E7C7B"/>
                </a:solidFill>
                <a:latin typeface="Calibri" pitchFamily="34" charset="0"/>
                <a:ea typeface="Calibri" pitchFamily="34" charset="-122"/>
                <a:cs typeface="Calibri" pitchFamily="34" charset="-120"/>
              </a:rPr>
              <a:t>&lt; 1 sec</a:t>
            </a:r>
            <a:endParaRPr lang="en-US" sz="850" dirty="0"/>
          </a:p>
        </p:txBody>
      </p:sp>
      <p:sp>
        <p:nvSpPr>
          <p:cNvPr id="18" name="Shape 16"/>
          <p:cNvSpPr/>
          <p:nvPr/>
        </p:nvSpPr>
        <p:spPr>
          <a:xfrm>
            <a:off x="438912" y="2907792"/>
            <a:ext cx="4005072" cy="292608"/>
          </a:xfrm>
          <a:prstGeom prst="rect">
            <a:avLst/>
          </a:prstGeom>
          <a:solidFill>
            <a:srgbClr val="FFFFFF"/>
          </a:solidFill>
          <a:ln w="12700">
            <a:solidFill>
              <a:srgbClr val="E2E8F0"/>
            </a:solidFill>
            <a:prstDash val="solid"/>
          </a:ln>
        </p:spPr>
      </p:sp>
      <p:sp>
        <p:nvSpPr>
          <p:cNvPr id="19" name="Text 17"/>
          <p:cNvSpPr/>
          <p:nvPr/>
        </p:nvSpPr>
        <p:spPr>
          <a:xfrm>
            <a:off x="530352" y="2907792"/>
            <a:ext cx="2743200" cy="292608"/>
          </a:xfrm>
          <a:prstGeom prst="rect">
            <a:avLst/>
          </a:prstGeom>
          <a:noFill/>
          <a:ln/>
        </p:spPr>
        <p:txBody>
          <a:bodyPr wrap="square" lIns="0" tIns="0" rIns="0" bIns="0" rtlCol="0" anchor="ctr"/>
          <a:lstStyle/>
          <a:p>
            <a:pPr indent="0" marL="0">
              <a:buNone/>
            </a:pPr>
            <a:r>
              <a:rPr lang="en-US" sz="850" dirty="0">
                <a:solidFill>
                  <a:srgbClr val="0D1117"/>
                </a:solidFill>
                <a:latin typeface="Calibri" pitchFamily="34" charset="0"/>
                <a:ea typeface="Calibri" pitchFamily="34" charset="-122"/>
                <a:cs typeface="Calibri" pitchFamily="34" charset="-120"/>
              </a:rPr>
              <a:t>Gemma 3 12B — CPU</a:t>
            </a:r>
            <a:endParaRPr lang="en-US" sz="850" dirty="0"/>
          </a:p>
        </p:txBody>
      </p:sp>
      <p:sp>
        <p:nvSpPr>
          <p:cNvPr id="20" name="Text 18"/>
          <p:cNvSpPr/>
          <p:nvPr/>
        </p:nvSpPr>
        <p:spPr>
          <a:xfrm>
            <a:off x="3291840" y="2907792"/>
            <a:ext cx="1005840" cy="292608"/>
          </a:xfrm>
          <a:prstGeom prst="rect">
            <a:avLst/>
          </a:prstGeom>
          <a:noFill/>
          <a:ln/>
        </p:spPr>
        <p:txBody>
          <a:bodyPr wrap="square" lIns="0" tIns="0" rIns="0" bIns="0" rtlCol="0" anchor="ctr"/>
          <a:lstStyle/>
          <a:p>
            <a:pPr indent="0" marL="0">
              <a:buNone/>
            </a:pPr>
            <a:r>
              <a:rPr lang="en-US" sz="850" b="1" dirty="0">
                <a:solidFill>
                  <a:srgbClr val="C0392B"/>
                </a:solidFill>
                <a:latin typeface="Calibri" pitchFamily="34" charset="0"/>
                <a:ea typeface="Calibri" pitchFamily="34" charset="-122"/>
                <a:cs typeface="Calibri" pitchFamily="34" charset="-120"/>
              </a:rPr>
              <a:t>30–90 sec</a:t>
            </a:r>
            <a:endParaRPr lang="en-US" sz="850" dirty="0"/>
          </a:p>
        </p:txBody>
      </p:sp>
      <p:sp>
        <p:nvSpPr>
          <p:cNvPr id="21" name="Shape 19"/>
          <p:cNvSpPr/>
          <p:nvPr/>
        </p:nvSpPr>
        <p:spPr>
          <a:xfrm>
            <a:off x="438912" y="3255264"/>
            <a:ext cx="4005072" cy="292608"/>
          </a:xfrm>
          <a:prstGeom prst="rect">
            <a:avLst/>
          </a:prstGeom>
          <a:solidFill>
            <a:srgbClr val="EDF2F7"/>
          </a:solidFill>
          <a:ln w="12700">
            <a:solidFill>
              <a:srgbClr val="E2E8F0"/>
            </a:solidFill>
            <a:prstDash val="solid"/>
          </a:ln>
        </p:spPr>
      </p:sp>
      <p:sp>
        <p:nvSpPr>
          <p:cNvPr id="22" name="Text 20"/>
          <p:cNvSpPr/>
          <p:nvPr/>
        </p:nvSpPr>
        <p:spPr>
          <a:xfrm>
            <a:off x="530352" y="3255264"/>
            <a:ext cx="2743200" cy="292608"/>
          </a:xfrm>
          <a:prstGeom prst="rect">
            <a:avLst/>
          </a:prstGeom>
          <a:noFill/>
          <a:ln/>
        </p:spPr>
        <p:txBody>
          <a:bodyPr wrap="square" lIns="0" tIns="0" rIns="0" bIns="0" rtlCol="0" anchor="ctr"/>
          <a:lstStyle/>
          <a:p>
            <a:pPr indent="0" marL="0">
              <a:buNone/>
            </a:pPr>
            <a:r>
              <a:rPr lang="en-US" sz="850" dirty="0">
                <a:solidFill>
                  <a:srgbClr val="0D1117"/>
                </a:solidFill>
                <a:latin typeface="Calibri" pitchFamily="34" charset="0"/>
                <a:ea typeface="Calibri" pitchFamily="34" charset="-122"/>
                <a:cs typeface="Calibri" pitchFamily="34" charset="-120"/>
              </a:rPr>
              <a:t>Gemma 3 12B — GPU</a:t>
            </a:r>
            <a:endParaRPr lang="en-US" sz="850" dirty="0"/>
          </a:p>
        </p:txBody>
      </p:sp>
      <p:sp>
        <p:nvSpPr>
          <p:cNvPr id="23" name="Text 21"/>
          <p:cNvSpPr/>
          <p:nvPr/>
        </p:nvSpPr>
        <p:spPr>
          <a:xfrm>
            <a:off x="3291840" y="3255264"/>
            <a:ext cx="1005840" cy="292608"/>
          </a:xfrm>
          <a:prstGeom prst="rect">
            <a:avLst/>
          </a:prstGeom>
          <a:noFill/>
          <a:ln/>
        </p:spPr>
        <p:txBody>
          <a:bodyPr wrap="square" lIns="0" tIns="0" rIns="0" bIns="0" rtlCol="0" anchor="ctr"/>
          <a:lstStyle/>
          <a:p>
            <a:pPr indent="0" marL="0">
              <a:buNone/>
            </a:pPr>
            <a:r>
              <a:rPr lang="en-US" sz="850" b="1" dirty="0">
                <a:solidFill>
                  <a:srgbClr val="1A7A4A"/>
                </a:solidFill>
                <a:latin typeface="Calibri" pitchFamily="34" charset="0"/>
                <a:ea typeface="Calibri" pitchFamily="34" charset="-122"/>
                <a:cs typeface="Calibri" pitchFamily="34" charset="-120"/>
              </a:rPr>
              <a:t>3–8 sec</a:t>
            </a:r>
            <a:endParaRPr lang="en-US" sz="850" dirty="0"/>
          </a:p>
        </p:txBody>
      </p:sp>
      <p:sp>
        <p:nvSpPr>
          <p:cNvPr id="24" name="Shape 22"/>
          <p:cNvSpPr/>
          <p:nvPr/>
        </p:nvSpPr>
        <p:spPr>
          <a:xfrm>
            <a:off x="438912" y="3602736"/>
            <a:ext cx="4005072" cy="292608"/>
          </a:xfrm>
          <a:prstGeom prst="rect">
            <a:avLst/>
          </a:prstGeom>
          <a:solidFill>
            <a:srgbClr val="FFFFFF"/>
          </a:solidFill>
          <a:ln w="12700">
            <a:solidFill>
              <a:srgbClr val="E2E8F0"/>
            </a:solidFill>
            <a:prstDash val="solid"/>
          </a:ln>
        </p:spPr>
      </p:sp>
      <p:sp>
        <p:nvSpPr>
          <p:cNvPr id="25" name="Text 23"/>
          <p:cNvSpPr/>
          <p:nvPr/>
        </p:nvSpPr>
        <p:spPr>
          <a:xfrm>
            <a:off x="530352" y="3602736"/>
            <a:ext cx="2743200" cy="292608"/>
          </a:xfrm>
          <a:prstGeom prst="rect">
            <a:avLst/>
          </a:prstGeom>
          <a:noFill/>
          <a:ln/>
        </p:spPr>
        <p:txBody>
          <a:bodyPr wrap="square" lIns="0" tIns="0" rIns="0" bIns="0" rtlCol="0" anchor="ctr"/>
          <a:lstStyle/>
          <a:p>
            <a:pPr indent="0" marL="0">
              <a:buNone/>
            </a:pPr>
            <a:r>
              <a:rPr lang="en-US" sz="850" dirty="0">
                <a:solidFill>
                  <a:srgbClr val="0D1117"/>
                </a:solidFill>
                <a:latin typeface="Calibri" pitchFamily="34" charset="0"/>
                <a:ea typeface="Calibri" pitchFamily="34" charset="-122"/>
                <a:cs typeface="Calibri" pitchFamily="34" charset="-120"/>
              </a:rPr>
              <a:t>Completion draft</a:t>
            </a:r>
            <a:endParaRPr lang="en-US" sz="850" dirty="0"/>
          </a:p>
        </p:txBody>
      </p:sp>
      <p:sp>
        <p:nvSpPr>
          <p:cNvPr id="26" name="Text 24"/>
          <p:cNvSpPr/>
          <p:nvPr/>
        </p:nvSpPr>
        <p:spPr>
          <a:xfrm>
            <a:off x="3291840" y="3602736"/>
            <a:ext cx="1005840" cy="292608"/>
          </a:xfrm>
          <a:prstGeom prst="rect">
            <a:avLst/>
          </a:prstGeom>
          <a:noFill/>
          <a:ln/>
        </p:spPr>
        <p:txBody>
          <a:bodyPr wrap="square" lIns="0" tIns="0" rIns="0" bIns="0" rtlCol="0" anchor="ctr"/>
          <a:lstStyle/>
          <a:p>
            <a:pPr indent="0" marL="0">
              <a:buNone/>
            </a:pPr>
            <a:r>
              <a:rPr lang="en-US" sz="850" b="1" dirty="0">
                <a:solidFill>
                  <a:srgbClr val="0E7C7B"/>
                </a:solidFill>
                <a:latin typeface="Calibri" pitchFamily="34" charset="0"/>
                <a:ea typeface="Calibri" pitchFamily="34" charset="-122"/>
                <a:cs typeface="Calibri" pitchFamily="34" charset="-120"/>
              </a:rPr>
              <a:t>10–30 sec</a:t>
            </a:r>
            <a:endParaRPr lang="en-US" sz="850" dirty="0"/>
          </a:p>
        </p:txBody>
      </p:sp>
      <p:sp>
        <p:nvSpPr>
          <p:cNvPr id="27" name="Shape 25"/>
          <p:cNvSpPr/>
          <p:nvPr/>
        </p:nvSpPr>
        <p:spPr>
          <a:xfrm>
            <a:off x="438912" y="3950208"/>
            <a:ext cx="4005072" cy="292608"/>
          </a:xfrm>
          <a:prstGeom prst="rect">
            <a:avLst/>
          </a:prstGeom>
          <a:solidFill>
            <a:srgbClr val="EDF2F7"/>
          </a:solidFill>
          <a:ln w="12700">
            <a:solidFill>
              <a:srgbClr val="E2E8F0"/>
            </a:solidFill>
            <a:prstDash val="solid"/>
          </a:ln>
        </p:spPr>
      </p:sp>
      <p:sp>
        <p:nvSpPr>
          <p:cNvPr id="28" name="Text 26"/>
          <p:cNvSpPr/>
          <p:nvPr/>
        </p:nvSpPr>
        <p:spPr>
          <a:xfrm>
            <a:off x="530352" y="3950208"/>
            <a:ext cx="2743200" cy="292608"/>
          </a:xfrm>
          <a:prstGeom prst="rect">
            <a:avLst/>
          </a:prstGeom>
          <a:noFill/>
          <a:ln/>
        </p:spPr>
        <p:txBody>
          <a:bodyPr wrap="square" lIns="0" tIns="0" rIns="0" bIns="0" rtlCol="0" anchor="ctr"/>
          <a:lstStyle/>
          <a:p>
            <a:pPr indent="0" marL="0">
              <a:buNone/>
            </a:pPr>
            <a:r>
              <a:rPr lang="en-US" sz="850" dirty="0">
                <a:solidFill>
                  <a:srgbClr val="0D1117"/>
                </a:solidFill>
                <a:latin typeface="Calibri" pitchFamily="34" charset="0"/>
                <a:ea typeface="Calibri" pitchFamily="34" charset="-122"/>
                <a:cs typeface="Calibri" pitchFamily="34" charset="-120"/>
              </a:rPr>
              <a:t>JSONL assembly</a:t>
            </a:r>
            <a:endParaRPr lang="en-US" sz="850" dirty="0"/>
          </a:p>
        </p:txBody>
      </p:sp>
      <p:sp>
        <p:nvSpPr>
          <p:cNvPr id="29" name="Text 27"/>
          <p:cNvSpPr/>
          <p:nvPr/>
        </p:nvSpPr>
        <p:spPr>
          <a:xfrm>
            <a:off x="3291840" y="3950208"/>
            <a:ext cx="1005840" cy="292608"/>
          </a:xfrm>
          <a:prstGeom prst="rect">
            <a:avLst/>
          </a:prstGeom>
          <a:noFill/>
          <a:ln/>
        </p:spPr>
        <p:txBody>
          <a:bodyPr wrap="square" lIns="0" tIns="0" rIns="0" bIns="0" rtlCol="0" anchor="ctr"/>
          <a:lstStyle/>
          <a:p>
            <a:pPr indent="0" marL="0">
              <a:buNone/>
            </a:pPr>
            <a:r>
              <a:rPr lang="en-US" sz="850" b="1" dirty="0">
                <a:solidFill>
                  <a:srgbClr val="0E7C7B"/>
                </a:solidFill>
                <a:latin typeface="Calibri" pitchFamily="34" charset="0"/>
                <a:ea typeface="Calibri" pitchFamily="34" charset="-122"/>
                <a:cs typeface="Calibri" pitchFamily="34" charset="-120"/>
              </a:rPr>
              <a:t>&lt; 1 ms</a:t>
            </a:r>
            <a:endParaRPr lang="en-US" sz="850" dirty="0"/>
          </a:p>
        </p:txBody>
      </p:sp>
      <p:sp>
        <p:nvSpPr>
          <p:cNvPr id="30" name="Shape 28"/>
          <p:cNvSpPr/>
          <p:nvPr/>
        </p:nvSpPr>
        <p:spPr>
          <a:xfrm>
            <a:off x="4736592" y="1371600"/>
            <a:ext cx="4059936" cy="22860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9000"/>
              </a:srgbClr>
            </a:outerShdw>
          </a:effectLst>
        </p:spPr>
      </p:sp>
      <p:sp>
        <p:nvSpPr>
          <p:cNvPr id="31" name="Shape 29"/>
          <p:cNvSpPr/>
          <p:nvPr/>
        </p:nvSpPr>
        <p:spPr>
          <a:xfrm>
            <a:off x="4736592" y="1371600"/>
            <a:ext cx="54864" cy="2286000"/>
          </a:xfrm>
          <a:prstGeom prst="rect">
            <a:avLst/>
          </a:prstGeom>
          <a:solidFill>
            <a:srgbClr val="0E7C7B"/>
          </a:solidFill>
          <a:ln w="12700">
            <a:solidFill>
              <a:srgbClr val="0E7C7B"/>
            </a:solidFill>
            <a:prstDash val="solid"/>
          </a:ln>
        </p:spPr>
      </p:sp>
      <p:sp>
        <p:nvSpPr>
          <p:cNvPr id="32" name="Text 30"/>
          <p:cNvSpPr/>
          <p:nvPr/>
        </p:nvSpPr>
        <p:spPr>
          <a:xfrm>
            <a:off x="4956048" y="1517904"/>
            <a:ext cx="3566160" cy="237744"/>
          </a:xfrm>
          <a:prstGeom prst="rect">
            <a:avLst/>
          </a:prstGeom>
          <a:noFill/>
          <a:ln/>
        </p:spPr>
        <p:txBody>
          <a:bodyPr wrap="square" lIns="0" tIns="0" rIns="0" bIns="0" rtlCol="0" anchor="ctr"/>
          <a:lstStyle/>
          <a:p>
            <a:pPr indent="0" marL="0">
              <a:buNone/>
            </a:pPr>
            <a:r>
              <a:rPr lang="en-US" sz="1050" b="1" dirty="0">
                <a:solidFill>
                  <a:srgbClr val="0E7C7B"/>
                </a:solidFill>
                <a:latin typeface="Calibri" pitchFamily="34" charset="0"/>
                <a:ea typeface="Calibri" pitchFamily="34" charset="-122"/>
                <a:cs typeface="Calibri" pitchFamily="34" charset="-120"/>
              </a:rPr>
              <a:t>Latency reduction techniques</a:t>
            </a:r>
            <a:endParaRPr lang="en-US" sz="1050" dirty="0"/>
          </a:p>
        </p:txBody>
      </p:sp>
      <p:sp>
        <p:nvSpPr>
          <p:cNvPr id="33" name="Shape 31"/>
          <p:cNvSpPr/>
          <p:nvPr/>
        </p:nvSpPr>
        <p:spPr>
          <a:xfrm>
            <a:off x="4828032" y="1901952"/>
            <a:ext cx="45720" cy="329184"/>
          </a:xfrm>
          <a:prstGeom prst="rect">
            <a:avLst/>
          </a:prstGeom>
          <a:solidFill>
            <a:srgbClr val="0E7C7B"/>
          </a:solidFill>
          <a:ln w="12700">
            <a:solidFill>
              <a:srgbClr val="0E7C7B"/>
            </a:solidFill>
            <a:prstDash val="solid"/>
          </a:ln>
        </p:spPr>
      </p:sp>
      <p:sp>
        <p:nvSpPr>
          <p:cNvPr id="34" name="Text 32"/>
          <p:cNvSpPr/>
          <p:nvPr/>
        </p:nvSpPr>
        <p:spPr>
          <a:xfrm>
            <a:off x="4956048" y="1901952"/>
            <a:ext cx="3657600" cy="182880"/>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Cache Docling output</a:t>
            </a:r>
            <a:endParaRPr lang="en-US" sz="950" dirty="0"/>
          </a:p>
        </p:txBody>
      </p:sp>
      <p:sp>
        <p:nvSpPr>
          <p:cNvPr id="35" name="Text 33"/>
          <p:cNvSpPr/>
          <p:nvPr/>
        </p:nvSpPr>
        <p:spPr>
          <a:xfrm>
            <a:off x="4956048" y="2084832"/>
            <a:ext cx="3657600" cy="182880"/>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Run once, save markdown to disk. Never re-extract an already-processed file. Biggest single win.</a:t>
            </a:r>
            <a:endParaRPr lang="en-US" sz="850" dirty="0"/>
          </a:p>
        </p:txBody>
      </p:sp>
      <p:sp>
        <p:nvSpPr>
          <p:cNvPr id="36" name="Shape 34"/>
          <p:cNvSpPr/>
          <p:nvPr/>
        </p:nvSpPr>
        <p:spPr>
          <a:xfrm>
            <a:off x="4828032" y="2322576"/>
            <a:ext cx="45720" cy="329184"/>
          </a:xfrm>
          <a:prstGeom prst="rect">
            <a:avLst/>
          </a:prstGeom>
          <a:solidFill>
            <a:srgbClr val="0E7C7B"/>
          </a:solidFill>
          <a:ln w="12700">
            <a:solidFill>
              <a:srgbClr val="0E7C7B"/>
            </a:solidFill>
            <a:prstDash val="solid"/>
          </a:ln>
        </p:spPr>
      </p:sp>
      <p:sp>
        <p:nvSpPr>
          <p:cNvPr id="37" name="Text 35"/>
          <p:cNvSpPr/>
          <p:nvPr/>
        </p:nvSpPr>
        <p:spPr>
          <a:xfrm>
            <a:off x="4956048" y="2322576"/>
            <a:ext cx="3657600" cy="182880"/>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Batch overnight</a:t>
            </a:r>
            <a:endParaRPr lang="en-US" sz="950" dirty="0"/>
          </a:p>
        </p:txBody>
      </p:sp>
      <p:sp>
        <p:nvSpPr>
          <p:cNvPr id="38" name="Text 36"/>
          <p:cNvSpPr/>
          <p:nvPr/>
        </p:nvSpPr>
        <p:spPr>
          <a:xfrm>
            <a:off x="4956048" y="2505456"/>
            <a:ext cx="3657600" cy="182880"/>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Don't process interactively. Per-doc latency is irrelevant when running 200 in sequence.</a:t>
            </a:r>
            <a:endParaRPr lang="en-US" sz="850" dirty="0"/>
          </a:p>
        </p:txBody>
      </p:sp>
      <p:sp>
        <p:nvSpPr>
          <p:cNvPr id="39" name="Shape 37"/>
          <p:cNvSpPr/>
          <p:nvPr/>
        </p:nvSpPr>
        <p:spPr>
          <a:xfrm>
            <a:off x="4828032" y="2743200"/>
            <a:ext cx="45720" cy="329184"/>
          </a:xfrm>
          <a:prstGeom prst="rect">
            <a:avLst/>
          </a:prstGeom>
          <a:solidFill>
            <a:srgbClr val="0E7C7B"/>
          </a:solidFill>
          <a:ln w="12700">
            <a:solidFill>
              <a:srgbClr val="0E7C7B"/>
            </a:solidFill>
            <a:prstDash val="solid"/>
          </a:ln>
        </p:spPr>
      </p:sp>
      <p:sp>
        <p:nvSpPr>
          <p:cNvPr id="40" name="Text 38"/>
          <p:cNvSpPr/>
          <p:nvPr/>
        </p:nvSpPr>
        <p:spPr>
          <a:xfrm>
            <a:off x="4956048" y="2743200"/>
            <a:ext cx="3657600" cy="182880"/>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Parallel extraction</a:t>
            </a:r>
            <a:endParaRPr lang="en-US" sz="950" dirty="0"/>
          </a:p>
        </p:txBody>
      </p:sp>
      <p:sp>
        <p:nvSpPr>
          <p:cNvPr id="41" name="Text 39"/>
          <p:cNvSpPr/>
          <p:nvPr/>
        </p:nvSpPr>
        <p:spPr>
          <a:xfrm>
            <a:off x="4956048" y="2926080"/>
            <a:ext cx="3657600" cy="182880"/>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Docling + python-docx are I/O-bound — run file types in parallel via ThreadPoolExecutor.</a:t>
            </a:r>
            <a:endParaRPr lang="en-US" sz="850" dirty="0"/>
          </a:p>
        </p:txBody>
      </p:sp>
      <p:sp>
        <p:nvSpPr>
          <p:cNvPr id="42" name="Shape 40"/>
          <p:cNvSpPr/>
          <p:nvPr/>
        </p:nvSpPr>
        <p:spPr>
          <a:xfrm>
            <a:off x="4828032" y="3163824"/>
            <a:ext cx="45720" cy="329184"/>
          </a:xfrm>
          <a:prstGeom prst="rect">
            <a:avLst/>
          </a:prstGeom>
          <a:solidFill>
            <a:srgbClr val="0E7C7B"/>
          </a:solidFill>
          <a:ln w="12700">
            <a:solidFill>
              <a:srgbClr val="0E7C7B"/>
            </a:solidFill>
            <a:prstDash val="solid"/>
          </a:ln>
        </p:spPr>
      </p:sp>
      <p:sp>
        <p:nvSpPr>
          <p:cNvPr id="43" name="Text 41"/>
          <p:cNvSpPr/>
          <p:nvPr/>
        </p:nvSpPr>
        <p:spPr>
          <a:xfrm>
            <a:off x="4956048" y="3163824"/>
            <a:ext cx="3657600" cy="182880"/>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GPU for Gemma</a:t>
            </a:r>
            <a:endParaRPr lang="en-US" sz="950" dirty="0"/>
          </a:p>
        </p:txBody>
      </p:sp>
      <p:sp>
        <p:nvSpPr>
          <p:cNvPr id="44" name="Text 42"/>
          <p:cNvSpPr/>
          <p:nvPr/>
        </p:nvSpPr>
        <p:spPr>
          <a:xfrm>
            <a:off x="4956048" y="3346704"/>
            <a:ext cx="3657600" cy="182880"/>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RTX 3060 or better: 90 sec → 5 sec per doc. Dominates all other optimizations combined.</a:t>
            </a:r>
            <a:endParaRPr lang="en-US" sz="850" dirty="0"/>
          </a:p>
        </p:txBody>
      </p:sp>
      <p:sp>
        <p:nvSpPr>
          <p:cNvPr id="45" name="Shape 43"/>
          <p:cNvSpPr/>
          <p:nvPr/>
        </p:nvSpPr>
        <p:spPr>
          <a:xfrm>
            <a:off x="347472" y="3749040"/>
            <a:ext cx="8449056" cy="111556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9000"/>
              </a:srgbClr>
            </a:outerShdw>
          </a:effectLst>
        </p:spPr>
      </p:sp>
      <p:sp>
        <p:nvSpPr>
          <p:cNvPr id="46" name="Shape 44"/>
          <p:cNvSpPr/>
          <p:nvPr/>
        </p:nvSpPr>
        <p:spPr>
          <a:xfrm>
            <a:off x="347472" y="3749040"/>
            <a:ext cx="54864" cy="1115568"/>
          </a:xfrm>
          <a:prstGeom prst="rect">
            <a:avLst/>
          </a:prstGeom>
          <a:solidFill>
            <a:srgbClr val="4C3B8A"/>
          </a:solidFill>
          <a:ln w="12700">
            <a:solidFill>
              <a:srgbClr val="4C3B8A"/>
            </a:solidFill>
            <a:prstDash val="solid"/>
          </a:ln>
        </p:spPr>
      </p:sp>
      <p:sp>
        <p:nvSpPr>
          <p:cNvPr id="47" name="Text 45"/>
          <p:cNvSpPr/>
          <p:nvPr/>
        </p:nvSpPr>
        <p:spPr>
          <a:xfrm>
            <a:off x="566928" y="3895344"/>
            <a:ext cx="7955280" cy="237744"/>
          </a:xfrm>
          <a:prstGeom prst="rect">
            <a:avLst/>
          </a:prstGeom>
          <a:noFill/>
          <a:ln/>
        </p:spPr>
        <p:txBody>
          <a:bodyPr wrap="square" lIns="0" tIns="0" rIns="0" bIns="0" rtlCol="0" anchor="ctr"/>
          <a:lstStyle/>
          <a:p>
            <a:pPr indent="0" marL="0">
              <a:buNone/>
            </a:pPr>
            <a:r>
              <a:rPr lang="en-US" sz="1050" b="1" dirty="0">
                <a:solidFill>
                  <a:srgbClr val="4C3B8A"/>
                </a:solidFill>
                <a:latin typeface="Calibri" pitchFamily="34" charset="0"/>
                <a:ea typeface="Calibri" pitchFamily="34" charset="-122"/>
                <a:cs typeface="Calibri" pitchFamily="34" charset="-120"/>
              </a:rPr>
              <a:t>Accuracy improvement — what actually moves the needle</a:t>
            </a:r>
            <a:endParaRPr lang="en-US" sz="1050" dirty="0"/>
          </a:p>
        </p:txBody>
      </p:sp>
      <p:sp>
        <p:nvSpPr>
          <p:cNvPr id="48" name="Shape 46"/>
          <p:cNvSpPr/>
          <p:nvPr/>
        </p:nvSpPr>
        <p:spPr>
          <a:xfrm>
            <a:off x="475488" y="4169664"/>
            <a:ext cx="2651760" cy="585216"/>
          </a:xfrm>
          <a:prstGeom prst="rect">
            <a:avLst/>
          </a:prstGeom>
          <a:solidFill>
            <a:srgbClr val="EEECFB"/>
          </a:solidFill>
          <a:ln w="12700">
            <a:solidFill>
              <a:srgbClr val="4C3B8A"/>
            </a:solidFill>
            <a:prstDash val="solid"/>
          </a:ln>
        </p:spPr>
      </p:sp>
      <p:sp>
        <p:nvSpPr>
          <p:cNvPr id="49" name="Text 47"/>
          <p:cNvSpPr/>
          <p:nvPr/>
        </p:nvSpPr>
        <p:spPr>
          <a:xfrm>
            <a:off x="566928" y="4187952"/>
            <a:ext cx="2468880" cy="219456"/>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Clean before LLM</a:t>
            </a:r>
            <a:endParaRPr lang="en-US" sz="950" dirty="0"/>
          </a:p>
        </p:txBody>
      </p:sp>
      <p:sp>
        <p:nvSpPr>
          <p:cNvPr id="50" name="Text 48"/>
          <p:cNvSpPr/>
          <p:nvPr/>
        </p:nvSpPr>
        <p:spPr>
          <a:xfrm>
            <a:off x="566928" y="4407408"/>
            <a:ext cx="2468880" cy="310896"/>
          </a:xfrm>
          <a:prstGeom prst="rect">
            <a:avLst/>
          </a:prstGeom>
          <a:noFill/>
          <a:ln/>
        </p:spPr>
        <p:txBody>
          <a:bodyPr wrap="square" lIns="0" tIns="0" rIns="0" bIns="0" rtlCol="0" anchor="ctr"/>
          <a:lstStyle/>
          <a:p>
            <a:pPr indent="0" marL="0">
              <a:buNone/>
            </a:pPr>
            <a:r>
              <a:rPr lang="en-US" sz="800" dirty="0">
                <a:solidFill>
                  <a:srgbClr val="4A5568"/>
                </a:solidFill>
                <a:latin typeface="Calibri" pitchFamily="34" charset="0"/>
                <a:ea typeface="Calibri" pitchFamily="34" charset="-122"/>
                <a:cs typeface="Calibri" pitchFamily="34" charset="-120"/>
              </a:rPr>
              <a:t>Strip boilerplate, headers, footers before Gemma sees the text. Noise wastes context window and degrades field recall.</a:t>
            </a:r>
            <a:endParaRPr lang="en-US" sz="800" dirty="0"/>
          </a:p>
        </p:txBody>
      </p:sp>
      <p:sp>
        <p:nvSpPr>
          <p:cNvPr id="51" name="Shape 49"/>
          <p:cNvSpPr/>
          <p:nvPr/>
        </p:nvSpPr>
        <p:spPr>
          <a:xfrm>
            <a:off x="3291840" y="4169664"/>
            <a:ext cx="2651760" cy="585216"/>
          </a:xfrm>
          <a:prstGeom prst="rect">
            <a:avLst/>
          </a:prstGeom>
          <a:solidFill>
            <a:srgbClr val="EEECFB"/>
          </a:solidFill>
          <a:ln w="12700">
            <a:solidFill>
              <a:srgbClr val="4C3B8A"/>
            </a:solidFill>
            <a:prstDash val="solid"/>
          </a:ln>
        </p:spPr>
      </p:sp>
      <p:sp>
        <p:nvSpPr>
          <p:cNvPr id="52" name="Text 50"/>
          <p:cNvSpPr/>
          <p:nvPr/>
        </p:nvSpPr>
        <p:spPr>
          <a:xfrm>
            <a:off x="3383280" y="4187952"/>
            <a:ext cx="2468880" cy="219456"/>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SOP descriptions in prompt</a:t>
            </a:r>
            <a:endParaRPr lang="en-US" sz="950" dirty="0"/>
          </a:p>
        </p:txBody>
      </p:sp>
      <p:sp>
        <p:nvSpPr>
          <p:cNvPr id="53" name="Text 51"/>
          <p:cNvSpPr/>
          <p:nvPr/>
        </p:nvSpPr>
        <p:spPr>
          <a:xfrm>
            <a:off x="3383280" y="4407408"/>
            <a:ext cx="2468880" cy="310896"/>
          </a:xfrm>
          <a:prstGeom prst="rect">
            <a:avLst/>
          </a:prstGeom>
          <a:noFill/>
          <a:ln/>
        </p:spPr>
        <p:txBody>
          <a:bodyPr wrap="square" lIns="0" tIns="0" rIns="0" bIns="0" rtlCol="0" anchor="ctr"/>
          <a:lstStyle/>
          <a:p>
            <a:pPr indent="0" marL="0">
              <a:buNone/>
            </a:pPr>
            <a:r>
              <a:rPr lang="en-US" sz="800" dirty="0">
                <a:solidFill>
                  <a:srgbClr val="4A5568"/>
                </a:solidFill>
                <a:latin typeface="Calibri" pitchFamily="34" charset="0"/>
                <a:ea typeface="Calibri" pitchFamily="34" charset="-122"/>
                <a:cs typeface="Calibri" pitchFamily="34" charset="-120"/>
              </a:rPr>
              <a:t>Don't say 'extract partner_signature'. Say 'extract partner_signature — defined in SOP §2.1 as the engagement partner's dated sign-off'. Dramatically improves recall on ambiguous labels.</a:t>
            </a:r>
            <a:endParaRPr lang="en-US" sz="800" dirty="0"/>
          </a:p>
        </p:txBody>
      </p:sp>
      <p:sp>
        <p:nvSpPr>
          <p:cNvPr id="54" name="Shape 52"/>
          <p:cNvSpPr/>
          <p:nvPr/>
        </p:nvSpPr>
        <p:spPr>
          <a:xfrm>
            <a:off x="6108192" y="4169664"/>
            <a:ext cx="2651760" cy="585216"/>
          </a:xfrm>
          <a:prstGeom prst="rect">
            <a:avLst/>
          </a:prstGeom>
          <a:solidFill>
            <a:srgbClr val="EEECFB"/>
          </a:solidFill>
          <a:ln w="12700">
            <a:solidFill>
              <a:srgbClr val="4C3B8A"/>
            </a:solidFill>
            <a:prstDash val="solid"/>
          </a:ln>
        </p:spPr>
      </p:sp>
      <p:sp>
        <p:nvSpPr>
          <p:cNvPr id="55" name="Text 53"/>
          <p:cNvSpPr/>
          <p:nvPr/>
        </p:nvSpPr>
        <p:spPr>
          <a:xfrm>
            <a:off x="6199632" y="4187952"/>
            <a:ext cx="2468880" cy="219456"/>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2-pass for low-confidence fields</a:t>
            </a:r>
            <a:endParaRPr lang="en-US" sz="950" dirty="0"/>
          </a:p>
        </p:txBody>
      </p:sp>
      <p:sp>
        <p:nvSpPr>
          <p:cNvPr id="56" name="Text 54"/>
          <p:cNvSpPr/>
          <p:nvPr/>
        </p:nvSpPr>
        <p:spPr>
          <a:xfrm>
            <a:off x="6199632" y="4407408"/>
            <a:ext cx="2468880" cy="310896"/>
          </a:xfrm>
          <a:prstGeom prst="rect">
            <a:avLst/>
          </a:prstGeom>
          <a:noFill/>
          <a:ln/>
        </p:spPr>
        <p:txBody>
          <a:bodyPr wrap="square" lIns="0" tIns="0" rIns="0" bIns="0" rtlCol="0" anchor="ctr"/>
          <a:lstStyle/>
          <a:p>
            <a:pPr indent="0" marL="0">
              <a:buNone/>
            </a:pPr>
            <a:r>
              <a:rPr lang="en-US" sz="800" dirty="0">
                <a:solidFill>
                  <a:srgbClr val="4A5568"/>
                </a:solidFill>
                <a:latin typeface="Calibri" pitchFamily="34" charset="0"/>
                <a:ea typeface="Calibri" pitchFamily="34" charset="-122"/>
                <a:cs typeface="Calibri" pitchFamily="34" charset="-120"/>
              </a:rPr>
              <a:t>First pass extracts all fields. Fields that return a paraphrase instead of an exact value get a targeted second Gemma call on just that section.</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365760" y="219456"/>
            <a:ext cx="1785823" cy="256032"/>
          </a:xfrm>
          <a:prstGeom prst="rect">
            <a:avLst/>
          </a:prstGeom>
          <a:solidFill>
            <a:srgbClr val="0E7C7B"/>
          </a:solidFill>
          <a:ln w="12700">
            <a:solidFill>
              <a:srgbClr val="0E7C7B"/>
            </a:solidFill>
            <a:prstDash val="solid"/>
          </a:ln>
        </p:spPr>
      </p:sp>
      <p:sp>
        <p:nvSpPr>
          <p:cNvPr id="3" name="Text 1"/>
          <p:cNvSpPr/>
          <p:nvPr/>
        </p:nvSpPr>
        <p:spPr>
          <a:xfrm>
            <a:off x="365760" y="219456"/>
            <a:ext cx="1785823"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COMPLETE TOOL STACK</a:t>
            </a:r>
            <a:endParaRPr lang="en-US" sz="850" dirty="0"/>
          </a:p>
        </p:txBody>
      </p:sp>
      <p:sp>
        <p:nvSpPr>
          <p:cNvPr id="4" name="Text 2"/>
          <p:cNvSpPr/>
          <p:nvPr/>
        </p:nvSpPr>
        <p:spPr>
          <a:xfrm>
            <a:off x="365760" y="548640"/>
            <a:ext cx="8412480" cy="512064"/>
          </a:xfrm>
          <a:prstGeom prst="rect">
            <a:avLst/>
          </a:prstGeom>
          <a:noFill/>
          <a:ln/>
        </p:spPr>
        <p:txBody>
          <a:bodyPr wrap="square" lIns="0" tIns="0" rIns="0" bIns="0" rtlCol="0" anchor="ctr"/>
          <a:lstStyle/>
          <a:p>
            <a:pPr indent="0" marL="0">
              <a:buNone/>
            </a:pPr>
            <a:r>
              <a:rPr lang="en-US" sz="2600" b="1" dirty="0">
                <a:solidFill>
                  <a:srgbClr val="0D1117"/>
                </a:solidFill>
                <a:latin typeface="Calibri" pitchFamily="34" charset="0"/>
                <a:ea typeface="Calibri" pitchFamily="34" charset="-122"/>
                <a:cs typeface="Calibri" pitchFamily="34" charset="-120"/>
              </a:rPr>
              <a:t>Every tool in the pipeline — purpose, install, when to use</a:t>
            </a:r>
            <a:endParaRPr lang="en-US" sz="2600" dirty="0"/>
          </a:p>
        </p:txBody>
      </p:sp>
      <p:sp>
        <p:nvSpPr>
          <p:cNvPr id="5" name="Text 3"/>
          <p:cNvSpPr/>
          <p:nvPr/>
        </p:nvSpPr>
        <p:spPr>
          <a:xfrm>
            <a:off x="365760" y="1042416"/>
            <a:ext cx="8412480" cy="237744"/>
          </a:xfrm>
          <a:prstGeom prst="rect">
            <a:avLst/>
          </a:prstGeom>
          <a:noFill/>
          <a:ln/>
        </p:spPr>
        <p:txBody>
          <a:bodyPr wrap="square" lIns="0" tIns="0" rIns="0" bIns="0" rtlCol="0" anchor="ctr"/>
          <a:lstStyle/>
          <a:p>
            <a:pPr indent="0" marL="0">
              <a:buNone/>
            </a:pPr>
            <a:r>
              <a:rPr lang="en-US" sz="1100" dirty="0">
                <a:solidFill>
                  <a:srgbClr val="718096"/>
                </a:solidFill>
                <a:latin typeface="Calibri" pitchFamily="34" charset="0"/>
                <a:ea typeface="Calibri" pitchFamily="34" charset="-122"/>
                <a:cs typeface="Calibri" pitchFamily="34" charset="-120"/>
              </a:rPr>
              <a:t>One tool per job. No tool does two jobs. No LLM parses a file.</a:t>
            </a:r>
            <a:endParaRPr lang="en-US" sz="1100" dirty="0"/>
          </a:p>
        </p:txBody>
      </p:sp>
      <p:sp>
        <p:nvSpPr>
          <p:cNvPr id="6" name="Shape 4"/>
          <p:cNvSpPr/>
          <p:nvPr/>
        </p:nvSpPr>
        <p:spPr>
          <a:xfrm>
            <a:off x="347472" y="1371600"/>
            <a:ext cx="2798064" cy="329184"/>
          </a:xfrm>
          <a:prstGeom prst="rect">
            <a:avLst/>
          </a:prstGeom>
          <a:solidFill>
            <a:srgbClr val="0E7C7B"/>
          </a:solidFill>
          <a:ln w="12700">
            <a:solidFill>
              <a:srgbClr val="0E7C7B"/>
            </a:solidFill>
            <a:prstDash val="solid"/>
          </a:ln>
        </p:spPr>
      </p:sp>
      <p:sp>
        <p:nvSpPr>
          <p:cNvPr id="7" name="Text 5"/>
          <p:cNvSpPr/>
          <p:nvPr/>
        </p:nvSpPr>
        <p:spPr>
          <a:xfrm>
            <a:off x="347472" y="1371600"/>
            <a:ext cx="279806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Layer 1 — Extraction</a:t>
            </a:r>
            <a:endParaRPr lang="en-US" sz="1050" dirty="0"/>
          </a:p>
        </p:txBody>
      </p:sp>
      <p:sp>
        <p:nvSpPr>
          <p:cNvPr id="8" name="Shape 6"/>
          <p:cNvSpPr/>
          <p:nvPr/>
        </p:nvSpPr>
        <p:spPr>
          <a:xfrm>
            <a:off x="347472" y="1700784"/>
            <a:ext cx="2798064" cy="621792"/>
          </a:xfrm>
          <a:prstGeom prst="rect">
            <a:avLst/>
          </a:prstGeom>
          <a:solidFill>
            <a:srgbClr val="EDF2F7"/>
          </a:solidFill>
          <a:ln w="12700">
            <a:solidFill>
              <a:srgbClr val="E2E8F0"/>
            </a:solidFill>
            <a:prstDash val="solid"/>
          </a:ln>
        </p:spPr>
      </p:sp>
      <p:sp>
        <p:nvSpPr>
          <p:cNvPr id="9" name="Text 7"/>
          <p:cNvSpPr/>
          <p:nvPr/>
        </p:nvSpPr>
        <p:spPr>
          <a:xfrm>
            <a:off x="438912" y="1737360"/>
            <a:ext cx="2615184" cy="201168"/>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Docling</a:t>
            </a:r>
            <a:endParaRPr lang="en-US" sz="950" dirty="0"/>
          </a:p>
        </p:txBody>
      </p:sp>
      <p:sp>
        <p:nvSpPr>
          <p:cNvPr id="10" name="Text 8"/>
          <p:cNvSpPr/>
          <p:nvPr/>
        </p:nvSpPr>
        <p:spPr>
          <a:xfrm>
            <a:off x="438912" y="1938528"/>
            <a:ext cx="2615184" cy="164592"/>
          </a:xfrm>
          <a:prstGeom prst="rect">
            <a:avLst/>
          </a:prstGeom>
          <a:noFill/>
          <a:ln/>
        </p:spPr>
        <p:txBody>
          <a:bodyPr wrap="square" lIns="0" tIns="0" rIns="0" bIns="0" rtlCol="0" anchor="ctr"/>
          <a:lstStyle/>
          <a:p>
            <a:pPr indent="0" marL="0">
              <a:buNone/>
            </a:pPr>
            <a:r>
              <a:rPr lang="en-US" sz="800" dirty="0">
                <a:solidFill>
                  <a:srgbClr val="0E7C7B"/>
                </a:solidFill>
                <a:latin typeface="Courier New" pitchFamily="34" charset="0"/>
                <a:ea typeface="Courier New" pitchFamily="34" charset="-122"/>
                <a:cs typeface="Courier New" pitchFamily="34" charset="-120"/>
              </a:rPr>
              <a:t>pip install docling</a:t>
            </a:r>
            <a:endParaRPr lang="en-US" sz="800" dirty="0"/>
          </a:p>
        </p:txBody>
      </p:sp>
      <p:sp>
        <p:nvSpPr>
          <p:cNvPr id="11" name="Text 9"/>
          <p:cNvSpPr/>
          <p:nvPr/>
        </p:nvSpPr>
        <p:spPr>
          <a:xfrm>
            <a:off x="438912" y="2103120"/>
            <a:ext cx="2615184" cy="182880"/>
          </a:xfrm>
          <a:prstGeom prst="rect">
            <a:avLst/>
          </a:prstGeom>
          <a:noFill/>
          <a:ln/>
        </p:spPr>
        <p:txBody>
          <a:bodyPr wrap="square" lIns="0" tIns="0" rIns="0" bIns="0" rtlCol="0" anchor="ctr"/>
          <a:lstStyle/>
          <a:p>
            <a:pPr indent="0" marL="0">
              <a:buNone/>
            </a:pPr>
            <a:r>
              <a:rPr lang="en-US" sz="800" dirty="0">
                <a:solidFill>
                  <a:srgbClr val="4A5568"/>
                </a:solidFill>
                <a:latin typeface="Calibri" pitchFamily="34" charset="0"/>
                <a:ea typeface="Calibri" pitchFamily="34" charset="-122"/>
                <a:cs typeface="Calibri" pitchFamily="34" charset="-120"/>
              </a:rPr>
              <a:t>Primary extractor — all PDF types, DOCX, mixed docs</a:t>
            </a:r>
            <a:endParaRPr lang="en-US" sz="800" dirty="0"/>
          </a:p>
        </p:txBody>
      </p:sp>
      <p:sp>
        <p:nvSpPr>
          <p:cNvPr id="12" name="Shape 10"/>
          <p:cNvSpPr/>
          <p:nvPr/>
        </p:nvSpPr>
        <p:spPr>
          <a:xfrm>
            <a:off x="347472" y="2359152"/>
            <a:ext cx="2798064" cy="621792"/>
          </a:xfrm>
          <a:prstGeom prst="rect">
            <a:avLst/>
          </a:prstGeom>
          <a:solidFill>
            <a:srgbClr val="FFFFFF"/>
          </a:solidFill>
          <a:ln w="12700">
            <a:solidFill>
              <a:srgbClr val="E2E8F0"/>
            </a:solidFill>
            <a:prstDash val="solid"/>
          </a:ln>
        </p:spPr>
      </p:sp>
      <p:sp>
        <p:nvSpPr>
          <p:cNvPr id="13" name="Text 11"/>
          <p:cNvSpPr/>
          <p:nvPr/>
        </p:nvSpPr>
        <p:spPr>
          <a:xfrm>
            <a:off x="438912" y="2395728"/>
            <a:ext cx="2615184" cy="201168"/>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Surya</a:t>
            </a:r>
            <a:endParaRPr lang="en-US" sz="950" dirty="0"/>
          </a:p>
        </p:txBody>
      </p:sp>
      <p:sp>
        <p:nvSpPr>
          <p:cNvPr id="14" name="Text 12"/>
          <p:cNvSpPr/>
          <p:nvPr/>
        </p:nvSpPr>
        <p:spPr>
          <a:xfrm>
            <a:off x="438912" y="2596896"/>
            <a:ext cx="2615184" cy="164592"/>
          </a:xfrm>
          <a:prstGeom prst="rect">
            <a:avLst/>
          </a:prstGeom>
          <a:noFill/>
          <a:ln/>
        </p:spPr>
        <p:txBody>
          <a:bodyPr wrap="square" lIns="0" tIns="0" rIns="0" bIns="0" rtlCol="0" anchor="ctr"/>
          <a:lstStyle/>
          <a:p>
            <a:pPr indent="0" marL="0">
              <a:buNone/>
            </a:pPr>
            <a:r>
              <a:rPr lang="en-US" sz="800" dirty="0">
                <a:solidFill>
                  <a:srgbClr val="0E7C7B"/>
                </a:solidFill>
                <a:latin typeface="Courier New" pitchFamily="34" charset="0"/>
                <a:ea typeface="Courier New" pitchFamily="34" charset="-122"/>
                <a:cs typeface="Courier New" pitchFamily="34" charset="-120"/>
              </a:rPr>
              <a:t>pip install surya-ocr</a:t>
            </a:r>
            <a:endParaRPr lang="en-US" sz="800" dirty="0"/>
          </a:p>
        </p:txBody>
      </p:sp>
      <p:sp>
        <p:nvSpPr>
          <p:cNvPr id="15" name="Text 13"/>
          <p:cNvSpPr/>
          <p:nvPr/>
        </p:nvSpPr>
        <p:spPr>
          <a:xfrm>
            <a:off x="438912" y="2761488"/>
            <a:ext cx="2615184" cy="182880"/>
          </a:xfrm>
          <a:prstGeom prst="rect">
            <a:avLst/>
          </a:prstGeom>
          <a:noFill/>
          <a:ln/>
        </p:spPr>
        <p:txBody>
          <a:bodyPr wrap="square" lIns="0" tIns="0" rIns="0" bIns="0" rtlCol="0" anchor="ctr"/>
          <a:lstStyle/>
          <a:p>
            <a:pPr indent="0" marL="0">
              <a:buNone/>
            </a:pPr>
            <a:r>
              <a:rPr lang="en-US" sz="800" dirty="0">
                <a:solidFill>
                  <a:srgbClr val="4A5568"/>
                </a:solidFill>
                <a:latin typeface="Calibri" pitchFamily="34" charset="0"/>
                <a:ea typeface="Calibri" pitchFamily="34" charset="-122"/>
                <a:cs typeface="Calibri" pitchFamily="34" charset="-120"/>
              </a:rPr>
              <a:t>Fallback OCR for degraded scans — better than Tesseract</a:t>
            </a:r>
            <a:endParaRPr lang="en-US" sz="800" dirty="0"/>
          </a:p>
        </p:txBody>
      </p:sp>
      <p:sp>
        <p:nvSpPr>
          <p:cNvPr id="16" name="Shape 14"/>
          <p:cNvSpPr/>
          <p:nvPr/>
        </p:nvSpPr>
        <p:spPr>
          <a:xfrm>
            <a:off x="347472" y="3017520"/>
            <a:ext cx="2798064" cy="621792"/>
          </a:xfrm>
          <a:prstGeom prst="rect">
            <a:avLst/>
          </a:prstGeom>
          <a:solidFill>
            <a:srgbClr val="EDF2F7"/>
          </a:solidFill>
          <a:ln w="12700">
            <a:solidFill>
              <a:srgbClr val="E2E8F0"/>
            </a:solidFill>
            <a:prstDash val="solid"/>
          </a:ln>
        </p:spPr>
      </p:sp>
      <p:sp>
        <p:nvSpPr>
          <p:cNvPr id="17" name="Text 15"/>
          <p:cNvSpPr/>
          <p:nvPr/>
        </p:nvSpPr>
        <p:spPr>
          <a:xfrm>
            <a:off x="438912" y="3054096"/>
            <a:ext cx="2615184" cy="201168"/>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python-docx</a:t>
            </a:r>
            <a:endParaRPr lang="en-US" sz="950" dirty="0"/>
          </a:p>
        </p:txBody>
      </p:sp>
      <p:sp>
        <p:nvSpPr>
          <p:cNvPr id="18" name="Text 16"/>
          <p:cNvSpPr/>
          <p:nvPr/>
        </p:nvSpPr>
        <p:spPr>
          <a:xfrm>
            <a:off x="438912" y="3255264"/>
            <a:ext cx="2615184" cy="164592"/>
          </a:xfrm>
          <a:prstGeom prst="rect">
            <a:avLst/>
          </a:prstGeom>
          <a:noFill/>
          <a:ln/>
        </p:spPr>
        <p:txBody>
          <a:bodyPr wrap="square" lIns="0" tIns="0" rIns="0" bIns="0" rtlCol="0" anchor="ctr"/>
          <a:lstStyle/>
          <a:p>
            <a:pPr indent="0" marL="0">
              <a:buNone/>
            </a:pPr>
            <a:r>
              <a:rPr lang="en-US" sz="800" dirty="0">
                <a:solidFill>
                  <a:srgbClr val="0E7C7B"/>
                </a:solidFill>
                <a:latin typeface="Courier New" pitchFamily="34" charset="0"/>
                <a:ea typeface="Courier New" pitchFamily="34" charset="-122"/>
                <a:cs typeface="Courier New" pitchFamily="34" charset="-120"/>
              </a:rPr>
              <a:t>pip install python-docx</a:t>
            </a:r>
            <a:endParaRPr lang="en-US" sz="800" dirty="0"/>
          </a:p>
        </p:txBody>
      </p:sp>
      <p:sp>
        <p:nvSpPr>
          <p:cNvPr id="19" name="Text 17"/>
          <p:cNvSpPr/>
          <p:nvPr/>
        </p:nvSpPr>
        <p:spPr>
          <a:xfrm>
            <a:off x="438912" y="3419856"/>
            <a:ext cx="2615184" cy="182880"/>
          </a:xfrm>
          <a:prstGeom prst="rect">
            <a:avLst/>
          </a:prstGeom>
          <a:noFill/>
          <a:ln/>
        </p:spPr>
        <p:txBody>
          <a:bodyPr wrap="square" lIns="0" tIns="0" rIns="0" bIns="0" rtlCol="0" anchor="ctr"/>
          <a:lstStyle/>
          <a:p>
            <a:pPr indent="0" marL="0">
              <a:buNone/>
            </a:pPr>
            <a:r>
              <a:rPr lang="en-US" sz="800" dirty="0">
                <a:solidFill>
                  <a:srgbClr val="4A5568"/>
                </a:solidFill>
                <a:latin typeface="Calibri" pitchFamily="34" charset="0"/>
                <a:ea typeface="Calibri" pitchFamily="34" charset="-122"/>
                <a:cs typeface="Calibri" pitchFamily="34" charset="-120"/>
              </a:rPr>
              <a:t>Word .docx files — deterministic, zero hallucination</a:t>
            </a:r>
            <a:endParaRPr lang="en-US" sz="800" dirty="0"/>
          </a:p>
        </p:txBody>
      </p:sp>
      <p:sp>
        <p:nvSpPr>
          <p:cNvPr id="20" name="Shape 18"/>
          <p:cNvSpPr/>
          <p:nvPr/>
        </p:nvSpPr>
        <p:spPr>
          <a:xfrm>
            <a:off x="347472" y="3675888"/>
            <a:ext cx="2798064" cy="621792"/>
          </a:xfrm>
          <a:prstGeom prst="rect">
            <a:avLst/>
          </a:prstGeom>
          <a:solidFill>
            <a:srgbClr val="FFFFFF"/>
          </a:solidFill>
          <a:ln w="12700">
            <a:solidFill>
              <a:srgbClr val="E2E8F0"/>
            </a:solidFill>
            <a:prstDash val="solid"/>
          </a:ln>
        </p:spPr>
      </p:sp>
      <p:sp>
        <p:nvSpPr>
          <p:cNvPr id="21" name="Text 19"/>
          <p:cNvSpPr/>
          <p:nvPr/>
        </p:nvSpPr>
        <p:spPr>
          <a:xfrm>
            <a:off x="438912" y="3712464"/>
            <a:ext cx="2615184" cy="201168"/>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openpyxl</a:t>
            </a:r>
            <a:endParaRPr lang="en-US" sz="950" dirty="0"/>
          </a:p>
        </p:txBody>
      </p:sp>
      <p:sp>
        <p:nvSpPr>
          <p:cNvPr id="22" name="Text 20"/>
          <p:cNvSpPr/>
          <p:nvPr/>
        </p:nvSpPr>
        <p:spPr>
          <a:xfrm>
            <a:off x="438912" y="3913632"/>
            <a:ext cx="2615184" cy="164592"/>
          </a:xfrm>
          <a:prstGeom prst="rect">
            <a:avLst/>
          </a:prstGeom>
          <a:noFill/>
          <a:ln/>
        </p:spPr>
        <p:txBody>
          <a:bodyPr wrap="square" lIns="0" tIns="0" rIns="0" bIns="0" rtlCol="0" anchor="ctr"/>
          <a:lstStyle/>
          <a:p>
            <a:pPr indent="0" marL="0">
              <a:buNone/>
            </a:pPr>
            <a:r>
              <a:rPr lang="en-US" sz="800" dirty="0">
                <a:solidFill>
                  <a:srgbClr val="0E7C7B"/>
                </a:solidFill>
                <a:latin typeface="Courier New" pitchFamily="34" charset="0"/>
                <a:ea typeface="Courier New" pitchFamily="34" charset="-122"/>
                <a:cs typeface="Courier New" pitchFamily="34" charset="-120"/>
              </a:rPr>
              <a:t>pip install openpyxl</a:t>
            </a:r>
            <a:endParaRPr lang="en-US" sz="800" dirty="0"/>
          </a:p>
        </p:txBody>
      </p:sp>
      <p:sp>
        <p:nvSpPr>
          <p:cNvPr id="23" name="Text 21"/>
          <p:cNvSpPr/>
          <p:nvPr/>
        </p:nvSpPr>
        <p:spPr>
          <a:xfrm>
            <a:off x="438912" y="4078224"/>
            <a:ext cx="2615184" cy="182880"/>
          </a:xfrm>
          <a:prstGeom prst="rect">
            <a:avLst/>
          </a:prstGeom>
          <a:noFill/>
          <a:ln/>
        </p:spPr>
        <p:txBody>
          <a:bodyPr wrap="square" lIns="0" tIns="0" rIns="0" bIns="0" rtlCol="0" anchor="ctr"/>
          <a:lstStyle/>
          <a:p>
            <a:pPr indent="0" marL="0">
              <a:buNone/>
            </a:pPr>
            <a:r>
              <a:rPr lang="en-US" sz="800" dirty="0">
                <a:solidFill>
                  <a:srgbClr val="4A5568"/>
                </a:solidFill>
                <a:latin typeface="Calibri" pitchFamily="34" charset="0"/>
                <a:ea typeface="Calibri" pitchFamily="34" charset="-122"/>
                <a:cs typeface="Calibri" pitchFamily="34" charset="-120"/>
              </a:rPr>
              <a:t>Excel .xlsx/.xls — cell-by-cell structured read</a:t>
            </a:r>
            <a:endParaRPr lang="en-US" sz="800" dirty="0"/>
          </a:p>
        </p:txBody>
      </p:sp>
      <p:sp>
        <p:nvSpPr>
          <p:cNvPr id="24" name="Shape 22"/>
          <p:cNvSpPr/>
          <p:nvPr/>
        </p:nvSpPr>
        <p:spPr>
          <a:xfrm>
            <a:off x="347472" y="4334256"/>
            <a:ext cx="2798064" cy="621792"/>
          </a:xfrm>
          <a:prstGeom prst="rect">
            <a:avLst/>
          </a:prstGeom>
          <a:solidFill>
            <a:srgbClr val="EDF2F7"/>
          </a:solidFill>
          <a:ln w="12700">
            <a:solidFill>
              <a:srgbClr val="E2E8F0"/>
            </a:solidFill>
            <a:prstDash val="solid"/>
          </a:ln>
        </p:spPr>
      </p:sp>
      <p:sp>
        <p:nvSpPr>
          <p:cNvPr id="25" name="Text 23"/>
          <p:cNvSpPr/>
          <p:nvPr/>
        </p:nvSpPr>
        <p:spPr>
          <a:xfrm>
            <a:off x="438912" y="4370832"/>
            <a:ext cx="2615184" cy="201168"/>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json (stdlib)</a:t>
            </a:r>
            <a:endParaRPr lang="en-US" sz="950" dirty="0"/>
          </a:p>
        </p:txBody>
      </p:sp>
      <p:sp>
        <p:nvSpPr>
          <p:cNvPr id="26" name="Text 24"/>
          <p:cNvSpPr/>
          <p:nvPr/>
        </p:nvSpPr>
        <p:spPr>
          <a:xfrm>
            <a:off x="438912" y="4572000"/>
            <a:ext cx="2615184" cy="164592"/>
          </a:xfrm>
          <a:prstGeom prst="rect">
            <a:avLst/>
          </a:prstGeom>
          <a:noFill/>
          <a:ln/>
        </p:spPr>
        <p:txBody>
          <a:bodyPr wrap="square" lIns="0" tIns="0" rIns="0" bIns="0" rtlCol="0" anchor="ctr"/>
          <a:lstStyle/>
          <a:p>
            <a:pPr indent="0" marL="0">
              <a:buNone/>
            </a:pPr>
            <a:r>
              <a:rPr lang="en-US" sz="800" dirty="0">
                <a:solidFill>
                  <a:srgbClr val="0E7C7B"/>
                </a:solidFill>
                <a:latin typeface="Courier New" pitchFamily="34" charset="0"/>
                <a:ea typeface="Courier New" pitchFamily="34" charset="-122"/>
                <a:cs typeface="Courier New" pitchFamily="34" charset="-120"/>
              </a:rPr>
              <a:t>built-in</a:t>
            </a:r>
            <a:endParaRPr lang="en-US" sz="800" dirty="0"/>
          </a:p>
        </p:txBody>
      </p:sp>
      <p:sp>
        <p:nvSpPr>
          <p:cNvPr id="27" name="Text 25"/>
          <p:cNvSpPr/>
          <p:nvPr/>
        </p:nvSpPr>
        <p:spPr>
          <a:xfrm>
            <a:off x="438912" y="4736592"/>
            <a:ext cx="2615184" cy="182880"/>
          </a:xfrm>
          <a:prstGeom prst="rect">
            <a:avLst/>
          </a:prstGeom>
          <a:noFill/>
          <a:ln/>
        </p:spPr>
        <p:txBody>
          <a:bodyPr wrap="square" lIns="0" tIns="0" rIns="0" bIns="0" rtlCol="0" anchor="ctr"/>
          <a:lstStyle/>
          <a:p>
            <a:pPr indent="0" marL="0">
              <a:buNone/>
            </a:pPr>
            <a:r>
              <a:rPr lang="en-US" sz="800" dirty="0">
                <a:solidFill>
                  <a:srgbClr val="4A5568"/>
                </a:solidFill>
                <a:latin typeface="Calibri" pitchFamily="34" charset="0"/>
                <a:ea typeface="Calibri" pitchFamily="34" charset="-122"/>
                <a:cs typeface="Calibri" pitchFamily="34" charset="-120"/>
              </a:rPr>
              <a:t>JSON workpapers — no tool needed, direct parse</a:t>
            </a:r>
            <a:endParaRPr lang="en-US" sz="800" dirty="0"/>
          </a:p>
        </p:txBody>
      </p:sp>
      <p:sp>
        <p:nvSpPr>
          <p:cNvPr id="28" name="Shape 26"/>
          <p:cNvSpPr/>
          <p:nvPr/>
        </p:nvSpPr>
        <p:spPr>
          <a:xfrm>
            <a:off x="3291840" y="1371600"/>
            <a:ext cx="2798064" cy="329184"/>
          </a:xfrm>
          <a:prstGeom prst="rect">
            <a:avLst/>
          </a:prstGeom>
          <a:solidFill>
            <a:srgbClr val="C0392B"/>
          </a:solidFill>
          <a:ln w="12700">
            <a:solidFill>
              <a:srgbClr val="C0392B"/>
            </a:solidFill>
            <a:prstDash val="solid"/>
          </a:ln>
        </p:spPr>
      </p:sp>
      <p:sp>
        <p:nvSpPr>
          <p:cNvPr id="29" name="Text 27"/>
          <p:cNvSpPr/>
          <p:nvPr/>
        </p:nvSpPr>
        <p:spPr>
          <a:xfrm>
            <a:off x="3291840" y="1371600"/>
            <a:ext cx="279806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Normalization &amp; PII</a:t>
            </a:r>
            <a:endParaRPr lang="en-US" sz="1050" dirty="0"/>
          </a:p>
        </p:txBody>
      </p:sp>
      <p:sp>
        <p:nvSpPr>
          <p:cNvPr id="30" name="Shape 28"/>
          <p:cNvSpPr/>
          <p:nvPr/>
        </p:nvSpPr>
        <p:spPr>
          <a:xfrm>
            <a:off x="3291840" y="1700784"/>
            <a:ext cx="2798064" cy="621792"/>
          </a:xfrm>
          <a:prstGeom prst="rect">
            <a:avLst/>
          </a:prstGeom>
          <a:solidFill>
            <a:srgbClr val="EDF2F7"/>
          </a:solidFill>
          <a:ln w="12700">
            <a:solidFill>
              <a:srgbClr val="E2E8F0"/>
            </a:solidFill>
            <a:prstDash val="solid"/>
          </a:ln>
        </p:spPr>
      </p:sp>
      <p:sp>
        <p:nvSpPr>
          <p:cNvPr id="31" name="Text 29"/>
          <p:cNvSpPr/>
          <p:nvPr/>
        </p:nvSpPr>
        <p:spPr>
          <a:xfrm>
            <a:off x="3383280" y="1737360"/>
            <a:ext cx="2615184" cy="201168"/>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dataclasses</a:t>
            </a:r>
            <a:endParaRPr lang="en-US" sz="950" dirty="0"/>
          </a:p>
        </p:txBody>
      </p:sp>
      <p:sp>
        <p:nvSpPr>
          <p:cNvPr id="32" name="Text 30"/>
          <p:cNvSpPr/>
          <p:nvPr/>
        </p:nvSpPr>
        <p:spPr>
          <a:xfrm>
            <a:off x="3383280" y="1938528"/>
            <a:ext cx="2615184" cy="164592"/>
          </a:xfrm>
          <a:prstGeom prst="rect">
            <a:avLst/>
          </a:prstGeom>
          <a:noFill/>
          <a:ln/>
        </p:spPr>
        <p:txBody>
          <a:bodyPr wrap="square" lIns="0" tIns="0" rIns="0" bIns="0" rtlCol="0" anchor="ctr"/>
          <a:lstStyle/>
          <a:p>
            <a:pPr indent="0" marL="0">
              <a:buNone/>
            </a:pPr>
            <a:r>
              <a:rPr lang="en-US" sz="800" dirty="0">
                <a:solidFill>
                  <a:srgbClr val="C0392B"/>
                </a:solidFill>
                <a:latin typeface="Courier New" pitchFamily="34" charset="0"/>
                <a:ea typeface="Courier New" pitchFamily="34" charset="-122"/>
                <a:cs typeface="Courier New" pitchFamily="34" charset="-120"/>
              </a:rPr>
              <a:t>built-in Python 3.7+</a:t>
            </a:r>
            <a:endParaRPr lang="en-US" sz="800" dirty="0"/>
          </a:p>
        </p:txBody>
      </p:sp>
      <p:sp>
        <p:nvSpPr>
          <p:cNvPr id="33" name="Text 31"/>
          <p:cNvSpPr/>
          <p:nvPr/>
        </p:nvSpPr>
        <p:spPr>
          <a:xfrm>
            <a:off x="3383280" y="2103120"/>
            <a:ext cx="2615184" cy="182880"/>
          </a:xfrm>
          <a:prstGeom prst="rect">
            <a:avLst/>
          </a:prstGeom>
          <a:noFill/>
          <a:ln/>
        </p:spPr>
        <p:txBody>
          <a:bodyPr wrap="square" lIns="0" tIns="0" rIns="0" bIns="0" rtlCol="0" anchor="ctr"/>
          <a:lstStyle/>
          <a:p>
            <a:pPr indent="0" marL="0">
              <a:buNone/>
            </a:pPr>
            <a:r>
              <a:rPr lang="en-US" sz="800" dirty="0">
                <a:solidFill>
                  <a:srgbClr val="4A5568"/>
                </a:solidFill>
                <a:latin typeface="Calibri" pitchFamily="34" charset="0"/>
                <a:ea typeface="Calibri" pitchFamily="34" charset="-122"/>
                <a:cs typeface="Calibri" pitchFamily="34" charset="-120"/>
              </a:rPr>
              <a:t>WorkpaperRecord dataclass definition</a:t>
            </a:r>
            <a:endParaRPr lang="en-US" sz="800" dirty="0"/>
          </a:p>
        </p:txBody>
      </p:sp>
      <p:sp>
        <p:nvSpPr>
          <p:cNvPr id="34" name="Shape 32"/>
          <p:cNvSpPr/>
          <p:nvPr/>
        </p:nvSpPr>
        <p:spPr>
          <a:xfrm>
            <a:off x="3291840" y="2359152"/>
            <a:ext cx="2798064" cy="621792"/>
          </a:xfrm>
          <a:prstGeom prst="rect">
            <a:avLst/>
          </a:prstGeom>
          <a:solidFill>
            <a:srgbClr val="FFFFFF"/>
          </a:solidFill>
          <a:ln w="12700">
            <a:solidFill>
              <a:srgbClr val="E2E8F0"/>
            </a:solidFill>
            <a:prstDash val="solid"/>
          </a:ln>
        </p:spPr>
      </p:sp>
      <p:sp>
        <p:nvSpPr>
          <p:cNvPr id="35" name="Text 33"/>
          <p:cNvSpPr/>
          <p:nvPr/>
        </p:nvSpPr>
        <p:spPr>
          <a:xfrm>
            <a:off x="3383280" y="2395728"/>
            <a:ext cx="2615184" cy="201168"/>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spaCy</a:t>
            </a:r>
            <a:endParaRPr lang="en-US" sz="950" dirty="0"/>
          </a:p>
        </p:txBody>
      </p:sp>
      <p:sp>
        <p:nvSpPr>
          <p:cNvPr id="36" name="Text 34"/>
          <p:cNvSpPr/>
          <p:nvPr/>
        </p:nvSpPr>
        <p:spPr>
          <a:xfrm>
            <a:off x="3383280" y="2596896"/>
            <a:ext cx="2615184" cy="164592"/>
          </a:xfrm>
          <a:prstGeom prst="rect">
            <a:avLst/>
          </a:prstGeom>
          <a:noFill/>
          <a:ln/>
        </p:spPr>
        <p:txBody>
          <a:bodyPr wrap="square" lIns="0" tIns="0" rIns="0" bIns="0" rtlCol="0" anchor="ctr"/>
          <a:lstStyle/>
          <a:p>
            <a:pPr indent="0" marL="0">
              <a:buNone/>
            </a:pPr>
            <a:r>
              <a:rPr lang="en-US" sz="800" dirty="0">
                <a:solidFill>
                  <a:srgbClr val="C0392B"/>
                </a:solidFill>
                <a:latin typeface="Courier New" pitchFamily="34" charset="0"/>
                <a:ea typeface="Courier New" pitchFamily="34" charset="-122"/>
                <a:cs typeface="Courier New" pitchFamily="34" charset="-120"/>
              </a:rPr>
              <a:t>pip install spacy</a:t>
            </a:r>
            <a:endParaRPr lang="en-US" sz="800" dirty="0"/>
          </a:p>
        </p:txBody>
      </p:sp>
      <p:sp>
        <p:nvSpPr>
          <p:cNvPr id="37" name="Text 35"/>
          <p:cNvSpPr/>
          <p:nvPr/>
        </p:nvSpPr>
        <p:spPr>
          <a:xfrm>
            <a:off x="3383280" y="2761488"/>
            <a:ext cx="2615184" cy="182880"/>
          </a:xfrm>
          <a:prstGeom prst="rect">
            <a:avLst/>
          </a:prstGeom>
          <a:noFill/>
          <a:ln/>
        </p:spPr>
        <p:txBody>
          <a:bodyPr wrap="square" lIns="0" tIns="0" rIns="0" bIns="0" rtlCol="0" anchor="ctr"/>
          <a:lstStyle/>
          <a:p>
            <a:pPr indent="0" marL="0">
              <a:buNone/>
            </a:pPr>
            <a:r>
              <a:rPr lang="en-US" sz="800" dirty="0">
                <a:solidFill>
                  <a:srgbClr val="4A5568"/>
                </a:solidFill>
                <a:latin typeface="Calibri" pitchFamily="34" charset="0"/>
                <a:ea typeface="Calibri" pitchFamily="34" charset="-122"/>
                <a:cs typeface="Calibri" pitchFamily="34" charset="-120"/>
              </a:rPr>
              <a:t>NER for PII stripping — ORG, PERSON, GPE, LOC</a:t>
            </a:r>
            <a:endParaRPr lang="en-US" sz="800" dirty="0"/>
          </a:p>
        </p:txBody>
      </p:sp>
      <p:sp>
        <p:nvSpPr>
          <p:cNvPr id="38" name="Shape 36"/>
          <p:cNvSpPr/>
          <p:nvPr/>
        </p:nvSpPr>
        <p:spPr>
          <a:xfrm>
            <a:off x="3291840" y="3017520"/>
            <a:ext cx="2798064" cy="621792"/>
          </a:xfrm>
          <a:prstGeom prst="rect">
            <a:avLst/>
          </a:prstGeom>
          <a:solidFill>
            <a:srgbClr val="EDF2F7"/>
          </a:solidFill>
          <a:ln w="12700">
            <a:solidFill>
              <a:srgbClr val="E2E8F0"/>
            </a:solidFill>
            <a:prstDash val="solid"/>
          </a:ln>
        </p:spPr>
      </p:sp>
      <p:sp>
        <p:nvSpPr>
          <p:cNvPr id="39" name="Text 37"/>
          <p:cNvSpPr/>
          <p:nvPr/>
        </p:nvSpPr>
        <p:spPr>
          <a:xfrm>
            <a:off x="3383280" y="3054096"/>
            <a:ext cx="2615184" cy="201168"/>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tiktoken</a:t>
            </a:r>
            <a:endParaRPr lang="en-US" sz="950" dirty="0"/>
          </a:p>
        </p:txBody>
      </p:sp>
      <p:sp>
        <p:nvSpPr>
          <p:cNvPr id="40" name="Text 38"/>
          <p:cNvSpPr/>
          <p:nvPr/>
        </p:nvSpPr>
        <p:spPr>
          <a:xfrm>
            <a:off x="3383280" y="3255264"/>
            <a:ext cx="2615184" cy="164592"/>
          </a:xfrm>
          <a:prstGeom prst="rect">
            <a:avLst/>
          </a:prstGeom>
          <a:noFill/>
          <a:ln/>
        </p:spPr>
        <p:txBody>
          <a:bodyPr wrap="square" lIns="0" tIns="0" rIns="0" bIns="0" rtlCol="0" anchor="ctr"/>
          <a:lstStyle/>
          <a:p>
            <a:pPr indent="0" marL="0">
              <a:buNone/>
            </a:pPr>
            <a:r>
              <a:rPr lang="en-US" sz="800" dirty="0">
                <a:solidFill>
                  <a:srgbClr val="C0392B"/>
                </a:solidFill>
                <a:latin typeface="Courier New" pitchFamily="34" charset="0"/>
                <a:ea typeface="Courier New" pitchFamily="34" charset="-122"/>
                <a:cs typeface="Courier New" pitchFamily="34" charset="-120"/>
              </a:rPr>
              <a:t>pip install tiktoken</a:t>
            </a:r>
            <a:endParaRPr lang="en-US" sz="800" dirty="0"/>
          </a:p>
        </p:txBody>
      </p:sp>
      <p:sp>
        <p:nvSpPr>
          <p:cNvPr id="41" name="Text 39"/>
          <p:cNvSpPr/>
          <p:nvPr/>
        </p:nvSpPr>
        <p:spPr>
          <a:xfrm>
            <a:off x="3383280" y="3419856"/>
            <a:ext cx="2615184" cy="182880"/>
          </a:xfrm>
          <a:prstGeom prst="rect">
            <a:avLst/>
          </a:prstGeom>
          <a:noFill/>
          <a:ln/>
        </p:spPr>
        <p:txBody>
          <a:bodyPr wrap="square" lIns="0" tIns="0" rIns="0" bIns="0" rtlCol="0" anchor="ctr"/>
          <a:lstStyle/>
          <a:p>
            <a:pPr indent="0" marL="0">
              <a:buNone/>
            </a:pPr>
            <a:r>
              <a:rPr lang="en-US" sz="800" dirty="0">
                <a:solidFill>
                  <a:srgbClr val="4A5568"/>
                </a:solidFill>
                <a:latin typeface="Calibri" pitchFamily="34" charset="0"/>
                <a:ea typeface="Calibri" pitchFamily="34" charset="-122"/>
                <a:cs typeface="Calibri" pitchFamily="34" charset="-120"/>
              </a:rPr>
              <a:t>Measure chunk_size in tokens not characters</a:t>
            </a:r>
            <a:endParaRPr lang="en-US" sz="800" dirty="0"/>
          </a:p>
        </p:txBody>
      </p:sp>
      <p:sp>
        <p:nvSpPr>
          <p:cNvPr id="42" name="Shape 40"/>
          <p:cNvSpPr/>
          <p:nvPr/>
        </p:nvSpPr>
        <p:spPr>
          <a:xfrm>
            <a:off x="3291840" y="3675888"/>
            <a:ext cx="2798064" cy="621792"/>
          </a:xfrm>
          <a:prstGeom prst="rect">
            <a:avLst/>
          </a:prstGeom>
          <a:solidFill>
            <a:srgbClr val="FFFFFF"/>
          </a:solidFill>
          <a:ln w="12700">
            <a:solidFill>
              <a:srgbClr val="E2E8F0"/>
            </a:solidFill>
            <a:prstDash val="solid"/>
          </a:ln>
        </p:spPr>
      </p:sp>
      <p:sp>
        <p:nvSpPr>
          <p:cNvPr id="43" name="Text 41"/>
          <p:cNvSpPr/>
          <p:nvPr/>
        </p:nvSpPr>
        <p:spPr>
          <a:xfrm>
            <a:off x="3383280" y="3712464"/>
            <a:ext cx="2615184" cy="201168"/>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re (stdlib)</a:t>
            </a:r>
            <a:endParaRPr lang="en-US" sz="950" dirty="0"/>
          </a:p>
        </p:txBody>
      </p:sp>
      <p:sp>
        <p:nvSpPr>
          <p:cNvPr id="44" name="Text 42"/>
          <p:cNvSpPr/>
          <p:nvPr/>
        </p:nvSpPr>
        <p:spPr>
          <a:xfrm>
            <a:off x="3383280" y="3913632"/>
            <a:ext cx="2615184" cy="164592"/>
          </a:xfrm>
          <a:prstGeom prst="rect">
            <a:avLst/>
          </a:prstGeom>
          <a:noFill/>
          <a:ln/>
        </p:spPr>
        <p:txBody>
          <a:bodyPr wrap="square" lIns="0" tIns="0" rIns="0" bIns="0" rtlCol="0" anchor="ctr"/>
          <a:lstStyle/>
          <a:p>
            <a:pPr indent="0" marL="0">
              <a:buNone/>
            </a:pPr>
            <a:r>
              <a:rPr lang="en-US" sz="800" dirty="0">
                <a:solidFill>
                  <a:srgbClr val="C0392B"/>
                </a:solidFill>
                <a:latin typeface="Courier New" pitchFamily="34" charset="0"/>
                <a:ea typeface="Courier New" pitchFamily="34" charset="-122"/>
                <a:cs typeface="Courier New" pitchFamily="34" charset="-120"/>
              </a:rPr>
              <a:t>built-in</a:t>
            </a:r>
            <a:endParaRPr lang="en-US" sz="800" dirty="0"/>
          </a:p>
        </p:txBody>
      </p:sp>
      <p:sp>
        <p:nvSpPr>
          <p:cNvPr id="45" name="Text 43"/>
          <p:cNvSpPr/>
          <p:nvPr/>
        </p:nvSpPr>
        <p:spPr>
          <a:xfrm>
            <a:off x="3383280" y="4078224"/>
            <a:ext cx="2615184" cy="182880"/>
          </a:xfrm>
          <a:prstGeom prst="rect">
            <a:avLst/>
          </a:prstGeom>
          <a:noFill/>
          <a:ln/>
        </p:spPr>
        <p:txBody>
          <a:bodyPr wrap="square" lIns="0" tIns="0" rIns="0" bIns="0" rtlCol="0" anchor="ctr"/>
          <a:lstStyle/>
          <a:p>
            <a:pPr indent="0" marL="0">
              <a:buNone/>
            </a:pPr>
            <a:r>
              <a:rPr lang="en-US" sz="800" dirty="0">
                <a:solidFill>
                  <a:srgbClr val="4A5568"/>
                </a:solidFill>
                <a:latin typeface="Calibri" pitchFamily="34" charset="0"/>
                <a:ea typeface="Calibri" pitchFamily="34" charset="-122"/>
                <a:cs typeface="Calibri" pitchFamily="34" charset="-120"/>
              </a:rPr>
              <a:t>Regex for EIN, dates, dollar amounts</a:t>
            </a:r>
            <a:endParaRPr lang="en-US" sz="800" dirty="0"/>
          </a:p>
        </p:txBody>
      </p:sp>
      <p:sp>
        <p:nvSpPr>
          <p:cNvPr id="46" name="Shape 44"/>
          <p:cNvSpPr/>
          <p:nvPr/>
        </p:nvSpPr>
        <p:spPr>
          <a:xfrm>
            <a:off x="3291840" y="4334256"/>
            <a:ext cx="2798064" cy="621792"/>
          </a:xfrm>
          <a:prstGeom prst="rect">
            <a:avLst/>
          </a:prstGeom>
          <a:solidFill>
            <a:srgbClr val="EDF2F7"/>
          </a:solidFill>
          <a:ln w="12700">
            <a:solidFill>
              <a:srgbClr val="E2E8F0"/>
            </a:solidFill>
            <a:prstDash val="solid"/>
          </a:ln>
        </p:spPr>
      </p:sp>
      <p:sp>
        <p:nvSpPr>
          <p:cNvPr id="47" name="Text 45"/>
          <p:cNvSpPr/>
          <p:nvPr/>
        </p:nvSpPr>
        <p:spPr>
          <a:xfrm>
            <a:off x="3383280" y="4370832"/>
            <a:ext cx="2615184" cy="201168"/>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hashlib (stdlib)</a:t>
            </a:r>
            <a:endParaRPr lang="en-US" sz="950" dirty="0"/>
          </a:p>
        </p:txBody>
      </p:sp>
      <p:sp>
        <p:nvSpPr>
          <p:cNvPr id="48" name="Text 46"/>
          <p:cNvSpPr/>
          <p:nvPr/>
        </p:nvSpPr>
        <p:spPr>
          <a:xfrm>
            <a:off x="3383280" y="4572000"/>
            <a:ext cx="2615184" cy="164592"/>
          </a:xfrm>
          <a:prstGeom prst="rect">
            <a:avLst/>
          </a:prstGeom>
          <a:noFill/>
          <a:ln/>
        </p:spPr>
        <p:txBody>
          <a:bodyPr wrap="square" lIns="0" tIns="0" rIns="0" bIns="0" rtlCol="0" anchor="ctr"/>
          <a:lstStyle/>
          <a:p>
            <a:pPr indent="0" marL="0">
              <a:buNone/>
            </a:pPr>
            <a:r>
              <a:rPr lang="en-US" sz="800" dirty="0">
                <a:solidFill>
                  <a:srgbClr val="C0392B"/>
                </a:solidFill>
                <a:latin typeface="Courier New" pitchFamily="34" charset="0"/>
                <a:ea typeface="Courier New" pitchFamily="34" charset="-122"/>
                <a:cs typeface="Courier New" pitchFamily="34" charset="-120"/>
              </a:rPr>
              <a:t>built-in</a:t>
            </a:r>
            <a:endParaRPr lang="en-US" sz="800" dirty="0"/>
          </a:p>
        </p:txBody>
      </p:sp>
      <p:sp>
        <p:nvSpPr>
          <p:cNvPr id="49" name="Text 47"/>
          <p:cNvSpPr/>
          <p:nvPr/>
        </p:nvSpPr>
        <p:spPr>
          <a:xfrm>
            <a:off x="3383280" y="4736592"/>
            <a:ext cx="2615184" cy="182880"/>
          </a:xfrm>
          <a:prstGeom prst="rect">
            <a:avLst/>
          </a:prstGeom>
          <a:noFill/>
          <a:ln/>
        </p:spPr>
        <p:txBody>
          <a:bodyPr wrap="square" lIns="0" tIns="0" rIns="0" bIns="0" rtlCol="0" anchor="ctr"/>
          <a:lstStyle/>
          <a:p>
            <a:pPr indent="0" marL="0">
              <a:buNone/>
            </a:pPr>
            <a:r>
              <a:rPr lang="en-US" sz="800" dirty="0">
                <a:solidFill>
                  <a:srgbClr val="4A5568"/>
                </a:solidFill>
                <a:latin typeface="Calibri" pitchFamily="34" charset="0"/>
                <a:ea typeface="Calibri" pitchFamily="34" charset="-122"/>
                <a:cs typeface="Calibri" pitchFamily="34" charset="-120"/>
              </a:rPr>
              <a:t>Deterministic chunk_id and pair deduplication</a:t>
            </a:r>
            <a:endParaRPr lang="en-US" sz="800" dirty="0"/>
          </a:p>
        </p:txBody>
      </p:sp>
      <p:sp>
        <p:nvSpPr>
          <p:cNvPr id="50" name="Shape 48"/>
          <p:cNvSpPr/>
          <p:nvPr/>
        </p:nvSpPr>
        <p:spPr>
          <a:xfrm>
            <a:off x="6236208" y="1371600"/>
            <a:ext cx="2798064" cy="329184"/>
          </a:xfrm>
          <a:prstGeom prst="rect">
            <a:avLst/>
          </a:prstGeom>
          <a:solidFill>
            <a:srgbClr val="D4A017"/>
          </a:solidFill>
          <a:ln w="12700">
            <a:solidFill>
              <a:srgbClr val="D4A017"/>
            </a:solidFill>
            <a:prstDash val="solid"/>
          </a:ln>
        </p:spPr>
      </p:sp>
      <p:sp>
        <p:nvSpPr>
          <p:cNvPr id="51" name="Text 49"/>
          <p:cNvSpPr/>
          <p:nvPr/>
        </p:nvSpPr>
        <p:spPr>
          <a:xfrm>
            <a:off x="6236208" y="1371600"/>
            <a:ext cx="279806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Layer 2 — LLM &amp; Assembly</a:t>
            </a:r>
            <a:endParaRPr lang="en-US" sz="1050" dirty="0"/>
          </a:p>
        </p:txBody>
      </p:sp>
      <p:sp>
        <p:nvSpPr>
          <p:cNvPr id="52" name="Shape 50"/>
          <p:cNvSpPr/>
          <p:nvPr/>
        </p:nvSpPr>
        <p:spPr>
          <a:xfrm>
            <a:off x="6236208" y="1700784"/>
            <a:ext cx="2798064" cy="621792"/>
          </a:xfrm>
          <a:prstGeom prst="rect">
            <a:avLst/>
          </a:prstGeom>
          <a:solidFill>
            <a:srgbClr val="EDF2F7"/>
          </a:solidFill>
          <a:ln w="12700">
            <a:solidFill>
              <a:srgbClr val="E2E8F0"/>
            </a:solidFill>
            <a:prstDash val="solid"/>
          </a:ln>
        </p:spPr>
      </p:sp>
      <p:sp>
        <p:nvSpPr>
          <p:cNvPr id="53" name="Text 51"/>
          <p:cNvSpPr/>
          <p:nvPr/>
        </p:nvSpPr>
        <p:spPr>
          <a:xfrm>
            <a:off x="6327648" y="1737360"/>
            <a:ext cx="2615184" cy="201168"/>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Ollama</a:t>
            </a:r>
            <a:endParaRPr lang="en-US" sz="950" dirty="0"/>
          </a:p>
        </p:txBody>
      </p:sp>
      <p:sp>
        <p:nvSpPr>
          <p:cNvPr id="54" name="Text 52"/>
          <p:cNvSpPr/>
          <p:nvPr/>
        </p:nvSpPr>
        <p:spPr>
          <a:xfrm>
            <a:off x="6327648" y="1938528"/>
            <a:ext cx="2615184" cy="164592"/>
          </a:xfrm>
          <a:prstGeom prst="rect">
            <a:avLst/>
          </a:prstGeom>
          <a:noFill/>
          <a:ln/>
        </p:spPr>
        <p:txBody>
          <a:bodyPr wrap="square" lIns="0" tIns="0" rIns="0" bIns="0" rtlCol="0" anchor="ctr"/>
          <a:lstStyle/>
          <a:p>
            <a:pPr indent="0" marL="0">
              <a:buNone/>
            </a:pPr>
            <a:r>
              <a:rPr lang="en-US" sz="800" dirty="0">
                <a:solidFill>
                  <a:srgbClr val="D4A017"/>
                </a:solidFill>
                <a:latin typeface="Courier New" pitchFamily="34" charset="0"/>
                <a:ea typeface="Courier New" pitchFamily="34" charset="-122"/>
                <a:cs typeface="Courier New" pitchFamily="34" charset="-120"/>
              </a:rPr>
              <a:t>curl install (binary)</a:t>
            </a:r>
            <a:endParaRPr lang="en-US" sz="800" dirty="0"/>
          </a:p>
        </p:txBody>
      </p:sp>
      <p:sp>
        <p:nvSpPr>
          <p:cNvPr id="55" name="Text 53"/>
          <p:cNvSpPr/>
          <p:nvPr/>
        </p:nvSpPr>
        <p:spPr>
          <a:xfrm>
            <a:off x="6327648" y="2103120"/>
            <a:ext cx="2615184" cy="182880"/>
          </a:xfrm>
          <a:prstGeom prst="rect">
            <a:avLst/>
          </a:prstGeom>
          <a:noFill/>
          <a:ln/>
        </p:spPr>
        <p:txBody>
          <a:bodyPr wrap="square" lIns="0" tIns="0" rIns="0" bIns="0" rtlCol="0" anchor="ctr"/>
          <a:lstStyle/>
          <a:p>
            <a:pPr indent="0" marL="0">
              <a:buNone/>
            </a:pPr>
            <a:r>
              <a:rPr lang="en-US" sz="800" dirty="0">
                <a:solidFill>
                  <a:srgbClr val="4A5568"/>
                </a:solidFill>
                <a:latin typeface="Calibri" pitchFamily="34" charset="0"/>
                <a:ea typeface="Calibri" pitchFamily="34" charset="-122"/>
                <a:cs typeface="Calibri" pitchFamily="34" charset="-120"/>
              </a:rPr>
              <a:t>Local model server — runs Gemma 3 12B on localhost</a:t>
            </a:r>
            <a:endParaRPr lang="en-US" sz="800" dirty="0"/>
          </a:p>
        </p:txBody>
      </p:sp>
      <p:sp>
        <p:nvSpPr>
          <p:cNvPr id="56" name="Shape 54"/>
          <p:cNvSpPr/>
          <p:nvPr/>
        </p:nvSpPr>
        <p:spPr>
          <a:xfrm>
            <a:off x="6236208" y="2359152"/>
            <a:ext cx="2798064" cy="621792"/>
          </a:xfrm>
          <a:prstGeom prst="rect">
            <a:avLst/>
          </a:prstGeom>
          <a:solidFill>
            <a:srgbClr val="FFFFFF"/>
          </a:solidFill>
          <a:ln w="12700">
            <a:solidFill>
              <a:srgbClr val="E2E8F0"/>
            </a:solidFill>
            <a:prstDash val="solid"/>
          </a:ln>
        </p:spPr>
      </p:sp>
      <p:sp>
        <p:nvSpPr>
          <p:cNvPr id="57" name="Text 55"/>
          <p:cNvSpPr/>
          <p:nvPr/>
        </p:nvSpPr>
        <p:spPr>
          <a:xfrm>
            <a:off x="6327648" y="2395728"/>
            <a:ext cx="2615184" cy="201168"/>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openai</a:t>
            </a:r>
            <a:endParaRPr lang="en-US" sz="950" dirty="0"/>
          </a:p>
        </p:txBody>
      </p:sp>
      <p:sp>
        <p:nvSpPr>
          <p:cNvPr id="58" name="Text 56"/>
          <p:cNvSpPr/>
          <p:nvPr/>
        </p:nvSpPr>
        <p:spPr>
          <a:xfrm>
            <a:off x="6327648" y="2596896"/>
            <a:ext cx="2615184" cy="164592"/>
          </a:xfrm>
          <a:prstGeom prst="rect">
            <a:avLst/>
          </a:prstGeom>
          <a:noFill/>
          <a:ln/>
        </p:spPr>
        <p:txBody>
          <a:bodyPr wrap="square" lIns="0" tIns="0" rIns="0" bIns="0" rtlCol="0" anchor="ctr"/>
          <a:lstStyle/>
          <a:p>
            <a:pPr indent="0" marL="0">
              <a:buNone/>
            </a:pPr>
            <a:r>
              <a:rPr lang="en-US" sz="800" dirty="0">
                <a:solidFill>
                  <a:srgbClr val="D4A017"/>
                </a:solidFill>
                <a:latin typeface="Courier New" pitchFamily="34" charset="0"/>
                <a:ea typeface="Courier New" pitchFamily="34" charset="-122"/>
                <a:cs typeface="Courier New" pitchFamily="34" charset="-120"/>
              </a:rPr>
              <a:t>pip install openai</a:t>
            </a:r>
            <a:endParaRPr lang="en-US" sz="800" dirty="0"/>
          </a:p>
        </p:txBody>
      </p:sp>
      <p:sp>
        <p:nvSpPr>
          <p:cNvPr id="59" name="Text 57"/>
          <p:cNvSpPr/>
          <p:nvPr/>
        </p:nvSpPr>
        <p:spPr>
          <a:xfrm>
            <a:off x="6327648" y="2761488"/>
            <a:ext cx="2615184" cy="182880"/>
          </a:xfrm>
          <a:prstGeom prst="rect">
            <a:avLst/>
          </a:prstGeom>
          <a:noFill/>
          <a:ln/>
        </p:spPr>
        <p:txBody>
          <a:bodyPr wrap="square" lIns="0" tIns="0" rIns="0" bIns="0" rtlCol="0" anchor="ctr"/>
          <a:lstStyle/>
          <a:p>
            <a:pPr indent="0" marL="0">
              <a:buNone/>
            </a:pPr>
            <a:r>
              <a:rPr lang="en-US" sz="800" dirty="0">
                <a:solidFill>
                  <a:srgbClr val="4A5568"/>
                </a:solidFill>
                <a:latin typeface="Calibri" pitchFamily="34" charset="0"/>
                <a:ea typeface="Calibri" pitchFamily="34" charset="-122"/>
                <a:cs typeface="Calibri" pitchFamily="34" charset="-120"/>
              </a:rPr>
              <a:t>Client lib — points to Ollama's OpenAI-compatible API</a:t>
            </a:r>
            <a:endParaRPr lang="en-US" sz="800" dirty="0"/>
          </a:p>
        </p:txBody>
      </p:sp>
      <p:sp>
        <p:nvSpPr>
          <p:cNvPr id="60" name="Shape 58"/>
          <p:cNvSpPr/>
          <p:nvPr/>
        </p:nvSpPr>
        <p:spPr>
          <a:xfrm>
            <a:off x="6236208" y="3017520"/>
            <a:ext cx="2798064" cy="621792"/>
          </a:xfrm>
          <a:prstGeom prst="rect">
            <a:avLst/>
          </a:prstGeom>
          <a:solidFill>
            <a:srgbClr val="EDF2F7"/>
          </a:solidFill>
          <a:ln w="12700">
            <a:solidFill>
              <a:srgbClr val="E2E8F0"/>
            </a:solidFill>
            <a:prstDash val="solid"/>
          </a:ln>
        </p:spPr>
      </p:sp>
      <p:sp>
        <p:nvSpPr>
          <p:cNvPr id="61" name="Text 59"/>
          <p:cNvSpPr/>
          <p:nvPr/>
        </p:nvSpPr>
        <p:spPr>
          <a:xfrm>
            <a:off x="6327648" y="3054096"/>
            <a:ext cx="2615184" cy="201168"/>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Gemma 3 12B</a:t>
            </a:r>
            <a:endParaRPr lang="en-US" sz="950" dirty="0"/>
          </a:p>
        </p:txBody>
      </p:sp>
      <p:sp>
        <p:nvSpPr>
          <p:cNvPr id="62" name="Text 60"/>
          <p:cNvSpPr/>
          <p:nvPr/>
        </p:nvSpPr>
        <p:spPr>
          <a:xfrm>
            <a:off x="6327648" y="3255264"/>
            <a:ext cx="2615184" cy="164592"/>
          </a:xfrm>
          <a:prstGeom prst="rect">
            <a:avLst/>
          </a:prstGeom>
          <a:noFill/>
          <a:ln/>
        </p:spPr>
        <p:txBody>
          <a:bodyPr wrap="square" lIns="0" tIns="0" rIns="0" bIns="0" rtlCol="0" anchor="ctr"/>
          <a:lstStyle/>
          <a:p>
            <a:pPr indent="0" marL="0">
              <a:buNone/>
            </a:pPr>
            <a:r>
              <a:rPr lang="en-US" sz="800" dirty="0">
                <a:solidFill>
                  <a:srgbClr val="D4A017"/>
                </a:solidFill>
                <a:latin typeface="Courier New" pitchFamily="34" charset="0"/>
                <a:ea typeface="Courier New" pitchFamily="34" charset="-122"/>
                <a:cs typeface="Courier New" pitchFamily="34" charset="-120"/>
              </a:rPr>
              <a:t>ollama pull gemma3:12b</a:t>
            </a:r>
            <a:endParaRPr lang="en-US" sz="800" dirty="0"/>
          </a:p>
        </p:txBody>
      </p:sp>
      <p:sp>
        <p:nvSpPr>
          <p:cNvPr id="63" name="Text 61"/>
          <p:cNvSpPr/>
          <p:nvPr/>
        </p:nvSpPr>
        <p:spPr>
          <a:xfrm>
            <a:off x="6327648" y="3419856"/>
            <a:ext cx="2615184" cy="182880"/>
          </a:xfrm>
          <a:prstGeom prst="rect">
            <a:avLst/>
          </a:prstGeom>
          <a:noFill/>
          <a:ln/>
        </p:spPr>
        <p:txBody>
          <a:bodyPr wrap="square" lIns="0" tIns="0" rIns="0" bIns="0" rtlCol="0" anchor="ctr"/>
          <a:lstStyle/>
          <a:p>
            <a:pPr indent="0" marL="0">
              <a:buNone/>
            </a:pPr>
            <a:r>
              <a:rPr lang="en-US" sz="800" dirty="0">
                <a:solidFill>
                  <a:srgbClr val="4A5568"/>
                </a:solidFill>
                <a:latin typeface="Calibri" pitchFamily="34" charset="0"/>
                <a:ea typeface="Calibri" pitchFamily="34" charset="-122"/>
                <a:cs typeface="Calibri" pitchFamily="34" charset="-120"/>
              </a:rPr>
              <a:t>Field extraction + completion drafting</a:t>
            </a:r>
            <a:endParaRPr lang="en-US" sz="800" dirty="0"/>
          </a:p>
        </p:txBody>
      </p:sp>
      <p:sp>
        <p:nvSpPr>
          <p:cNvPr id="64" name="Shape 62"/>
          <p:cNvSpPr/>
          <p:nvPr/>
        </p:nvSpPr>
        <p:spPr>
          <a:xfrm>
            <a:off x="6236208" y="3675888"/>
            <a:ext cx="2798064" cy="621792"/>
          </a:xfrm>
          <a:prstGeom prst="rect">
            <a:avLst/>
          </a:prstGeom>
          <a:solidFill>
            <a:srgbClr val="FFFFFF"/>
          </a:solidFill>
          <a:ln w="12700">
            <a:solidFill>
              <a:srgbClr val="E2E8F0"/>
            </a:solidFill>
            <a:prstDash val="solid"/>
          </a:ln>
        </p:spPr>
      </p:sp>
      <p:sp>
        <p:nvSpPr>
          <p:cNvPr id="65" name="Text 63"/>
          <p:cNvSpPr/>
          <p:nvPr/>
        </p:nvSpPr>
        <p:spPr>
          <a:xfrm>
            <a:off x="6327648" y="3712464"/>
            <a:ext cx="2615184" cy="201168"/>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json (stdlib)</a:t>
            </a:r>
            <a:endParaRPr lang="en-US" sz="950" dirty="0"/>
          </a:p>
        </p:txBody>
      </p:sp>
      <p:sp>
        <p:nvSpPr>
          <p:cNvPr id="66" name="Text 64"/>
          <p:cNvSpPr/>
          <p:nvPr/>
        </p:nvSpPr>
        <p:spPr>
          <a:xfrm>
            <a:off x="6327648" y="3913632"/>
            <a:ext cx="2615184" cy="164592"/>
          </a:xfrm>
          <a:prstGeom prst="rect">
            <a:avLst/>
          </a:prstGeom>
          <a:noFill/>
          <a:ln/>
        </p:spPr>
        <p:txBody>
          <a:bodyPr wrap="square" lIns="0" tIns="0" rIns="0" bIns="0" rtlCol="0" anchor="ctr"/>
          <a:lstStyle/>
          <a:p>
            <a:pPr indent="0" marL="0">
              <a:buNone/>
            </a:pPr>
            <a:r>
              <a:rPr lang="en-US" sz="800" dirty="0">
                <a:solidFill>
                  <a:srgbClr val="D4A017"/>
                </a:solidFill>
                <a:latin typeface="Courier New" pitchFamily="34" charset="0"/>
                <a:ea typeface="Courier New" pitchFamily="34" charset="-122"/>
                <a:cs typeface="Courier New" pitchFamily="34" charset="-120"/>
              </a:rPr>
              <a:t>built-in</a:t>
            </a:r>
            <a:endParaRPr lang="en-US" sz="800" dirty="0"/>
          </a:p>
        </p:txBody>
      </p:sp>
      <p:sp>
        <p:nvSpPr>
          <p:cNvPr id="67" name="Text 65"/>
          <p:cNvSpPr/>
          <p:nvPr/>
        </p:nvSpPr>
        <p:spPr>
          <a:xfrm>
            <a:off x="6327648" y="4078224"/>
            <a:ext cx="2615184" cy="182880"/>
          </a:xfrm>
          <a:prstGeom prst="rect">
            <a:avLst/>
          </a:prstGeom>
          <a:noFill/>
          <a:ln/>
        </p:spPr>
        <p:txBody>
          <a:bodyPr wrap="square" lIns="0" tIns="0" rIns="0" bIns="0" rtlCol="0" anchor="ctr"/>
          <a:lstStyle/>
          <a:p>
            <a:pPr indent="0" marL="0">
              <a:buNone/>
            </a:pPr>
            <a:r>
              <a:rPr lang="en-US" sz="800" dirty="0">
                <a:solidFill>
                  <a:srgbClr val="4A5568"/>
                </a:solidFill>
                <a:latin typeface="Calibri" pitchFamily="34" charset="0"/>
                <a:ea typeface="Calibri" pitchFamily="34" charset="-122"/>
                <a:cs typeface="Calibri" pitchFamily="34" charset="-120"/>
              </a:rPr>
              <a:t>json.dumps() for JSONL assembly — one line per pair</a:t>
            </a:r>
            <a:endParaRPr lang="en-US" sz="800" dirty="0"/>
          </a:p>
        </p:txBody>
      </p:sp>
      <p:sp>
        <p:nvSpPr>
          <p:cNvPr id="68" name="Shape 66"/>
          <p:cNvSpPr/>
          <p:nvPr/>
        </p:nvSpPr>
        <p:spPr>
          <a:xfrm>
            <a:off x="6236208" y="4334256"/>
            <a:ext cx="2798064" cy="621792"/>
          </a:xfrm>
          <a:prstGeom prst="rect">
            <a:avLst/>
          </a:prstGeom>
          <a:solidFill>
            <a:srgbClr val="EDF2F7"/>
          </a:solidFill>
          <a:ln w="12700">
            <a:solidFill>
              <a:srgbClr val="E2E8F0"/>
            </a:solidFill>
            <a:prstDash val="solid"/>
          </a:ln>
        </p:spPr>
      </p:sp>
      <p:sp>
        <p:nvSpPr>
          <p:cNvPr id="69" name="Text 67"/>
          <p:cNvSpPr/>
          <p:nvPr/>
        </p:nvSpPr>
        <p:spPr>
          <a:xfrm>
            <a:off x="6327648" y="4370832"/>
            <a:ext cx="2615184" cy="201168"/>
          </a:xfrm>
          <a:prstGeom prst="rect">
            <a:avLst/>
          </a:prstGeom>
          <a:noFill/>
          <a:ln/>
        </p:spPr>
        <p:txBody>
          <a:bodyPr wrap="square" lIns="0" tIns="0" rIns="0" bIns="0" rtlCol="0" anchor="ctr"/>
          <a:lstStyle/>
          <a:p>
            <a:pPr indent="0" marL="0">
              <a:buNone/>
            </a:pPr>
            <a:r>
              <a:rPr lang="en-US" sz="950" b="1" dirty="0">
                <a:solidFill>
                  <a:srgbClr val="0D1117"/>
                </a:solidFill>
                <a:latin typeface="Calibri" pitchFamily="34" charset="0"/>
                <a:ea typeface="Calibri" pitchFamily="34" charset="-122"/>
                <a:cs typeface="Calibri" pitchFamily="34" charset="-120"/>
              </a:rPr>
              <a:t>Qdrant</a:t>
            </a:r>
            <a:endParaRPr lang="en-US" sz="950" dirty="0"/>
          </a:p>
        </p:txBody>
      </p:sp>
      <p:sp>
        <p:nvSpPr>
          <p:cNvPr id="70" name="Text 68"/>
          <p:cNvSpPr/>
          <p:nvPr/>
        </p:nvSpPr>
        <p:spPr>
          <a:xfrm>
            <a:off x="6327648" y="4572000"/>
            <a:ext cx="2615184" cy="164592"/>
          </a:xfrm>
          <a:prstGeom prst="rect">
            <a:avLst/>
          </a:prstGeom>
          <a:noFill/>
          <a:ln/>
        </p:spPr>
        <p:txBody>
          <a:bodyPr wrap="square" lIns="0" tIns="0" rIns="0" bIns="0" rtlCol="0" anchor="ctr"/>
          <a:lstStyle/>
          <a:p>
            <a:pPr indent="0" marL="0">
              <a:buNone/>
            </a:pPr>
            <a:r>
              <a:rPr lang="en-US" sz="800" dirty="0">
                <a:solidFill>
                  <a:srgbClr val="D4A017"/>
                </a:solidFill>
                <a:latin typeface="Courier New" pitchFamily="34" charset="0"/>
                <a:ea typeface="Courier New" pitchFamily="34" charset="-122"/>
                <a:cs typeface="Courier New" pitchFamily="34" charset="-120"/>
              </a:rPr>
              <a:t>docker + pip install qdrant-client</a:t>
            </a:r>
            <a:endParaRPr lang="en-US" sz="800" dirty="0"/>
          </a:p>
        </p:txBody>
      </p:sp>
      <p:sp>
        <p:nvSpPr>
          <p:cNvPr id="71" name="Text 69"/>
          <p:cNvSpPr/>
          <p:nvPr/>
        </p:nvSpPr>
        <p:spPr>
          <a:xfrm>
            <a:off x="6327648" y="4736592"/>
            <a:ext cx="2615184" cy="182880"/>
          </a:xfrm>
          <a:prstGeom prst="rect">
            <a:avLst/>
          </a:prstGeom>
          <a:noFill/>
          <a:ln/>
        </p:spPr>
        <p:txBody>
          <a:bodyPr wrap="square" lIns="0" tIns="0" rIns="0" bIns="0" rtlCol="0" anchor="ctr"/>
          <a:lstStyle/>
          <a:p>
            <a:pPr indent="0" marL="0">
              <a:buNone/>
            </a:pPr>
            <a:r>
              <a:rPr lang="en-US" sz="800" dirty="0">
                <a:solidFill>
                  <a:srgbClr val="4A5568"/>
                </a:solidFill>
                <a:latin typeface="Calibri" pitchFamily="34" charset="0"/>
                <a:ea typeface="Calibri" pitchFamily="34" charset="-122"/>
                <a:cs typeface="Calibri" pitchFamily="34" charset="-120"/>
              </a:rPr>
              <a:t>RAG vector store for SOP chunks</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7C7B"/>
          </a:solidFill>
          <a:ln w="12700">
            <a:solidFill>
              <a:srgbClr val="0E7C7B"/>
            </a:solidFill>
            <a:prstDash val="solid"/>
          </a:ln>
        </p:spPr>
      </p:sp>
      <p:sp>
        <p:nvSpPr>
          <p:cNvPr id="3" name="Shape 1"/>
          <p:cNvSpPr/>
          <p:nvPr/>
        </p:nvSpPr>
        <p:spPr>
          <a:xfrm>
            <a:off x="6858000" y="0"/>
            <a:ext cx="2286000" cy="5143500"/>
          </a:xfrm>
          <a:prstGeom prst="rect">
            <a:avLst/>
          </a:prstGeom>
          <a:solidFill>
            <a:srgbClr val="161B22"/>
          </a:solidFill>
          <a:ln w="12700">
            <a:solidFill>
              <a:srgbClr val="161B22"/>
            </a:solidFill>
            <a:prstDash val="solid"/>
          </a:ln>
        </p:spPr>
      </p:sp>
      <p:sp>
        <p:nvSpPr>
          <p:cNvPr id="4" name="Text 2"/>
          <p:cNvSpPr/>
          <p:nvPr/>
        </p:nvSpPr>
        <p:spPr>
          <a:xfrm>
            <a:off x="347472" y="256032"/>
            <a:ext cx="6400800" cy="50292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The pipeline in 6 rules</a:t>
            </a:r>
            <a:endParaRPr lang="en-US" sz="3200" dirty="0"/>
          </a:p>
        </p:txBody>
      </p:sp>
      <p:sp>
        <p:nvSpPr>
          <p:cNvPr id="5" name="Text 3"/>
          <p:cNvSpPr/>
          <p:nvPr/>
        </p:nvSpPr>
        <p:spPr>
          <a:xfrm>
            <a:off x="347472" y="749808"/>
            <a:ext cx="6400800" cy="274320"/>
          </a:xfrm>
          <a:prstGeom prst="rect">
            <a:avLst/>
          </a:prstGeom>
          <a:noFill/>
          <a:ln/>
        </p:spPr>
        <p:txBody>
          <a:bodyPr wrap="square" lIns="0" tIns="0" rIns="0" bIns="0" rtlCol="0" anchor="ctr"/>
          <a:lstStyle/>
          <a:p>
            <a:pPr indent="0" marL="0">
              <a:buNone/>
            </a:pPr>
            <a:r>
              <a:rPr lang="en-US" sz="1300" i="1" dirty="0">
                <a:solidFill>
                  <a:srgbClr val="1A9A9C"/>
                </a:solidFill>
                <a:latin typeface="Calibri" pitchFamily="34" charset="0"/>
                <a:ea typeface="Calibri" pitchFamily="34" charset="-122"/>
                <a:cs typeface="Calibri" pitchFamily="34" charset="-120"/>
              </a:rPr>
              <a:t>Everything else is implementation detail.</a:t>
            </a:r>
            <a:endParaRPr lang="en-US" sz="1300" dirty="0"/>
          </a:p>
        </p:txBody>
      </p:sp>
      <p:sp>
        <p:nvSpPr>
          <p:cNvPr id="6" name="Shape 4"/>
          <p:cNvSpPr/>
          <p:nvPr/>
        </p:nvSpPr>
        <p:spPr>
          <a:xfrm>
            <a:off x="347472" y="1097280"/>
            <a:ext cx="6400800" cy="13716"/>
          </a:xfrm>
          <a:prstGeom prst="rect">
            <a:avLst/>
          </a:prstGeom>
          <a:solidFill>
            <a:srgbClr val="0E7C7B"/>
          </a:solidFill>
          <a:ln w="12700">
            <a:solidFill>
              <a:srgbClr val="0E7C7B"/>
            </a:solidFill>
            <a:prstDash val="solid"/>
          </a:ln>
        </p:spPr>
      </p:sp>
      <p:sp>
        <p:nvSpPr>
          <p:cNvPr id="7" name="Shape 5"/>
          <p:cNvSpPr/>
          <p:nvPr/>
        </p:nvSpPr>
        <p:spPr>
          <a:xfrm>
            <a:off x="347472" y="1243584"/>
            <a:ext cx="329184" cy="329184"/>
          </a:xfrm>
          <a:prstGeom prst="rect">
            <a:avLst/>
          </a:prstGeom>
          <a:solidFill>
            <a:srgbClr val="0E7C7B"/>
          </a:solidFill>
          <a:ln w="12700">
            <a:solidFill>
              <a:srgbClr val="0E7C7B"/>
            </a:solidFill>
            <a:prstDash val="solid"/>
          </a:ln>
        </p:spPr>
      </p:sp>
      <p:sp>
        <p:nvSpPr>
          <p:cNvPr id="8" name="Text 6"/>
          <p:cNvSpPr/>
          <p:nvPr/>
        </p:nvSpPr>
        <p:spPr>
          <a:xfrm>
            <a:off x="347472" y="1243584"/>
            <a:ext cx="329184" cy="329184"/>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01</a:t>
            </a:r>
            <a:endParaRPr lang="en-US" sz="1000" dirty="0"/>
          </a:p>
        </p:txBody>
      </p:sp>
      <p:sp>
        <p:nvSpPr>
          <p:cNvPr id="9" name="Text 7"/>
          <p:cNvSpPr/>
          <p:nvPr/>
        </p:nvSpPr>
        <p:spPr>
          <a:xfrm>
            <a:off x="786384" y="1261872"/>
            <a:ext cx="3383280" cy="20116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Layer 1 is never an LLM.</a:t>
            </a:r>
            <a:endParaRPr lang="en-US" sz="1100" dirty="0"/>
          </a:p>
        </p:txBody>
      </p:sp>
      <p:sp>
        <p:nvSpPr>
          <p:cNvPr id="10" name="Text 8"/>
          <p:cNvSpPr/>
          <p:nvPr/>
        </p:nvSpPr>
        <p:spPr>
          <a:xfrm>
            <a:off x="786384" y="1481328"/>
            <a:ext cx="3383280" cy="256032"/>
          </a:xfrm>
          <a:prstGeom prst="rect">
            <a:avLst/>
          </a:prstGeom>
          <a:noFill/>
          <a:ln/>
        </p:spPr>
        <p:txBody>
          <a:bodyPr wrap="square" lIns="0" tIns="0" rIns="0" bIns="0" rtlCol="0" anchor="ctr"/>
          <a:lstStyle/>
          <a:p>
            <a:pPr indent="0" marL="0">
              <a:buNone/>
            </a:pPr>
            <a:r>
              <a:rPr lang="en-US" sz="900" dirty="0">
                <a:solidFill>
                  <a:srgbClr val="7B9EAE"/>
                </a:solidFill>
                <a:latin typeface="Calibri" pitchFamily="34" charset="0"/>
                <a:ea typeface="Calibri" pitchFamily="34" charset="-122"/>
                <a:cs typeface="Calibri" pitchFamily="34" charset="-120"/>
              </a:rPr>
              <a:t>Docling, python-docx, openpyxl, json.loads() parse files. LLMs understand audit content. These are different jobs.</a:t>
            </a:r>
            <a:endParaRPr lang="en-US" sz="900" dirty="0"/>
          </a:p>
        </p:txBody>
      </p:sp>
      <p:sp>
        <p:nvSpPr>
          <p:cNvPr id="11" name="Shape 9"/>
          <p:cNvSpPr/>
          <p:nvPr/>
        </p:nvSpPr>
        <p:spPr>
          <a:xfrm>
            <a:off x="347472" y="1847088"/>
            <a:ext cx="329184" cy="329184"/>
          </a:xfrm>
          <a:prstGeom prst="rect">
            <a:avLst/>
          </a:prstGeom>
          <a:solidFill>
            <a:srgbClr val="0E7C7B"/>
          </a:solidFill>
          <a:ln w="12700">
            <a:solidFill>
              <a:srgbClr val="0E7C7B"/>
            </a:solidFill>
            <a:prstDash val="solid"/>
          </a:ln>
        </p:spPr>
      </p:sp>
      <p:sp>
        <p:nvSpPr>
          <p:cNvPr id="12" name="Text 10"/>
          <p:cNvSpPr/>
          <p:nvPr/>
        </p:nvSpPr>
        <p:spPr>
          <a:xfrm>
            <a:off x="347472" y="1847088"/>
            <a:ext cx="329184" cy="329184"/>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02</a:t>
            </a:r>
            <a:endParaRPr lang="en-US" sz="1000" dirty="0"/>
          </a:p>
        </p:txBody>
      </p:sp>
      <p:sp>
        <p:nvSpPr>
          <p:cNvPr id="13" name="Text 11"/>
          <p:cNvSpPr/>
          <p:nvPr/>
        </p:nvSpPr>
        <p:spPr>
          <a:xfrm>
            <a:off x="786384" y="1865376"/>
            <a:ext cx="3383280" cy="20116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Normalize before the LLM sees anything.</a:t>
            </a:r>
            <a:endParaRPr lang="en-US" sz="1100" dirty="0"/>
          </a:p>
        </p:txBody>
      </p:sp>
      <p:sp>
        <p:nvSpPr>
          <p:cNvPr id="14" name="Text 12"/>
          <p:cNvSpPr/>
          <p:nvPr/>
        </p:nvSpPr>
        <p:spPr>
          <a:xfrm>
            <a:off x="786384" y="2084832"/>
            <a:ext cx="3383280" cy="256032"/>
          </a:xfrm>
          <a:prstGeom prst="rect">
            <a:avLst/>
          </a:prstGeom>
          <a:noFill/>
          <a:ln/>
        </p:spPr>
        <p:txBody>
          <a:bodyPr wrap="square" lIns="0" tIns="0" rIns="0" bIns="0" rtlCol="0" anchor="ctr"/>
          <a:lstStyle/>
          <a:p>
            <a:pPr indent="0" marL="0">
              <a:buNone/>
            </a:pPr>
            <a:r>
              <a:rPr lang="en-US" sz="900" dirty="0">
                <a:solidFill>
                  <a:srgbClr val="7B9EAE"/>
                </a:solidFill>
                <a:latin typeface="Calibri" pitchFamily="34" charset="0"/>
                <a:ea typeface="Calibri" pitchFamily="34" charset="-122"/>
                <a:cs typeface="Calibri" pitchFamily="34" charset="-120"/>
              </a:rPr>
              <a:t>WorkpaperRecord is what Gemma 3 reads — not a PDF. Format-agnostic schema = format-agnostic model.</a:t>
            </a:r>
            <a:endParaRPr lang="en-US" sz="900" dirty="0"/>
          </a:p>
        </p:txBody>
      </p:sp>
      <p:sp>
        <p:nvSpPr>
          <p:cNvPr id="15" name="Shape 13"/>
          <p:cNvSpPr/>
          <p:nvPr/>
        </p:nvSpPr>
        <p:spPr>
          <a:xfrm>
            <a:off x="347472" y="2450592"/>
            <a:ext cx="329184" cy="329184"/>
          </a:xfrm>
          <a:prstGeom prst="rect">
            <a:avLst/>
          </a:prstGeom>
          <a:solidFill>
            <a:srgbClr val="0E7C7B"/>
          </a:solidFill>
          <a:ln w="12700">
            <a:solidFill>
              <a:srgbClr val="0E7C7B"/>
            </a:solidFill>
            <a:prstDash val="solid"/>
          </a:ln>
        </p:spPr>
      </p:sp>
      <p:sp>
        <p:nvSpPr>
          <p:cNvPr id="16" name="Text 14"/>
          <p:cNvSpPr/>
          <p:nvPr/>
        </p:nvSpPr>
        <p:spPr>
          <a:xfrm>
            <a:off x="347472" y="2450592"/>
            <a:ext cx="329184" cy="329184"/>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03</a:t>
            </a:r>
            <a:endParaRPr lang="en-US" sz="1000" dirty="0"/>
          </a:p>
        </p:txBody>
      </p:sp>
      <p:sp>
        <p:nvSpPr>
          <p:cNvPr id="17" name="Text 15"/>
          <p:cNvSpPr/>
          <p:nvPr/>
        </p:nvSpPr>
        <p:spPr>
          <a:xfrm>
            <a:off x="786384" y="2468880"/>
            <a:ext cx="3383280" cy="20116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Strip PII before extraction.</a:t>
            </a:r>
            <a:endParaRPr lang="en-US" sz="1100" dirty="0"/>
          </a:p>
        </p:txBody>
      </p:sp>
      <p:sp>
        <p:nvSpPr>
          <p:cNvPr id="18" name="Text 16"/>
          <p:cNvSpPr/>
          <p:nvPr/>
        </p:nvSpPr>
        <p:spPr>
          <a:xfrm>
            <a:off x="786384" y="2688336"/>
            <a:ext cx="3383280" cy="256032"/>
          </a:xfrm>
          <a:prstGeom prst="rect">
            <a:avLst/>
          </a:prstGeom>
          <a:noFill/>
          <a:ln/>
        </p:spPr>
        <p:txBody>
          <a:bodyPr wrap="square" lIns="0" tIns="0" rIns="0" bIns="0" rtlCol="0" anchor="ctr"/>
          <a:lstStyle/>
          <a:p>
            <a:pPr indent="0" marL="0">
              <a:buNone/>
            </a:pPr>
            <a:r>
              <a:rPr lang="en-US" sz="900" dirty="0">
                <a:solidFill>
                  <a:srgbClr val="7B9EAE"/>
                </a:solidFill>
                <a:latin typeface="Calibri" pitchFamily="34" charset="0"/>
                <a:ea typeface="Calibri" pitchFamily="34" charset="-122"/>
                <a:cs typeface="Calibri" pitchFamily="34" charset="-120"/>
              </a:rPr>
              <a:t>spaCy NER runs first. No client name, EIN, or partner name ever reaches Gemma 3 or the training file.</a:t>
            </a:r>
            <a:endParaRPr lang="en-US" sz="900" dirty="0"/>
          </a:p>
        </p:txBody>
      </p:sp>
      <p:sp>
        <p:nvSpPr>
          <p:cNvPr id="19" name="Shape 17"/>
          <p:cNvSpPr/>
          <p:nvPr/>
        </p:nvSpPr>
        <p:spPr>
          <a:xfrm>
            <a:off x="347472" y="3054096"/>
            <a:ext cx="329184" cy="329184"/>
          </a:xfrm>
          <a:prstGeom prst="rect">
            <a:avLst/>
          </a:prstGeom>
          <a:solidFill>
            <a:srgbClr val="0E7C7B"/>
          </a:solidFill>
          <a:ln w="12700">
            <a:solidFill>
              <a:srgbClr val="0E7C7B"/>
            </a:solidFill>
            <a:prstDash val="solid"/>
          </a:ln>
        </p:spPr>
      </p:sp>
      <p:sp>
        <p:nvSpPr>
          <p:cNvPr id="20" name="Text 18"/>
          <p:cNvSpPr/>
          <p:nvPr/>
        </p:nvSpPr>
        <p:spPr>
          <a:xfrm>
            <a:off x="347472" y="3054096"/>
            <a:ext cx="329184" cy="329184"/>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04</a:t>
            </a:r>
            <a:endParaRPr lang="en-US" sz="1000" dirty="0"/>
          </a:p>
        </p:txBody>
      </p:sp>
      <p:sp>
        <p:nvSpPr>
          <p:cNvPr id="21" name="Text 19"/>
          <p:cNvSpPr/>
          <p:nvPr/>
        </p:nvSpPr>
        <p:spPr>
          <a:xfrm>
            <a:off x="786384" y="3072384"/>
            <a:ext cx="3383280" cy="20116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extraction_confidence &lt; 0.7 = review queue.</a:t>
            </a:r>
            <a:endParaRPr lang="en-US" sz="1100" dirty="0"/>
          </a:p>
        </p:txBody>
      </p:sp>
      <p:sp>
        <p:nvSpPr>
          <p:cNvPr id="22" name="Text 20"/>
          <p:cNvSpPr/>
          <p:nvPr/>
        </p:nvSpPr>
        <p:spPr>
          <a:xfrm>
            <a:off x="786384" y="3291840"/>
            <a:ext cx="3383280" cy="256032"/>
          </a:xfrm>
          <a:prstGeom prst="rect">
            <a:avLst/>
          </a:prstGeom>
          <a:noFill/>
          <a:ln/>
        </p:spPr>
        <p:txBody>
          <a:bodyPr wrap="square" lIns="0" tIns="0" rIns="0" bIns="0" rtlCol="0" anchor="ctr"/>
          <a:lstStyle/>
          <a:p>
            <a:pPr indent="0" marL="0">
              <a:buNone/>
            </a:pPr>
            <a:r>
              <a:rPr lang="en-US" sz="900" dirty="0">
                <a:solidFill>
                  <a:srgbClr val="7B9EAE"/>
                </a:solidFill>
                <a:latin typeface="Calibri" pitchFamily="34" charset="0"/>
                <a:ea typeface="Calibri" pitchFamily="34" charset="-122"/>
                <a:cs typeface="Calibri" pitchFamily="34" charset="-120"/>
              </a:rPr>
              <a:t>Low-confidence records don't enter training uncorrected. After human correction they re-enter as confidence 1.0.</a:t>
            </a:r>
            <a:endParaRPr lang="en-US" sz="900" dirty="0"/>
          </a:p>
        </p:txBody>
      </p:sp>
      <p:sp>
        <p:nvSpPr>
          <p:cNvPr id="23" name="Shape 21"/>
          <p:cNvSpPr/>
          <p:nvPr/>
        </p:nvSpPr>
        <p:spPr>
          <a:xfrm>
            <a:off x="347472" y="3657600"/>
            <a:ext cx="329184" cy="329184"/>
          </a:xfrm>
          <a:prstGeom prst="rect">
            <a:avLst/>
          </a:prstGeom>
          <a:solidFill>
            <a:srgbClr val="0E7C7B"/>
          </a:solidFill>
          <a:ln w="12700">
            <a:solidFill>
              <a:srgbClr val="0E7C7B"/>
            </a:solidFill>
            <a:prstDash val="solid"/>
          </a:ln>
        </p:spPr>
      </p:sp>
      <p:sp>
        <p:nvSpPr>
          <p:cNvPr id="24" name="Text 22"/>
          <p:cNvSpPr/>
          <p:nvPr/>
        </p:nvSpPr>
        <p:spPr>
          <a:xfrm>
            <a:off x="347472" y="3657600"/>
            <a:ext cx="329184" cy="329184"/>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05</a:t>
            </a:r>
            <a:endParaRPr lang="en-US" sz="1000" dirty="0"/>
          </a:p>
        </p:txBody>
      </p:sp>
      <p:sp>
        <p:nvSpPr>
          <p:cNvPr id="25" name="Text 23"/>
          <p:cNvSpPr/>
          <p:nvPr/>
        </p:nvSpPr>
        <p:spPr>
          <a:xfrm>
            <a:off x="786384" y="3675888"/>
            <a:ext cx="3383280" cy="20116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auditor_approved = True is the final gate.</a:t>
            </a:r>
            <a:endParaRPr lang="en-US" sz="1100" dirty="0"/>
          </a:p>
        </p:txBody>
      </p:sp>
      <p:sp>
        <p:nvSpPr>
          <p:cNvPr id="26" name="Text 24"/>
          <p:cNvSpPr/>
          <p:nvPr/>
        </p:nvSpPr>
        <p:spPr>
          <a:xfrm>
            <a:off x="786384" y="3895344"/>
            <a:ext cx="3383280" cy="256032"/>
          </a:xfrm>
          <a:prstGeom prst="rect">
            <a:avLst/>
          </a:prstGeom>
          <a:noFill/>
          <a:ln/>
        </p:spPr>
        <p:txBody>
          <a:bodyPr wrap="square" lIns="0" tIns="0" rIns="0" bIns="0" rtlCol="0" anchor="ctr"/>
          <a:lstStyle/>
          <a:p>
            <a:pPr indent="0" marL="0">
              <a:buNone/>
            </a:pPr>
            <a:r>
              <a:rPr lang="en-US" sz="900" dirty="0">
                <a:solidFill>
                  <a:srgbClr val="7B9EAE"/>
                </a:solidFill>
                <a:latin typeface="Calibri" pitchFamily="34" charset="0"/>
                <a:ea typeface="Calibri" pitchFamily="34" charset="-122"/>
                <a:cs typeface="Calibri" pitchFamily="34" charset="-120"/>
              </a:rPr>
              <a:t>No automated system sets this field. A senior auditor verifies every SOP citation before a pair enters JSONL.</a:t>
            </a:r>
            <a:endParaRPr lang="en-US" sz="900" dirty="0"/>
          </a:p>
        </p:txBody>
      </p:sp>
      <p:sp>
        <p:nvSpPr>
          <p:cNvPr id="27" name="Shape 25"/>
          <p:cNvSpPr/>
          <p:nvPr/>
        </p:nvSpPr>
        <p:spPr>
          <a:xfrm>
            <a:off x="347472" y="4261104"/>
            <a:ext cx="329184" cy="329184"/>
          </a:xfrm>
          <a:prstGeom prst="rect">
            <a:avLst/>
          </a:prstGeom>
          <a:solidFill>
            <a:srgbClr val="0E7C7B"/>
          </a:solidFill>
          <a:ln w="12700">
            <a:solidFill>
              <a:srgbClr val="0E7C7B"/>
            </a:solidFill>
            <a:prstDash val="solid"/>
          </a:ln>
        </p:spPr>
      </p:sp>
      <p:sp>
        <p:nvSpPr>
          <p:cNvPr id="28" name="Text 26"/>
          <p:cNvSpPr/>
          <p:nvPr/>
        </p:nvSpPr>
        <p:spPr>
          <a:xfrm>
            <a:off x="347472" y="4261104"/>
            <a:ext cx="329184" cy="329184"/>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06</a:t>
            </a:r>
            <a:endParaRPr lang="en-US" sz="1000" dirty="0"/>
          </a:p>
        </p:txBody>
      </p:sp>
      <p:sp>
        <p:nvSpPr>
          <p:cNvPr id="29" name="Text 27"/>
          <p:cNvSpPr/>
          <p:nvPr/>
        </p:nvSpPr>
        <p:spPr>
          <a:xfrm>
            <a:off x="786384" y="4279392"/>
            <a:ext cx="3383280" cy="20116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Stage 2 and Stage 3 are separate training runs.</a:t>
            </a:r>
            <a:endParaRPr lang="en-US" sz="1100" dirty="0"/>
          </a:p>
        </p:txBody>
      </p:sp>
      <p:sp>
        <p:nvSpPr>
          <p:cNvPr id="30" name="Text 28"/>
          <p:cNvSpPr/>
          <p:nvPr/>
        </p:nvSpPr>
        <p:spPr>
          <a:xfrm>
            <a:off x="786384" y="4498848"/>
            <a:ext cx="3383280" cy="256032"/>
          </a:xfrm>
          <a:prstGeom prst="rect">
            <a:avLst/>
          </a:prstGeom>
          <a:noFill/>
          <a:ln/>
        </p:spPr>
        <p:txBody>
          <a:bodyPr wrap="square" lIns="0" tIns="0" rIns="0" bIns="0" rtlCol="0" anchor="ctr"/>
          <a:lstStyle/>
          <a:p>
            <a:pPr indent="0" marL="0">
              <a:buNone/>
            </a:pPr>
            <a:r>
              <a:rPr lang="en-US" sz="900" dirty="0">
                <a:solidFill>
                  <a:srgbClr val="7B9EAE"/>
                </a:solidFill>
                <a:latin typeface="Calibri" pitchFamily="34" charset="0"/>
                <a:ea typeface="Calibri" pitchFamily="34" charset="-122"/>
                <a:cs typeface="Calibri" pitchFamily="34" charset="-120"/>
              </a:rPr>
              <a:t>Domain knowledge and firm style are trained separately. SOP update = retrain Stage 3 only.</a:t>
            </a:r>
            <a:endParaRPr lang="en-US" sz="900" dirty="0"/>
          </a:p>
        </p:txBody>
      </p:sp>
      <p:sp>
        <p:nvSpPr>
          <p:cNvPr id="31" name="Text 29"/>
          <p:cNvSpPr/>
          <p:nvPr/>
        </p:nvSpPr>
        <p:spPr>
          <a:xfrm>
            <a:off x="6967728" y="256032"/>
            <a:ext cx="1993392"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Start checklist</a:t>
            </a:r>
            <a:endParaRPr lang="en-US" sz="1200" dirty="0"/>
          </a:p>
        </p:txBody>
      </p:sp>
      <p:sp>
        <p:nvSpPr>
          <p:cNvPr id="32" name="Shape 30"/>
          <p:cNvSpPr/>
          <p:nvPr/>
        </p:nvSpPr>
        <p:spPr>
          <a:xfrm>
            <a:off x="6967728" y="585216"/>
            <a:ext cx="237744" cy="237744"/>
          </a:xfrm>
          <a:prstGeom prst="rect">
            <a:avLst/>
          </a:prstGeom>
          <a:solidFill>
            <a:srgbClr val="0A3040"/>
          </a:solidFill>
          <a:ln w="12700">
            <a:solidFill>
              <a:srgbClr val="0E7C7B"/>
            </a:solidFill>
            <a:prstDash val="solid"/>
          </a:ln>
        </p:spPr>
      </p:sp>
      <p:sp>
        <p:nvSpPr>
          <p:cNvPr id="33" name="Text 31"/>
          <p:cNvSpPr/>
          <p:nvPr/>
        </p:nvSpPr>
        <p:spPr>
          <a:xfrm>
            <a:off x="7278624" y="585216"/>
            <a:ext cx="1737360" cy="237744"/>
          </a:xfrm>
          <a:prstGeom prst="rect">
            <a:avLst/>
          </a:prstGeom>
          <a:noFill/>
          <a:ln/>
        </p:spPr>
        <p:txBody>
          <a:bodyPr wrap="square" lIns="0" tIns="0" rIns="0" bIns="0" rtlCol="0" anchor="ctr"/>
          <a:lstStyle/>
          <a:p>
            <a:pPr indent="0" marL="0">
              <a:buNone/>
            </a:pPr>
            <a:r>
              <a:rPr lang="en-US" sz="900" dirty="0">
                <a:solidFill>
                  <a:srgbClr val="9EB8C8"/>
                </a:solidFill>
                <a:latin typeface="Calibri" pitchFamily="34" charset="0"/>
                <a:ea typeface="Calibri" pitchFamily="34" charset="-122"/>
                <a:cs typeface="Calibri" pitchFamily="34" charset="-120"/>
              </a:rPr>
              <a:t>Docling installed &amp; tested</a:t>
            </a:r>
            <a:endParaRPr lang="en-US" sz="900" dirty="0"/>
          </a:p>
        </p:txBody>
      </p:sp>
      <p:sp>
        <p:nvSpPr>
          <p:cNvPr id="34" name="Shape 32"/>
          <p:cNvSpPr/>
          <p:nvPr/>
        </p:nvSpPr>
        <p:spPr>
          <a:xfrm>
            <a:off x="6967728" y="1115568"/>
            <a:ext cx="237744" cy="237744"/>
          </a:xfrm>
          <a:prstGeom prst="rect">
            <a:avLst/>
          </a:prstGeom>
          <a:solidFill>
            <a:srgbClr val="0A3040"/>
          </a:solidFill>
          <a:ln w="12700">
            <a:solidFill>
              <a:srgbClr val="0E7C7B"/>
            </a:solidFill>
            <a:prstDash val="solid"/>
          </a:ln>
        </p:spPr>
      </p:sp>
      <p:sp>
        <p:nvSpPr>
          <p:cNvPr id="35" name="Text 33"/>
          <p:cNvSpPr/>
          <p:nvPr/>
        </p:nvSpPr>
        <p:spPr>
          <a:xfrm>
            <a:off x="7278624" y="1115568"/>
            <a:ext cx="1737360" cy="237744"/>
          </a:xfrm>
          <a:prstGeom prst="rect">
            <a:avLst/>
          </a:prstGeom>
          <a:noFill/>
          <a:ln/>
        </p:spPr>
        <p:txBody>
          <a:bodyPr wrap="square" lIns="0" tIns="0" rIns="0" bIns="0" rtlCol="0" anchor="ctr"/>
          <a:lstStyle/>
          <a:p>
            <a:pPr indent="0" marL="0">
              <a:buNone/>
            </a:pPr>
            <a:r>
              <a:rPr lang="en-US" sz="900" dirty="0">
                <a:solidFill>
                  <a:srgbClr val="9EB8C8"/>
                </a:solidFill>
                <a:latin typeface="Calibri" pitchFamily="34" charset="0"/>
                <a:ea typeface="Calibri" pitchFamily="34" charset="-122"/>
                <a:cs typeface="Calibri" pitchFamily="34" charset="-120"/>
              </a:rPr>
              <a:t>field_aliases dict built</a:t>
            </a:r>
            <a:endParaRPr lang="en-US" sz="900" dirty="0"/>
          </a:p>
        </p:txBody>
      </p:sp>
      <p:sp>
        <p:nvSpPr>
          <p:cNvPr id="36" name="Shape 34"/>
          <p:cNvSpPr/>
          <p:nvPr/>
        </p:nvSpPr>
        <p:spPr>
          <a:xfrm>
            <a:off x="6967728" y="1645920"/>
            <a:ext cx="237744" cy="237744"/>
          </a:xfrm>
          <a:prstGeom prst="rect">
            <a:avLst/>
          </a:prstGeom>
          <a:solidFill>
            <a:srgbClr val="0A3040"/>
          </a:solidFill>
          <a:ln w="12700">
            <a:solidFill>
              <a:srgbClr val="0E7C7B"/>
            </a:solidFill>
            <a:prstDash val="solid"/>
          </a:ln>
        </p:spPr>
      </p:sp>
      <p:sp>
        <p:nvSpPr>
          <p:cNvPr id="37" name="Text 35"/>
          <p:cNvSpPr/>
          <p:nvPr/>
        </p:nvSpPr>
        <p:spPr>
          <a:xfrm>
            <a:off x="7278624" y="1645920"/>
            <a:ext cx="1737360" cy="237744"/>
          </a:xfrm>
          <a:prstGeom prst="rect">
            <a:avLst/>
          </a:prstGeom>
          <a:noFill/>
          <a:ln/>
        </p:spPr>
        <p:txBody>
          <a:bodyPr wrap="square" lIns="0" tIns="0" rIns="0" bIns="0" rtlCol="0" anchor="ctr"/>
          <a:lstStyle/>
          <a:p>
            <a:pPr indent="0" marL="0">
              <a:buNone/>
            </a:pPr>
            <a:r>
              <a:rPr lang="en-US" sz="900" dirty="0">
                <a:solidFill>
                  <a:srgbClr val="9EB8C8"/>
                </a:solidFill>
                <a:latin typeface="Calibri" pitchFamily="34" charset="0"/>
                <a:ea typeface="Calibri" pitchFamily="34" charset="-122"/>
                <a:cs typeface="Calibri" pitchFamily="34" charset="-120"/>
              </a:rPr>
              <a:t>spaCy NER model downloaded</a:t>
            </a:r>
            <a:endParaRPr lang="en-US" sz="900" dirty="0"/>
          </a:p>
        </p:txBody>
      </p:sp>
      <p:sp>
        <p:nvSpPr>
          <p:cNvPr id="38" name="Shape 36"/>
          <p:cNvSpPr/>
          <p:nvPr/>
        </p:nvSpPr>
        <p:spPr>
          <a:xfrm>
            <a:off x="6967728" y="2176272"/>
            <a:ext cx="237744" cy="237744"/>
          </a:xfrm>
          <a:prstGeom prst="rect">
            <a:avLst/>
          </a:prstGeom>
          <a:solidFill>
            <a:srgbClr val="0A3040"/>
          </a:solidFill>
          <a:ln w="12700">
            <a:solidFill>
              <a:srgbClr val="0E7C7B"/>
            </a:solidFill>
            <a:prstDash val="solid"/>
          </a:ln>
        </p:spPr>
      </p:sp>
      <p:sp>
        <p:nvSpPr>
          <p:cNvPr id="39" name="Text 37"/>
          <p:cNvSpPr/>
          <p:nvPr/>
        </p:nvSpPr>
        <p:spPr>
          <a:xfrm>
            <a:off x="7278624" y="2176272"/>
            <a:ext cx="1737360" cy="237744"/>
          </a:xfrm>
          <a:prstGeom prst="rect">
            <a:avLst/>
          </a:prstGeom>
          <a:noFill/>
          <a:ln/>
        </p:spPr>
        <p:txBody>
          <a:bodyPr wrap="square" lIns="0" tIns="0" rIns="0" bIns="0" rtlCol="0" anchor="ctr"/>
          <a:lstStyle/>
          <a:p>
            <a:pPr indent="0" marL="0">
              <a:buNone/>
            </a:pPr>
            <a:r>
              <a:rPr lang="en-US" sz="900" dirty="0">
                <a:solidFill>
                  <a:srgbClr val="9EB8C8"/>
                </a:solidFill>
                <a:latin typeface="Calibri" pitchFamily="34" charset="0"/>
                <a:ea typeface="Calibri" pitchFamily="34" charset="-122"/>
                <a:cs typeface="Calibri" pitchFamily="34" charset="-120"/>
              </a:rPr>
              <a:t>Ollama + gemma3:12b pulled</a:t>
            </a:r>
            <a:endParaRPr lang="en-US" sz="900" dirty="0"/>
          </a:p>
        </p:txBody>
      </p:sp>
      <p:sp>
        <p:nvSpPr>
          <p:cNvPr id="40" name="Shape 38"/>
          <p:cNvSpPr/>
          <p:nvPr/>
        </p:nvSpPr>
        <p:spPr>
          <a:xfrm>
            <a:off x="6967728" y="2706624"/>
            <a:ext cx="237744" cy="237744"/>
          </a:xfrm>
          <a:prstGeom prst="rect">
            <a:avLst/>
          </a:prstGeom>
          <a:solidFill>
            <a:srgbClr val="0A3040"/>
          </a:solidFill>
          <a:ln w="12700">
            <a:solidFill>
              <a:srgbClr val="0E7C7B"/>
            </a:solidFill>
            <a:prstDash val="solid"/>
          </a:ln>
        </p:spPr>
      </p:sp>
      <p:sp>
        <p:nvSpPr>
          <p:cNvPr id="41" name="Text 39"/>
          <p:cNvSpPr/>
          <p:nvPr/>
        </p:nvSpPr>
        <p:spPr>
          <a:xfrm>
            <a:off x="7278624" y="2706624"/>
            <a:ext cx="1737360" cy="237744"/>
          </a:xfrm>
          <a:prstGeom prst="rect">
            <a:avLst/>
          </a:prstGeom>
          <a:noFill/>
          <a:ln/>
        </p:spPr>
        <p:txBody>
          <a:bodyPr wrap="square" lIns="0" tIns="0" rIns="0" bIns="0" rtlCol="0" anchor="ctr"/>
          <a:lstStyle/>
          <a:p>
            <a:pPr indent="0" marL="0">
              <a:buNone/>
            </a:pPr>
            <a:r>
              <a:rPr lang="en-US" sz="900" dirty="0">
                <a:solidFill>
                  <a:srgbClr val="9EB8C8"/>
                </a:solidFill>
                <a:latin typeface="Calibri" pitchFamily="34" charset="0"/>
                <a:ea typeface="Calibri" pitchFamily="34" charset="-122"/>
                <a:cs typeface="Calibri" pitchFamily="34" charset="-120"/>
              </a:rPr>
              <a:t>Qdrant collection created</a:t>
            </a:r>
            <a:endParaRPr lang="en-US" sz="900" dirty="0"/>
          </a:p>
        </p:txBody>
      </p:sp>
      <p:sp>
        <p:nvSpPr>
          <p:cNvPr id="42" name="Shape 40"/>
          <p:cNvSpPr/>
          <p:nvPr/>
        </p:nvSpPr>
        <p:spPr>
          <a:xfrm>
            <a:off x="6967728" y="3236976"/>
            <a:ext cx="237744" cy="237744"/>
          </a:xfrm>
          <a:prstGeom prst="rect">
            <a:avLst/>
          </a:prstGeom>
          <a:solidFill>
            <a:srgbClr val="0A3040"/>
          </a:solidFill>
          <a:ln w="12700">
            <a:solidFill>
              <a:srgbClr val="0E7C7B"/>
            </a:solidFill>
            <a:prstDash val="solid"/>
          </a:ln>
        </p:spPr>
      </p:sp>
      <p:sp>
        <p:nvSpPr>
          <p:cNvPr id="43" name="Text 41"/>
          <p:cNvSpPr/>
          <p:nvPr/>
        </p:nvSpPr>
        <p:spPr>
          <a:xfrm>
            <a:off x="7278624" y="3236976"/>
            <a:ext cx="1737360" cy="237744"/>
          </a:xfrm>
          <a:prstGeom prst="rect">
            <a:avLst/>
          </a:prstGeom>
          <a:noFill/>
          <a:ln/>
        </p:spPr>
        <p:txBody>
          <a:bodyPr wrap="square" lIns="0" tIns="0" rIns="0" bIns="0" rtlCol="0" anchor="ctr"/>
          <a:lstStyle/>
          <a:p>
            <a:pPr indent="0" marL="0">
              <a:buNone/>
            </a:pPr>
            <a:r>
              <a:rPr lang="en-US" sz="900" dirty="0">
                <a:solidFill>
                  <a:srgbClr val="9EB8C8"/>
                </a:solidFill>
                <a:latin typeface="Calibri" pitchFamily="34" charset="0"/>
                <a:ea typeface="Calibri" pitchFamily="34" charset="-122"/>
                <a:cs typeface="Calibri" pitchFamily="34" charset="-120"/>
              </a:rPr>
              <a:t>review_log.csv initialized</a:t>
            </a:r>
            <a:endParaRPr lang="en-US" sz="900" dirty="0"/>
          </a:p>
        </p:txBody>
      </p:sp>
      <p:sp>
        <p:nvSpPr>
          <p:cNvPr id="44" name="Shape 42"/>
          <p:cNvSpPr/>
          <p:nvPr/>
        </p:nvSpPr>
        <p:spPr>
          <a:xfrm>
            <a:off x="6967728" y="3767328"/>
            <a:ext cx="237744" cy="237744"/>
          </a:xfrm>
          <a:prstGeom prst="rect">
            <a:avLst/>
          </a:prstGeom>
          <a:solidFill>
            <a:srgbClr val="0A3040"/>
          </a:solidFill>
          <a:ln w="12700">
            <a:solidFill>
              <a:srgbClr val="0E7C7B"/>
            </a:solidFill>
            <a:prstDash val="solid"/>
          </a:ln>
        </p:spPr>
      </p:sp>
      <p:sp>
        <p:nvSpPr>
          <p:cNvPr id="45" name="Text 43"/>
          <p:cNvSpPr/>
          <p:nvPr/>
        </p:nvSpPr>
        <p:spPr>
          <a:xfrm>
            <a:off x="7278624" y="3767328"/>
            <a:ext cx="1737360" cy="237744"/>
          </a:xfrm>
          <a:prstGeom prst="rect">
            <a:avLst/>
          </a:prstGeom>
          <a:noFill/>
          <a:ln/>
        </p:spPr>
        <p:txBody>
          <a:bodyPr wrap="square" lIns="0" tIns="0" rIns="0" bIns="0" rtlCol="0" anchor="ctr"/>
          <a:lstStyle/>
          <a:p>
            <a:pPr indent="0" marL="0">
              <a:buNone/>
            </a:pPr>
            <a:r>
              <a:rPr lang="en-US" sz="900" dirty="0">
                <a:solidFill>
                  <a:srgbClr val="9EB8C8"/>
                </a:solidFill>
                <a:latin typeface="Calibri" pitchFamily="34" charset="0"/>
                <a:ea typeface="Calibri" pitchFamily="34" charset="-122"/>
                <a:cs typeface="Calibri" pitchFamily="34" charset="-120"/>
              </a:rPr>
              <a:t>.gitignore covers /data/ + .env</a:t>
            </a:r>
            <a:endParaRPr lang="en-US" sz="900" dirty="0"/>
          </a:p>
        </p:txBody>
      </p:sp>
      <p:sp>
        <p:nvSpPr>
          <p:cNvPr id="46" name="Shape 44"/>
          <p:cNvSpPr/>
          <p:nvPr/>
        </p:nvSpPr>
        <p:spPr>
          <a:xfrm>
            <a:off x="6967728" y="4297680"/>
            <a:ext cx="237744" cy="237744"/>
          </a:xfrm>
          <a:prstGeom prst="rect">
            <a:avLst/>
          </a:prstGeom>
          <a:solidFill>
            <a:srgbClr val="0A3040"/>
          </a:solidFill>
          <a:ln w="12700">
            <a:solidFill>
              <a:srgbClr val="0E7C7B"/>
            </a:solidFill>
            <a:prstDash val="solid"/>
          </a:ln>
        </p:spPr>
      </p:sp>
      <p:sp>
        <p:nvSpPr>
          <p:cNvPr id="47" name="Text 45"/>
          <p:cNvSpPr/>
          <p:nvPr/>
        </p:nvSpPr>
        <p:spPr>
          <a:xfrm>
            <a:off x="7278624" y="4297680"/>
            <a:ext cx="1737360" cy="237744"/>
          </a:xfrm>
          <a:prstGeom prst="rect">
            <a:avLst/>
          </a:prstGeom>
          <a:noFill/>
          <a:ln/>
        </p:spPr>
        <p:txBody>
          <a:bodyPr wrap="square" lIns="0" tIns="0" rIns="0" bIns="0" rtlCol="0" anchor="ctr"/>
          <a:lstStyle/>
          <a:p>
            <a:pPr indent="0" marL="0">
              <a:buNone/>
            </a:pPr>
            <a:r>
              <a:rPr lang="en-US" sz="900" dirty="0">
                <a:solidFill>
                  <a:srgbClr val="9EB8C8"/>
                </a:solidFill>
                <a:latin typeface="Calibri" pitchFamily="34" charset="0"/>
                <a:ea typeface="Calibri" pitchFamily="34" charset="-122"/>
                <a:cs typeface="Calibri" pitchFamily="34" charset="-120"/>
              </a:rPr>
              <a:t>Auditor 48h SLA agreed</a:t>
            </a:r>
            <a:endParaRPr lang="en-US" sz="900" dirty="0"/>
          </a:p>
        </p:txBody>
      </p:sp>
      <p:sp>
        <p:nvSpPr>
          <p:cNvPr id="48" name="Text 46"/>
          <p:cNvSpPr/>
          <p:nvPr/>
        </p:nvSpPr>
        <p:spPr>
          <a:xfrm>
            <a:off x="347472" y="4828032"/>
            <a:ext cx="8229600" cy="182880"/>
          </a:xfrm>
          <a:prstGeom prst="rect">
            <a:avLst/>
          </a:prstGeom>
          <a:noFill/>
          <a:ln/>
        </p:spPr>
        <p:txBody>
          <a:bodyPr wrap="square" lIns="0" tIns="0" rIns="0" bIns="0" rtlCol="0" anchor="ctr"/>
          <a:lstStyle/>
          <a:p>
            <a:pPr indent="0" marL="0">
              <a:buNone/>
            </a:pPr>
            <a:r>
              <a:rPr lang="en-US" sz="900" dirty="0">
                <a:solidFill>
                  <a:srgbClr val="2D4A5A"/>
                </a:solidFill>
                <a:latin typeface="Calibri" pitchFamily="34" charset="0"/>
                <a:ea typeface="Calibri" pitchFamily="34" charset="-122"/>
                <a:cs typeface="Calibri" pitchFamily="34" charset="-120"/>
              </a:rPr>
              <a:t>Harshwal &amp; Company LLP  ·  AuditAI Engineering  ·  Internal Reference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AuditAI — Raw Workpaper to Fine-Tuning Pair</dc:title>
  <dc:subject>PptxGenJS Presentation</dc:subject>
  <dc:creator>PptxGenJS</dc:creator>
  <cp:lastModifiedBy>PptxGenJS</cp:lastModifiedBy>
  <cp:revision>1</cp:revision>
  <dcterms:created xsi:type="dcterms:W3CDTF">2026-05-06T07:22:07Z</dcterms:created>
  <dcterms:modified xsi:type="dcterms:W3CDTF">2026-05-06T07:22:07Z</dcterms:modified>
</cp:coreProperties>
</file>