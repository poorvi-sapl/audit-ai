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7173"/>
          </a:solidFill>
          <a:ln w="12700">
            <a:solidFill>
              <a:srgbClr val="0F7173"/>
            </a:solidFill>
            <a:prstDash val="solid"/>
          </a:ln>
        </p:spPr>
      </p:sp>
      <p:sp>
        <p:nvSpPr>
          <p:cNvPr id="3" name="Text 1"/>
          <p:cNvSpPr/>
          <p:nvPr/>
        </p:nvSpPr>
        <p:spPr>
          <a:xfrm>
            <a:off x="502920" y="914400"/>
            <a:ext cx="8229600" cy="91440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AuditAI</a:t>
            </a:r>
            <a:endParaRPr lang="en-US" sz="5200" dirty="0"/>
          </a:p>
        </p:txBody>
      </p:sp>
      <p:sp>
        <p:nvSpPr>
          <p:cNvPr id="4" name="Text 2"/>
          <p:cNvSpPr/>
          <p:nvPr/>
        </p:nvSpPr>
        <p:spPr>
          <a:xfrm>
            <a:off x="502920" y="1783080"/>
            <a:ext cx="8229600" cy="502920"/>
          </a:xfrm>
          <a:prstGeom prst="rect">
            <a:avLst/>
          </a:prstGeom>
          <a:noFill/>
          <a:ln/>
        </p:spPr>
        <p:txBody>
          <a:bodyPr wrap="square" lIns="0" tIns="0" rIns="0" bIns="0" rtlCol="0" anchor="ctr"/>
          <a:lstStyle/>
          <a:p>
            <a:pPr indent="0" marL="0">
              <a:buNone/>
            </a:pPr>
            <a:r>
              <a:rPr lang="en-US" sz="2200" i="1" dirty="0">
                <a:solidFill>
                  <a:srgbClr val="0F7173"/>
                </a:solidFill>
                <a:latin typeface="Calibri" pitchFamily="34" charset="0"/>
                <a:ea typeface="Calibri" pitchFamily="34" charset="-122"/>
                <a:cs typeface="Calibri" pitchFamily="34" charset="-120"/>
              </a:rPr>
              <a:t>Engineering Pre-Flight Benchmark</a:t>
            </a:r>
            <a:endParaRPr lang="en-US" sz="2200" dirty="0"/>
          </a:p>
        </p:txBody>
      </p:sp>
      <p:sp>
        <p:nvSpPr>
          <p:cNvPr id="5" name="Shape 3"/>
          <p:cNvSpPr/>
          <p:nvPr/>
        </p:nvSpPr>
        <p:spPr>
          <a:xfrm>
            <a:off x="502920" y="2423160"/>
            <a:ext cx="7772400" cy="13716"/>
          </a:xfrm>
          <a:prstGeom prst="rect">
            <a:avLst/>
          </a:prstGeom>
          <a:solidFill>
            <a:srgbClr val="0F7173"/>
          </a:solidFill>
          <a:ln w="12700">
            <a:solidFill>
              <a:srgbClr val="0F7173"/>
            </a:solidFill>
            <a:prstDash val="solid"/>
          </a:ln>
        </p:spPr>
      </p:sp>
      <p:sp>
        <p:nvSpPr>
          <p:cNvPr id="6" name="Text 4"/>
          <p:cNvSpPr/>
          <p:nvPr/>
        </p:nvSpPr>
        <p:spPr>
          <a:xfrm>
            <a:off x="502920" y="2514600"/>
            <a:ext cx="7772400" cy="365760"/>
          </a:xfrm>
          <a:prstGeom prst="rect">
            <a:avLst/>
          </a:prstGeom>
          <a:noFill/>
          <a:ln/>
        </p:spPr>
        <p:txBody>
          <a:bodyPr wrap="square" lIns="0" tIns="0" rIns="0" bIns="0" rtlCol="0" anchor="ctr"/>
          <a:lstStyle/>
          <a:p>
            <a:pPr indent="0" marL="0">
              <a:buNone/>
            </a:pPr>
            <a:r>
              <a:rPr lang="en-US" sz="1400" dirty="0">
                <a:solidFill>
                  <a:srgbClr val="A0B4C8"/>
                </a:solidFill>
                <a:latin typeface="Calibri" pitchFamily="34" charset="0"/>
                <a:ea typeface="Calibri" pitchFamily="34" charset="-122"/>
                <a:cs typeface="Calibri" pitchFamily="34" charset="-120"/>
              </a:rPr>
              <a:t>Everything you must lock down before writing pipeline code</a:t>
            </a:r>
            <a:endParaRPr lang="en-US" sz="1400" dirty="0"/>
          </a:p>
        </p:txBody>
      </p:sp>
      <p:sp>
        <p:nvSpPr>
          <p:cNvPr id="7" name="Shape 5"/>
          <p:cNvSpPr/>
          <p:nvPr/>
        </p:nvSpPr>
        <p:spPr>
          <a:xfrm>
            <a:off x="502920" y="3063240"/>
            <a:ext cx="1828800" cy="274320"/>
          </a:xfrm>
          <a:prstGeom prst="rect">
            <a:avLst/>
          </a:prstGeom>
          <a:solidFill>
            <a:srgbClr val="0F7173">
              <a:alpha val="25000"/>
            </a:srgbClr>
          </a:solidFill>
          <a:ln w="12700">
            <a:solidFill>
              <a:srgbClr val="0F7173"/>
            </a:solidFill>
            <a:prstDash val="solid"/>
          </a:ln>
        </p:spPr>
      </p:sp>
      <p:sp>
        <p:nvSpPr>
          <p:cNvPr id="8" name="Text 6"/>
          <p:cNvSpPr/>
          <p:nvPr/>
        </p:nvSpPr>
        <p:spPr>
          <a:xfrm>
            <a:off x="502920" y="3063240"/>
            <a:ext cx="1828800" cy="274320"/>
          </a:xfrm>
          <a:prstGeom prst="rect">
            <a:avLst/>
          </a:prstGeom>
          <a:noFill/>
          <a:ln/>
        </p:spPr>
        <p:txBody>
          <a:bodyPr wrap="square" lIns="0" tIns="0" rIns="0" bIns="0" rtlCol="0" anchor="ctr"/>
          <a:lstStyle/>
          <a:p>
            <a:pPr algn="ctr" indent="0" marL="0">
              <a:buNone/>
            </a:pPr>
            <a:r>
              <a:rPr lang="en-US" sz="1000" dirty="0">
                <a:solidFill>
                  <a:srgbClr val="A0CCCC"/>
                </a:solidFill>
              </a:rPr>
              <a:t>RAG Pipeline</a:t>
            </a:r>
            <a:endParaRPr lang="en-US" sz="1000" dirty="0"/>
          </a:p>
        </p:txBody>
      </p:sp>
      <p:sp>
        <p:nvSpPr>
          <p:cNvPr id="9" name="Shape 7"/>
          <p:cNvSpPr/>
          <p:nvPr/>
        </p:nvSpPr>
        <p:spPr>
          <a:xfrm>
            <a:off x="2514600" y="3063240"/>
            <a:ext cx="1828800" cy="274320"/>
          </a:xfrm>
          <a:prstGeom prst="rect">
            <a:avLst/>
          </a:prstGeom>
          <a:solidFill>
            <a:srgbClr val="0F7173">
              <a:alpha val="25000"/>
            </a:srgbClr>
          </a:solidFill>
          <a:ln w="12700">
            <a:solidFill>
              <a:srgbClr val="0F7173"/>
            </a:solidFill>
            <a:prstDash val="solid"/>
          </a:ln>
        </p:spPr>
      </p:sp>
      <p:sp>
        <p:nvSpPr>
          <p:cNvPr id="10" name="Text 8"/>
          <p:cNvSpPr/>
          <p:nvPr/>
        </p:nvSpPr>
        <p:spPr>
          <a:xfrm>
            <a:off x="2514600" y="3063240"/>
            <a:ext cx="1828800" cy="274320"/>
          </a:xfrm>
          <a:prstGeom prst="rect">
            <a:avLst/>
          </a:prstGeom>
          <a:noFill/>
          <a:ln/>
        </p:spPr>
        <p:txBody>
          <a:bodyPr wrap="square" lIns="0" tIns="0" rIns="0" bIns="0" rtlCol="0" anchor="ctr"/>
          <a:lstStyle/>
          <a:p>
            <a:pPr algn="ctr" indent="0" marL="0">
              <a:buNone/>
            </a:pPr>
            <a:r>
              <a:rPr lang="en-US" sz="1000" dirty="0">
                <a:solidFill>
                  <a:srgbClr val="A0CCCC"/>
                </a:solidFill>
              </a:rPr>
              <a:t>Fine-Tuning</a:t>
            </a:r>
            <a:endParaRPr lang="en-US" sz="1000" dirty="0"/>
          </a:p>
        </p:txBody>
      </p:sp>
      <p:sp>
        <p:nvSpPr>
          <p:cNvPr id="11" name="Shape 9"/>
          <p:cNvSpPr/>
          <p:nvPr/>
        </p:nvSpPr>
        <p:spPr>
          <a:xfrm>
            <a:off x="4526280" y="3063240"/>
            <a:ext cx="1828800" cy="274320"/>
          </a:xfrm>
          <a:prstGeom prst="rect">
            <a:avLst/>
          </a:prstGeom>
          <a:solidFill>
            <a:srgbClr val="0F7173">
              <a:alpha val="25000"/>
            </a:srgbClr>
          </a:solidFill>
          <a:ln w="12700">
            <a:solidFill>
              <a:srgbClr val="0F7173"/>
            </a:solidFill>
            <a:prstDash val="solid"/>
          </a:ln>
        </p:spPr>
      </p:sp>
      <p:sp>
        <p:nvSpPr>
          <p:cNvPr id="12" name="Text 10"/>
          <p:cNvSpPr/>
          <p:nvPr/>
        </p:nvSpPr>
        <p:spPr>
          <a:xfrm>
            <a:off x="4526280" y="3063240"/>
            <a:ext cx="1828800" cy="274320"/>
          </a:xfrm>
          <a:prstGeom prst="rect">
            <a:avLst/>
          </a:prstGeom>
          <a:noFill/>
          <a:ln/>
        </p:spPr>
        <p:txBody>
          <a:bodyPr wrap="square" lIns="0" tIns="0" rIns="0" bIns="0" rtlCol="0" anchor="ctr"/>
          <a:lstStyle/>
          <a:p>
            <a:pPr algn="ctr" indent="0" marL="0">
              <a:buNone/>
            </a:pPr>
            <a:r>
              <a:rPr lang="en-US" sz="1000" dirty="0">
                <a:solidFill>
                  <a:srgbClr val="A0CCCC"/>
                </a:solidFill>
              </a:rPr>
              <a:t>Qdrant</a:t>
            </a:r>
            <a:endParaRPr lang="en-US" sz="1000" dirty="0"/>
          </a:p>
        </p:txBody>
      </p:sp>
      <p:sp>
        <p:nvSpPr>
          <p:cNvPr id="13" name="Shape 11"/>
          <p:cNvSpPr/>
          <p:nvPr/>
        </p:nvSpPr>
        <p:spPr>
          <a:xfrm>
            <a:off x="6537960" y="3063240"/>
            <a:ext cx="1828800" cy="274320"/>
          </a:xfrm>
          <a:prstGeom prst="rect">
            <a:avLst/>
          </a:prstGeom>
          <a:solidFill>
            <a:srgbClr val="0F7173">
              <a:alpha val="25000"/>
            </a:srgbClr>
          </a:solidFill>
          <a:ln w="12700">
            <a:solidFill>
              <a:srgbClr val="0F7173"/>
            </a:solidFill>
            <a:prstDash val="solid"/>
          </a:ln>
        </p:spPr>
      </p:sp>
      <p:sp>
        <p:nvSpPr>
          <p:cNvPr id="14" name="Text 12"/>
          <p:cNvSpPr/>
          <p:nvPr/>
        </p:nvSpPr>
        <p:spPr>
          <a:xfrm>
            <a:off x="6537960" y="3063240"/>
            <a:ext cx="1828800" cy="274320"/>
          </a:xfrm>
          <a:prstGeom prst="rect">
            <a:avLst/>
          </a:prstGeom>
          <a:noFill/>
          <a:ln/>
        </p:spPr>
        <p:txBody>
          <a:bodyPr wrap="square" lIns="0" tIns="0" rIns="0" bIns="0" rtlCol="0" anchor="ctr"/>
          <a:lstStyle/>
          <a:p>
            <a:pPr algn="ctr" indent="0" marL="0">
              <a:buNone/>
            </a:pPr>
            <a:r>
              <a:rPr lang="en-US" sz="1000" dirty="0">
                <a:solidFill>
                  <a:srgbClr val="A0CCCC"/>
                </a:solidFill>
              </a:rPr>
              <a:t>Postgres</a:t>
            </a:r>
            <a:endParaRPr lang="en-US" sz="1000" dirty="0"/>
          </a:p>
        </p:txBody>
      </p:sp>
      <p:sp>
        <p:nvSpPr>
          <p:cNvPr id="15" name="Shape 13"/>
          <p:cNvSpPr/>
          <p:nvPr/>
        </p:nvSpPr>
        <p:spPr>
          <a:xfrm>
            <a:off x="502920" y="3447288"/>
            <a:ext cx="1828800" cy="274320"/>
          </a:xfrm>
          <a:prstGeom prst="rect">
            <a:avLst/>
          </a:prstGeom>
          <a:solidFill>
            <a:srgbClr val="0F7173">
              <a:alpha val="25000"/>
            </a:srgbClr>
          </a:solidFill>
          <a:ln w="12700">
            <a:solidFill>
              <a:srgbClr val="0F7173"/>
            </a:solidFill>
            <a:prstDash val="solid"/>
          </a:ln>
        </p:spPr>
      </p:sp>
      <p:sp>
        <p:nvSpPr>
          <p:cNvPr id="16" name="Text 14"/>
          <p:cNvSpPr/>
          <p:nvPr/>
        </p:nvSpPr>
        <p:spPr>
          <a:xfrm>
            <a:off x="502920" y="3447288"/>
            <a:ext cx="1828800" cy="274320"/>
          </a:xfrm>
          <a:prstGeom prst="rect">
            <a:avLst/>
          </a:prstGeom>
          <a:noFill/>
          <a:ln/>
        </p:spPr>
        <p:txBody>
          <a:bodyPr wrap="square" lIns="0" tIns="0" rIns="0" bIns="0" rtlCol="0" anchor="ctr"/>
          <a:lstStyle/>
          <a:p>
            <a:pPr algn="ctr" indent="0" marL="0">
              <a:buNone/>
            </a:pPr>
            <a:r>
              <a:rPr lang="en-US" sz="1000" dirty="0">
                <a:solidFill>
                  <a:srgbClr val="A0CCCC"/>
                </a:solidFill>
              </a:rPr>
              <a:t>Embeddings</a:t>
            </a:r>
            <a:endParaRPr lang="en-US" sz="1000" dirty="0"/>
          </a:p>
        </p:txBody>
      </p:sp>
      <p:sp>
        <p:nvSpPr>
          <p:cNvPr id="17" name="Shape 15"/>
          <p:cNvSpPr/>
          <p:nvPr/>
        </p:nvSpPr>
        <p:spPr>
          <a:xfrm>
            <a:off x="2514600" y="3447288"/>
            <a:ext cx="1828800" cy="274320"/>
          </a:xfrm>
          <a:prstGeom prst="rect">
            <a:avLst/>
          </a:prstGeom>
          <a:solidFill>
            <a:srgbClr val="0F7173">
              <a:alpha val="25000"/>
            </a:srgbClr>
          </a:solidFill>
          <a:ln w="12700">
            <a:solidFill>
              <a:srgbClr val="0F7173"/>
            </a:solidFill>
            <a:prstDash val="solid"/>
          </a:ln>
        </p:spPr>
      </p:sp>
      <p:sp>
        <p:nvSpPr>
          <p:cNvPr id="18" name="Text 16"/>
          <p:cNvSpPr/>
          <p:nvPr/>
        </p:nvSpPr>
        <p:spPr>
          <a:xfrm>
            <a:off x="2514600" y="3447288"/>
            <a:ext cx="1828800" cy="274320"/>
          </a:xfrm>
          <a:prstGeom prst="rect">
            <a:avLst/>
          </a:prstGeom>
          <a:noFill/>
          <a:ln/>
        </p:spPr>
        <p:txBody>
          <a:bodyPr wrap="square" lIns="0" tIns="0" rIns="0" bIns="0" rtlCol="0" anchor="ctr"/>
          <a:lstStyle/>
          <a:p>
            <a:pPr algn="ctr" indent="0" marL="0">
              <a:buNone/>
            </a:pPr>
            <a:r>
              <a:rPr lang="en-US" sz="1000" dirty="0">
                <a:solidFill>
                  <a:srgbClr val="A0CCCC"/>
                </a:solidFill>
              </a:rPr>
              <a:t>Chunking</a:t>
            </a:r>
            <a:endParaRPr lang="en-US" sz="1000" dirty="0"/>
          </a:p>
        </p:txBody>
      </p:sp>
      <p:sp>
        <p:nvSpPr>
          <p:cNvPr id="19" name="Shape 17"/>
          <p:cNvSpPr/>
          <p:nvPr/>
        </p:nvSpPr>
        <p:spPr>
          <a:xfrm>
            <a:off x="4526280" y="3447288"/>
            <a:ext cx="1828800" cy="274320"/>
          </a:xfrm>
          <a:prstGeom prst="rect">
            <a:avLst/>
          </a:prstGeom>
          <a:solidFill>
            <a:srgbClr val="0F7173">
              <a:alpha val="25000"/>
            </a:srgbClr>
          </a:solidFill>
          <a:ln w="12700">
            <a:solidFill>
              <a:srgbClr val="0F7173"/>
            </a:solidFill>
            <a:prstDash val="solid"/>
          </a:ln>
        </p:spPr>
      </p:sp>
      <p:sp>
        <p:nvSpPr>
          <p:cNvPr id="20" name="Text 18"/>
          <p:cNvSpPr/>
          <p:nvPr/>
        </p:nvSpPr>
        <p:spPr>
          <a:xfrm>
            <a:off x="4526280" y="3447288"/>
            <a:ext cx="1828800" cy="274320"/>
          </a:xfrm>
          <a:prstGeom prst="rect">
            <a:avLst/>
          </a:prstGeom>
          <a:noFill/>
          <a:ln/>
        </p:spPr>
        <p:txBody>
          <a:bodyPr wrap="square" lIns="0" tIns="0" rIns="0" bIns="0" rtlCol="0" anchor="ctr"/>
          <a:lstStyle/>
          <a:p>
            <a:pPr algn="ctr" indent="0" marL="0">
              <a:buNone/>
            </a:pPr>
            <a:r>
              <a:rPr lang="en-US" sz="1000" dirty="0">
                <a:solidFill>
                  <a:srgbClr val="A0CCCC"/>
                </a:solidFill>
              </a:rPr>
              <a:t>Gotchas</a:t>
            </a:r>
            <a:endParaRPr lang="en-US" sz="1000" dirty="0"/>
          </a:p>
        </p:txBody>
      </p:sp>
      <p:sp>
        <p:nvSpPr>
          <p:cNvPr id="21" name="Text 19"/>
          <p:cNvSpPr/>
          <p:nvPr/>
        </p:nvSpPr>
        <p:spPr>
          <a:xfrm>
            <a:off x="502920" y="4663440"/>
            <a:ext cx="8229600" cy="228600"/>
          </a:xfrm>
          <a:prstGeom prst="rect">
            <a:avLst/>
          </a:prstGeom>
          <a:noFill/>
          <a:ln/>
        </p:spPr>
        <p:txBody>
          <a:bodyPr wrap="square" lIns="0" tIns="0" rIns="0" bIns="0" rtlCol="0" anchor="ctr"/>
          <a:lstStyle/>
          <a:p>
            <a:pPr indent="0" marL="0">
              <a:buNone/>
            </a:pPr>
            <a:r>
              <a:rPr lang="en-US" sz="900" dirty="0">
                <a:solidFill>
                  <a:srgbClr val="506070"/>
                </a:solidFill>
                <a:latin typeface="Calibri" pitchFamily="34" charset="0"/>
                <a:ea typeface="Calibri" pitchFamily="34" charset="-122"/>
                <a:cs typeface="Calibri" pitchFamily="34" charset="-120"/>
              </a:rPr>
              <a:t>Harshwal &amp; Company LLP  ·  Internal Engineering Reference  ·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1828800" cy="256032"/>
          </a:xfrm>
          <a:prstGeom prst="rect">
            <a:avLst/>
          </a:prstGeom>
          <a:solidFill>
            <a:srgbClr val="0F7173"/>
          </a:solidFill>
          <a:ln w="12700">
            <a:solidFill>
              <a:srgbClr val="0F7173"/>
            </a:solidFill>
            <a:prstDash val="solid"/>
          </a:ln>
        </p:spPr>
      </p:sp>
      <p:sp>
        <p:nvSpPr>
          <p:cNvPr id="3" name="Text 1"/>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900" b="1" dirty="0">
                <a:solidFill>
                  <a:srgbClr val="FFFFFF"/>
                </a:solidFill>
              </a:rPr>
              <a:t>01 · ARCHITECTURE</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The SOP feeds two separate pipelines</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These are parallel tracks — not sequential. Lock this mental model first.</a:t>
            </a:r>
            <a:endParaRPr lang="en-US" sz="1200" dirty="0"/>
          </a:p>
        </p:txBody>
      </p:sp>
      <p:sp>
        <p:nvSpPr>
          <p:cNvPr id="6" name="Shape 4"/>
          <p:cNvSpPr/>
          <p:nvPr/>
        </p:nvSpPr>
        <p:spPr>
          <a:xfrm>
            <a:off x="365760" y="1417320"/>
            <a:ext cx="3931920" cy="3383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65760" y="1417320"/>
            <a:ext cx="64008" cy="3383280"/>
          </a:xfrm>
          <a:prstGeom prst="rect">
            <a:avLst/>
          </a:prstGeom>
          <a:solidFill>
            <a:srgbClr val="4C3B8A"/>
          </a:solidFill>
          <a:ln w="12700">
            <a:solidFill>
              <a:srgbClr val="4C3B8A"/>
            </a:solidFill>
            <a:prstDash val="solid"/>
          </a:ln>
        </p:spPr>
      </p:sp>
      <p:pic>
        <p:nvPicPr>
          <p:cNvPr id="8" name="Image 0" descr="preencoded.png">    </p:cNvPr>
          <p:cNvPicPr>
            <a:picLocks noChangeAspect="1"/>
          </p:cNvPicPr>
          <p:nvPr/>
        </p:nvPicPr>
        <p:blipFill>
          <a:blip r:embed="rId1"/>
          <a:stretch>
            <a:fillRect/>
          </a:stretch>
        </p:blipFill>
        <p:spPr>
          <a:xfrm>
            <a:off x="594360" y="1600200"/>
            <a:ext cx="292608" cy="292608"/>
          </a:xfrm>
          <a:prstGeom prst="rect">
            <a:avLst/>
          </a:prstGeom>
        </p:spPr>
      </p:pic>
      <p:sp>
        <p:nvSpPr>
          <p:cNvPr id="9" name="Text 6"/>
          <p:cNvSpPr/>
          <p:nvPr/>
        </p:nvSpPr>
        <p:spPr>
          <a:xfrm>
            <a:off x="960120" y="1600200"/>
            <a:ext cx="3108960" cy="292608"/>
          </a:xfrm>
          <a:prstGeom prst="rect">
            <a:avLst/>
          </a:prstGeom>
          <a:noFill/>
          <a:ln/>
        </p:spPr>
        <p:txBody>
          <a:bodyPr wrap="square" lIns="0" tIns="0" rIns="0" bIns="0" rtlCol="0" anchor="ctr"/>
          <a:lstStyle/>
          <a:p>
            <a:pPr indent="0" marL="0">
              <a:buNone/>
            </a:pPr>
            <a:r>
              <a:rPr lang="en-US" sz="1300" b="1" dirty="0">
                <a:solidFill>
                  <a:srgbClr val="4C3B8A"/>
                </a:solidFill>
                <a:latin typeface="Calibri" pitchFamily="34" charset="0"/>
                <a:ea typeface="Calibri" pitchFamily="34" charset="-122"/>
                <a:cs typeface="Calibri" pitchFamily="34" charset="-120"/>
              </a:rPr>
              <a:t>Track 1 — Fine-Tuning</a:t>
            </a:r>
            <a:endParaRPr lang="en-US" sz="1300" dirty="0"/>
          </a:p>
        </p:txBody>
      </p:sp>
      <p:sp>
        <p:nvSpPr>
          <p:cNvPr id="10" name="Text 7"/>
          <p:cNvSpPr/>
          <p:nvPr/>
        </p:nvSpPr>
        <p:spPr>
          <a:xfrm>
            <a:off x="594360" y="1920240"/>
            <a:ext cx="3520440" cy="201168"/>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Permanent · baked into model weights</a:t>
            </a:r>
            <a:endParaRPr lang="en-US" sz="1000" dirty="0"/>
          </a:p>
        </p:txBody>
      </p:sp>
      <p:sp>
        <p:nvSpPr>
          <p:cNvPr id="11" name="Shape 8"/>
          <p:cNvSpPr/>
          <p:nvPr/>
        </p:nvSpPr>
        <p:spPr>
          <a:xfrm>
            <a:off x="594360" y="2212848"/>
            <a:ext cx="329184" cy="329184"/>
          </a:xfrm>
          <a:prstGeom prst="ellipse">
            <a:avLst/>
          </a:prstGeom>
          <a:solidFill>
            <a:srgbClr val="4C3B8A"/>
          </a:solidFill>
          <a:ln w="12700">
            <a:solidFill>
              <a:srgbClr val="4C3B8A"/>
            </a:solidFill>
            <a:prstDash val="solid"/>
          </a:ln>
        </p:spPr>
      </p:sp>
      <p:sp>
        <p:nvSpPr>
          <p:cNvPr id="12" name="Text 9"/>
          <p:cNvSpPr/>
          <p:nvPr/>
        </p:nvSpPr>
        <p:spPr>
          <a:xfrm>
            <a:off x="594360" y="22128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3" name="Text 10"/>
          <p:cNvSpPr/>
          <p:nvPr/>
        </p:nvSpPr>
        <p:spPr>
          <a:xfrm>
            <a:off x="1024128" y="2212848"/>
            <a:ext cx="3108960" cy="201168"/>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SOP procedures</a:t>
            </a:r>
            <a:endParaRPr lang="en-US" sz="1100" dirty="0"/>
          </a:p>
        </p:txBody>
      </p:sp>
      <p:sp>
        <p:nvSpPr>
          <p:cNvPr id="14" name="Text 11"/>
          <p:cNvSpPr/>
          <p:nvPr/>
        </p:nvSpPr>
        <p:spPr>
          <a:xfrm>
            <a:off x="1024128" y="2395728"/>
            <a:ext cx="3108960" cy="182880"/>
          </a:xfrm>
          <a:prstGeom prst="rect">
            <a:avLst/>
          </a:prstGeom>
          <a:noFill/>
          <a:ln/>
        </p:spPr>
        <p:txBody>
          <a:bodyPr wrap="square" lIns="0" tIns="0" rIns="0" bIns="0" rtlCol="0" anchor="ctr"/>
          <a:lstStyle/>
          <a:p>
            <a:pPr indent="0" marL="0">
              <a:buNone/>
            </a:pPr>
            <a:r>
              <a:rPr lang="en-US" sz="950" dirty="0">
                <a:solidFill>
                  <a:srgbClr val="718096"/>
                </a:solidFill>
                <a:latin typeface="Calibri" pitchFamily="34" charset="0"/>
                <a:ea typeface="Calibri" pitchFamily="34" charset="-122"/>
                <a:cs typeface="Calibri" pitchFamily="34" charset="-120"/>
              </a:rPr>
              <a:t>Read every relevant section</a:t>
            </a:r>
            <a:endParaRPr lang="en-US" sz="950" dirty="0"/>
          </a:p>
        </p:txBody>
      </p:sp>
      <p:sp>
        <p:nvSpPr>
          <p:cNvPr id="15" name="Shape 12"/>
          <p:cNvSpPr/>
          <p:nvPr/>
        </p:nvSpPr>
        <p:spPr>
          <a:xfrm>
            <a:off x="594360" y="2834640"/>
            <a:ext cx="329184" cy="329184"/>
          </a:xfrm>
          <a:prstGeom prst="ellipse">
            <a:avLst/>
          </a:prstGeom>
          <a:solidFill>
            <a:srgbClr val="4C3B8A"/>
          </a:solidFill>
          <a:ln w="12700">
            <a:solidFill>
              <a:srgbClr val="4C3B8A"/>
            </a:solidFill>
            <a:prstDash val="solid"/>
          </a:ln>
        </p:spPr>
      </p:sp>
      <p:sp>
        <p:nvSpPr>
          <p:cNvPr id="16" name="Text 13"/>
          <p:cNvSpPr/>
          <p:nvPr/>
        </p:nvSpPr>
        <p:spPr>
          <a:xfrm>
            <a:off x="594360" y="28346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7" name="Text 14"/>
          <p:cNvSpPr/>
          <p:nvPr/>
        </p:nvSpPr>
        <p:spPr>
          <a:xfrm>
            <a:off x="1024128" y="2834640"/>
            <a:ext cx="3108960" cy="201168"/>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Write Q&amp;A pairs</a:t>
            </a:r>
            <a:endParaRPr lang="en-US" sz="1100" dirty="0"/>
          </a:p>
        </p:txBody>
      </p:sp>
      <p:sp>
        <p:nvSpPr>
          <p:cNvPr id="18" name="Text 15"/>
          <p:cNvSpPr/>
          <p:nvPr/>
        </p:nvSpPr>
        <p:spPr>
          <a:xfrm>
            <a:off x="1024128" y="3017520"/>
            <a:ext cx="3108960" cy="182880"/>
          </a:xfrm>
          <a:prstGeom prst="rect">
            <a:avLst/>
          </a:prstGeom>
          <a:noFill/>
          <a:ln/>
        </p:spPr>
        <p:txBody>
          <a:bodyPr wrap="square" lIns="0" tIns="0" rIns="0" bIns="0" rtlCol="0" anchor="ctr"/>
          <a:lstStyle/>
          <a:p>
            <a:pPr indent="0" marL="0">
              <a:buNone/>
            </a:pPr>
            <a:r>
              <a:rPr lang="en-US" sz="950" dirty="0">
                <a:solidFill>
                  <a:srgbClr val="718096"/>
                </a:solidFill>
                <a:latin typeface="Calibri" pitchFamily="34" charset="0"/>
                <a:ea typeface="Calibri" pitchFamily="34" charset="-122"/>
                <a:cs typeface="Calibri" pitchFamily="34" charset="-120"/>
              </a:rPr>
              <a:t>JSONL: system / user / assistant</a:t>
            </a:r>
            <a:endParaRPr lang="en-US" sz="950" dirty="0"/>
          </a:p>
        </p:txBody>
      </p:sp>
      <p:sp>
        <p:nvSpPr>
          <p:cNvPr id="19" name="Shape 16"/>
          <p:cNvSpPr/>
          <p:nvPr/>
        </p:nvSpPr>
        <p:spPr>
          <a:xfrm>
            <a:off x="594360" y="3456432"/>
            <a:ext cx="329184" cy="329184"/>
          </a:xfrm>
          <a:prstGeom prst="ellipse">
            <a:avLst/>
          </a:prstGeom>
          <a:solidFill>
            <a:srgbClr val="4C3B8A"/>
          </a:solidFill>
          <a:ln w="12700">
            <a:solidFill>
              <a:srgbClr val="4C3B8A"/>
            </a:solidFill>
            <a:prstDash val="solid"/>
          </a:ln>
        </p:spPr>
      </p:sp>
      <p:sp>
        <p:nvSpPr>
          <p:cNvPr id="20" name="Text 17"/>
          <p:cNvSpPr/>
          <p:nvPr/>
        </p:nvSpPr>
        <p:spPr>
          <a:xfrm>
            <a:off x="59436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1" name="Text 18"/>
          <p:cNvSpPr/>
          <p:nvPr/>
        </p:nvSpPr>
        <p:spPr>
          <a:xfrm>
            <a:off x="1024128" y="3456432"/>
            <a:ext cx="3108960" cy="201168"/>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Vary client_type</a:t>
            </a:r>
            <a:endParaRPr lang="en-US" sz="1100" dirty="0"/>
          </a:p>
        </p:txBody>
      </p:sp>
      <p:sp>
        <p:nvSpPr>
          <p:cNvPr id="22" name="Text 19"/>
          <p:cNvSpPr/>
          <p:nvPr/>
        </p:nvSpPr>
        <p:spPr>
          <a:xfrm>
            <a:off x="1024128" y="3639312"/>
            <a:ext cx="3108960" cy="182880"/>
          </a:xfrm>
          <a:prstGeom prst="rect">
            <a:avLst/>
          </a:prstGeom>
          <a:noFill/>
          <a:ln/>
        </p:spPr>
        <p:txBody>
          <a:bodyPr wrap="square" lIns="0" tIns="0" rIns="0" bIns="0" rtlCol="0" anchor="ctr"/>
          <a:lstStyle/>
          <a:p>
            <a:pPr indent="0" marL="0">
              <a:buNone/>
            </a:pPr>
            <a:r>
              <a:rPr lang="en-US" sz="950" dirty="0">
                <a:solidFill>
                  <a:srgbClr val="718096"/>
                </a:solidFill>
                <a:latin typeface="Calibri" pitchFamily="34" charset="0"/>
                <a:ea typeface="Calibri" pitchFamily="34" charset="-122"/>
                <a:cs typeface="Calibri" pitchFamily="34" charset="-120"/>
              </a:rPr>
              <a:t>NPO-GAAS, Govt-GAGAS+SA etc.</a:t>
            </a:r>
            <a:endParaRPr lang="en-US" sz="950" dirty="0"/>
          </a:p>
        </p:txBody>
      </p:sp>
      <p:sp>
        <p:nvSpPr>
          <p:cNvPr id="23" name="Shape 20"/>
          <p:cNvSpPr/>
          <p:nvPr/>
        </p:nvSpPr>
        <p:spPr>
          <a:xfrm>
            <a:off x="594360" y="4078224"/>
            <a:ext cx="329184" cy="329184"/>
          </a:xfrm>
          <a:prstGeom prst="ellipse">
            <a:avLst/>
          </a:prstGeom>
          <a:solidFill>
            <a:srgbClr val="4C3B8A"/>
          </a:solidFill>
          <a:ln w="12700">
            <a:solidFill>
              <a:srgbClr val="4C3B8A"/>
            </a:solidFill>
            <a:prstDash val="solid"/>
          </a:ln>
        </p:spPr>
      </p:sp>
      <p:sp>
        <p:nvSpPr>
          <p:cNvPr id="24" name="Text 21"/>
          <p:cNvSpPr/>
          <p:nvPr/>
        </p:nvSpPr>
        <p:spPr>
          <a:xfrm>
            <a:off x="594360" y="40782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5" name="Text 22"/>
          <p:cNvSpPr/>
          <p:nvPr/>
        </p:nvSpPr>
        <p:spPr>
          <a:xfrm>
            <a:off x="1024128" y="4078224"/>
            <a:ext cx="3108960" cy="201168"/>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Fine-tune base LLM</a:t>
            </a:r>
            <a:endParaRPr lang="en-US" sz="1100" dirty="0"/>
          </a:p>
        </p:txBody>
      </p:sp>
      <p:sp>
        <p:nvSpPr>
          <p:cNvPr id="26" name="Text 23"/>
          <p:cNvSpPr/>
          <p:nvPr/>
        </p:nvSpPr>
        <p:spPr>
          <a:xfrm>
            <a:off x="1024128" y="4261104"/>
            <a:ext cx="3108960" cy="182880"/>
          </a:xfrm>
          <a:prstGeom prst="rect">
            <a:avLst/>
          </a:prstGeom>
          <a:noFill/>
          <a:ln/>
        </p:spPr>
        <p:txBody>
          <a:bodyPr wrap="square" lIns="0" tIns="0" rIns="0" bIns="0" rtlCol="0" anchor="ctr"/>
          <a:lstStyle/>
          <a:p>
            <a:pPr indent="0" marL="0">
              <a:buNone/>
            </a:pPr>
            <a:r>
              <a:rPr lang="en-US" sz="950" dirty="0">
                <a:solidFill>
                  <a:srgbClr val="718096"/>
                </a:solidFill>
                <a:latin typeface="Calibri" pitchFamily="34" charset="0"/>
                <a:ea typeface="Calibri" pitchFamily="34" charset="-122"/>
                <a:cs typeface="Calibri" pitchFamily="34" charset="-120"/>
              </a:rPr>
              <a:t>Stage 2 domain → Stage 3 firm</a:t>
            </a:r>
            <a:endParaRPr lang="en-US" sz="950" dirty="0"/>
          </a:p>
        </p:txBody>
      </p:sp>
      <p:sp>
        <p:nvSpPr>
          <p:cNvPr id="27" name="Shape 24"/>
          <p:cNvSpPr/>
          <p:nvPr/>
        </p:nvSpPr>
        <p:spPr>
          <a:xfrm>
            <a:off x="4663440" y="1417320"/>
            <a:ext cx="4114800" cy="3383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5"/>
          <p:cNvSpPr/>
          <p:nvPr/>
        </p:nvSpPr>
        <p:spPr>
          <a:xfrm>
            <a:off x="4663440" y="1417320"/>
            <a:ext cx="64008" cy="3383280"/>
          </a:xfrm>
          <a:prstGeom prst="rect">
            <a:avLst/>
          </a:prstGeom>
          <a:solidFill>
            <a:srgbClr val="0F7173"/>
          </a:solidFill>
          <a:ln w="12700">
            <a:solidFill>
              <a:srgbClr val="0F7173"/>
            </a:solidFill>
            <a:prstDash val="solid"/>
          </a:ln>
        </p:spPr>
      </p:sp>
      <p:pic>
        <p:nvPicPr>
          <p:cNvPr id="29" name="Image 1" descr="preencoded.png">    </p:cNvPr>
          <p:cNvPicPr>
            <a:picLocks noChangeAspect="1"/>
          </p:cNvPicPr>
          <p:nvPr/>
        </p:nvPicPr>
        <p:blipFill>
          <a:blip r:embed="rId2"/>
          <a:stretch>
            <a:fillRect/>
          </a:stretch>
        </p:blipFill>
        <p:spPr>
          <a:xfrm>
            <a:off x="4892040" y="1600200"/>
            <a:ext cx="292608" cy="292608"/>
          </a:xfrm>
          <a:prstGeom prst="rect">
            <a:avLst/>
          </a:prstGeom>
        </p:spPr>
      </p:pic>
      <p:sp>
        <p:nvSpPr>
          <p:cNvPr id="30" name="Text 26"/>
          <p:cNvSpPr/>
          <p:nvPr/>
        </p:nvSpPr>
        <p:spPr>
          <a:xfrm>
            <a:off x="5257800" y="1600200"/>
            <a:ext cx="3291840" cy="292608"/>
          </a:xfrm>
          <a:prstGeom prst="rect">
            <a:avLst/>
          </a:prstGeom>
          <a:noFill/>
          <a:ln/>
        </p:spPr>
        <p:txBody>
          <a:bodyPr wrap="square" lIns="0" tIns="0" rIns="0" bIns="0" rtlCol="0" anchor="ctr"/>
          <a:lstStyle/>
          <a:p>
            <a:pPr indent="0" marL="0">
              <a:buNone/>
            </a:pPr>
            <a:r>
              <a:rPr lang="en-US" sz="1300" b="1" dirty="0">
                <a:solidFill>
                  <a:srgbClr val="0F7173"/>
                </a:solidFill>
                <a:latin typeface="Calibri" pitchFamily="34" charset="0"/>
                <a:ea typeface="Calibri" pitchFamily="34" charset="-122"/>
                <a:cs typeface="Calibri" pitchFamily="34" charset="-120"/>
              </a:rPr>
              <a:t>Track 2 — RAG Pipeline</a:t>
            </a:r>
            <a:endParaRPr lang="en-US" sz="1300" dirty="0"/>
          </a:p>
        </p:txBody>
      </p:sp>
      <p:sp>
        <p:nvSpPr>
          <p:cNvPr id="31" name="Text 27"/>
          <p:cNvSpPr/>
          <p:nvPr/>
        </p:nvSpPr>
        <p:spPr>
          <a:xfrm>
            <a:off x="4892040" y="1920240"/>
            <a:ext cx="3657600" cy="201168"/>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Dynamic · retrieved at inference time</a:t>
            </a:r>
            <a:endParaRPr lang="en-US" sz="1000" dirty="0"/>
          </a:p>
        </p:txBody>
      </p:sp>
      <p:sp>
        <p:nvSpPr>
          <p:cNvPr id="32" name="Shape 28"/>
          <p:cNvSpPr/>
          <p:nvPr/>
        </p:nvSpPr>
        <p:spPr>
          <a:xfrm>
            <a:off x="4892040" y="2212848"/>
            <a:ext cx="329184" cy="329184"/>
          </a:xfrm>
          <a:prstGeom prst="ellipse">
            <a:avLst/>
          </a:prstGeom>
          <a:solidFill>
            <a:srgbClr val="0F7173"/>
          </a:solidFill>
          <a:ln w="12700">
            <a:solidFill>
              <a:srgbClr val="0F7173"/>
            </a:solidFill>
            <a:prstDash val="solid"/>
          </a:ln>
        </p:spPr>
      </p:sp>
      <p:sp>
        <p:nvSpPr>
          <p:cNvPr id="33" name="Text 29"/>
          <p:cNvSpPr/>
          <p:nvPr/>
        </p:nvSpPr>
        <p:spPr>
          <a:xfrm>
            <a:off x="4892040" y="22128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34" name="Text 30"/>
          <p:cNvSpPr/>
          <p:nvPr/>
        </p:nvSpPr>
        <p:spPr>
          <a:xfrm>
            <a:off x="5321808" y="2212848"/>
            <a:ext cx="3291840" cy="201168"/>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Chunk the SOP</a:t>
            </a:r>
            <a:endParaRPr lang="en-US" sz="1100" dirty="0"/>
          </a:p>
        </p:txBody>
      </p:sp>
      <p:sp>
        <p:nvSpPr>
          <p:cNvPr id="35" name="Text 31"/>
          <p:cNvSpPr/>
          <p:nvPr/>
        </p:nvSpPr>
        <p:spPr>
          <a:xfrm>
            <a:off x="5321808" y="2395728"/>
            <a:ext cx="3291840" cy="182880"/>
          </a:xfrm>
          <a:prstGeom prst="rect">
            <a:avLst/>
          </a:prstGeom>
          <a:noFill/>
          <a:ln/>
        </p:spPr>
        <p:txBody>
          <a:bodyPr wrap="square" lIns="0" tIns="0" rIns="0" bIns="0" rtlCol="0" anchor="ctr"/>
          <a:lstStyle/>
          <a:p>
            <a:pPr indent="0" marL="0">
              <a:buNone/>
            </a:pPr>
            <a:r>
              <a:rPr lang="en-US" sz="950" dirty="0">
                <a:solidFill>
                  <a:srgbClr val="718096"/>
                </a:solidFill>
                <a:latin typeface="Calibri" pitchFamily="34" charset="0"/>
                <a:ea typeface="Calibri" pitchFamily="34" charset="-122"/>
                <a:cs typeface="Calibri" pitchFamily="34" charset="-120"/>
              </a:rPr>
              <a:t>400–500 tokens, paragraph-aware</a:t>
            </a:r>
            <a:endParaRPr lang="en-US" sz="950" dirty="0"/>
          </a:p>
        </p:txBody>
      </p:sp>
      <p:sp>
        <p:nvSpPr>
          <p:cNvPr id="36" name="Shape 32"/>
          <p:cNvSpPr/>
          <p:nvPr/>
        </p:nvSpPr>
        <p:spPr>
          <a:xfrm>
            <a:off x="4892040" y="2834640"/>
            <a:ext cx="329184" cy="329184"/>
          </a:xfrm>
          <a:prstGeom prst="ellipse">
            <a:avLst/>
          </a:prstGeom>
          <a:solidFill>
            <a:srgbClr val="0F7173"/>
          </a:solidFill>
          <a:ln w="12700">
            <a:solidFill>
              <a:srgbClr val="0F7173"/>
            </a:solidFill>
            <a:prstDash val="solid"/>
          </a:ln>
        </p:spPr>
      </p:sp>
      <p:sp>
        <p:nvSpPr>
          <p:cNvPr id="37" name="Text 33"/>
          <p:cNvSpPr/>
          <p:nvPr/>
        </p:nvSpPr>
        <p:spPr>
          <a:xfrm>
            <a:off x="4892040" y="28346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38" name="Text 34"/>
          <p:cNvSpPr/>
          <p:nvPr/>
        </p:nvSpPr>
        <p:spPr>
          <a:xfrm>
            <a:off x="5321808" y="2834640"/>
            <a:ext cx="3291840" cy="201168"/>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Embed each chunk</a:t>
            </a:r>
            <a:endParaRPr lang="en-US" sz="1100" dirty="0"/>
          </a:p>
        </p:txBody>
      </p:sp>
      <p:sp>
        <p:nvSpPr>
          <p:cNvPr id="39" name="Text 35"/>
          <p:cNvSpPr/>
          <p:nvPr/>
        </p:nvSpPr>
        <p:spPr>
          <a:xfrm>
            <a:off x="5321808" y="3017520"/>
            <a:ext cx="3291840" cy="182880"/>
          </a:xfrm>
          <a:prstGeom prst="rect">
            <a:avLst/>
          </a:prstGeom>
          <a:noFill/>
          <a:ln/>
        </p:spPr>
        <p:txBody>
          <a:bodyPr wrap="square" lIns="0" tIns="0" rIns="0" bIns="0" rtlCol="0" anchor="ctr"/>
          <a:lstStyle/>
          <a:p>
            <a:pPr indent="0" marL="0">
              <a:buNone/>
            </a:pPr>
            <a:r>
              <a:rPr lang="en-US" sz="950" dirty="0">
                <a:solidFill>
                  <a:srgbClr val="718096"/>
                </a:solidFill>
                <a:latin typeface="Calibri" pitchFamily="34" charset="0"/>
                <a:ea typeface="Calibri" pitchFamily="34" charset="-122"/>
                <a:cs typeface="Calibri" pitchFamily="34" charset="-120"/>
              </a:rPr>
              <a:t>text-embedding-3-small / bge</a:t>
            </a:r>
            <a:endParaRPr lang="en-US" sz="950" dirty="0"/>
          </a:p>
        </p:txBody>
      </p:sp>
      <p:sp>
        <p:nvSpPr>
          <p:cNvPr id="40" name="Shape 36"/>
          <p:cNvSpPr/>
          <p:nvPr/>
        </p:nvSpPr>
        <p:spPr>
          <a:xfrm>
            <a:off x="4892040" y="3456432"/>
            <a:ext cx="329184" cy="329184"/>
          </a:xfrm>
          <a:prstGeom prst="ellipse">
            <a:avLst/>
          </a:prstGeom>
          <a:solidFill>
            <a:srgbClr val="0F7173"/>
          </a:solidFill>
          <a:ln w="12700">
            <a:solidFill>
              <a:srgbClr val="0F7173"/>
            </a:solidFill>
            <a:prstDash val="solid"/>
          </a:ln>
        </p:spPr>
      </p:sp>
      <p:sp>
        <p:nvSpPr>
          <p:cNvPr id="41" name="Text 37"/>
          <p:cNvSpPr/>
          <p:nvPr/>
        </p:nvSpPr>
        <p:spPr>
          <a:xfrm>
            <a:off x="48920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42" name="Text 38"/>
          <p:cNvSpPr/>
          <p:nvPr/>
        </p:nvSpPr>
        <p:spPr>
          <a:xfrm>
            <a:off x="5321808" y="3456432"/>
            <a:ext cx="3291840" cy="201168"/>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Upsert to Qdrant</a:t>
            </a:r>
            <a:endParaRPr lang="en-US" sz="1100" dirty="0"/>
          </a:p>
        </p:txBody>
      </p:sp>
      <p:sp>
        <p:nvSpPr>
          <p:cNvPr id="43" name="Text 39"/>
          <p:cNvSpPr/>
          <p:nvPr/>
        </p:nvSpPr>
        <p:spPr>
          <a:xfrm>
            <a:off x="5321808" y="3639312"/>
            <a:ext cx="3291840" cy="182880"/>
          </a:xfrm>
          <a:prstGeom prst="rect">
            <a:avLst/>
          </a:prstGeom>
          <a:noFill/>
          <a:ln/>
        </p:spPr>
        <p:txBody>
          <a:bodyPr wrap="square" lIns="0" tIns="0" rIns="0" bIns="0" rtlCol="0" anchor="ctr"/>
          <a:lstStyle/>
          <a:p>
            <a:pPr indent="0" marL="0">
              <a:buNone/>
            </a:pPr>
            <a:r>
              <a:rPr lang="en-US" sz="950" dirty="0">
                <a:solidFill>
                  <a:srgbClr val="718096"/>
                </a:solidFill>
                <a:latin typeface="Calibri" pitchFamily="34" charset="0"/>
                <a:ea typeface="Calibri" pitchFamily="34" charset="-122"/>
                <a:cs typeface="Calibri" pitchFamily="34" charset="-120"/>
              </a:rPr>
              <a:t>With payload: type, phase, year</a:t>
            </a:r>
            <a:endParaRPr lang="en-US" sz="950" dirty="0"/>
          </a:p>
        </p:txBody>
      </p:sp>
      <p:sp>
        <p:nvSpPr>
          <p:cNvPr id="44" name="Shape 40"/>
          <p:cNvSpPr/>
          <p:nvPr/>
        </p:nvSpPr>
        <p:spPr>
          <a:xfrm>
            <a:off x="4892040" y="4078224"/>
            <a:ext cx="329184" cy="329184"/>
          </a:xfrm>
          <a:prstGeom prst="ellipse">
            <a:avLst/>
          </a:prstGeom>
          <a:solidFill>
            <a:srgbClr val="0F7173"/>
          </a:solidFill>
          <a:ln w="12700">
            <a:solidFill>
              <a:srgbClr val="0F7173"/>
            </a:solidFill>
            <a:prstDash val="solid"/>
          </a:ln>
        </p:spPr>
      </p:sp>
      <p:sp>
        <p:nvSpPr>
          <p:cNvPr id="45" name="Text 41"/>
          <p:cNvSpPr/>
          <p:nvPr/>
        </p:nvSpPr>
        <p:spPr>
          <a:xfrm>
            <a:off x="4892040" y="40782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46" name="Text 42"/>
          <p:cNvSpPr/>
          <p:nvPr/>
        </p:nvSpPr>
        <p:spPr>
          <a:xfrm>
            <a:off x="5321808" y="4078224"/>
            <a:ext cx="3291840" cy="201168"/>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Query at runtime</a:t>
            </a:r>
            <a:endParaRPr lang="en-US" sz="1100" dirty="0"/>
          </a:p>
        </p:txBody>
      </p:sp>
      <p:sp>
        <p:nvSpPr>
          <p:cNvPr id="47" name="Text 43"/>
          <p:cNvSpPr/>
          <p:nvPr/>
        </p:nvSpPr>
        <p:spPr>
          <a:xfrm>
            <a:off x="5321808" y="4261104"/>
            <a:ext cx="3291840" cy="182880"/>
          </a:xfrm>
          <a:prstGeom prst="rect">
            <a:avLst/>
          </a:prstGeom>
          <a:noFill/>
          <a:ln/>
        </p:spPr>
        <p:txBody>
          <a:bodyPr wrap="square" lIns="0" tIns="0" rIns="0" bIns="0" rtlCol="0" anchor="ctr"/>
          <a:lstStyle/>
          <a:p>
            <a:pPr indent="0" marL="0">
              <a:buNone/>
            </a:pPr>
            <a:r>
              <a:rPr lang="en-US" sz="950" dirty="0">
                <a:solidFill>
                  <a:srgbClr val="718096"/>
                </a:solidFill>
                <a:latin typeface="Calibri" pitchFamily="34" charset="0"/>
                <a:ea typeface="Calibri" pitchFamily="34" charset="-122"/>
                <a:cs typeface="Calibri" pitchFamily="34" charset="-120"/>
              </a:rPr>
              <a:t>Filter → ANN → return top-k</a:t>
            </a:r>
            <a:endParaRPr lang="en-US" sz="950" dirty="0"/>
          </a:p>
        </p:txBody>
      </p:sp>
      <p:sp>
        <p:nvSpPr>
          <p:cNvPr id="48" name="Text 44"/>
          <p:cNvSpPr/>
          <p:nvPr/>
        </p:nvSpPr>
        <p:spPr>
          <a:xfrm>
            <a:off x="365760" y="4828032"/>
            <a:ext cx="8412480" cy="201168"/>
          </a:xfrm>
          <a:prstGeom prst="rect">
            <a:avLst/>
          </a:prstGeom>
          <a:noFill/>
          <a:ln/>
        </p:spPr>
        <p:txBody>
          <a:bodyPr wrap="square" lIns="0" tIns="0" rIns="0" bIns="0" rtlCol="0" anchor="ctr"/>
          <a:lstStyle/>
          <a:p>
            <a:pPr indent="0" marL="0">
              <a:buNone/>
            </a:pPr>
            <a:r>
              <a:rPr lang="en-US" sz="950" i="1" dirty="0">
                <a:solidFill>
                  <a:srgbClr val="0F7173"/>
                </a:solidFill>
                <a:latin typeface="Calibri" pitchFamily="34" charset="0"/>
                <a:ea typeface="Calibri" pitchFamily="34" charset="-122"/>
                <a:cs typeface="Calibri" pitchFamily="34" charset="-120"/>
              </a:rPr>
              <a:t>Key rule: finalize your embedding model before creating the Qdrant collection. Everything is locked to that choice.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1828800" cy="256032"/>
          </a:xfrm>
          <a:prstGeom prst="rect">
            <a:avLst/>
          </a:prstGeom>
          <a:solidFill>
            <a:srgbClr val="0F7173"/>
          </a:solidFill>
          <a:ln w="12700">
            <a:solidFill>
              <a:srgbClr val="0F7173"/>
            </a:solidFill>
            <a:prstDash val="solid"/>
          </a:ln>
        </p:spPr>
      </p:sp>
      <p:sp>
        <p:nvSpPr>
          <p:cNvPr id="3" name="Text 1"/>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900" b="1" dirty="0">
                <a:solidFill>
                  <a:srgbClr val="FFFFFF"/>
                </a:solidFill>
              </a:rPr>
              <a:t>02 · QDRANT SETUP</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Qdrant — collection config &amp; indexing rules</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Stand this up first. All vector decisions flow from here.</a:t>
            </a:r>
            <a:endParaRPr lang="en-US" sz="1200" dirty="0"/>
          </a:p>
        </p:txBody>
      </p:sp>
      <p:sp>
        <p:nvSpPr>
          <p:cNvPr id="6" name="Shape 4"/>
          <p:cNvSpPr/>
          <p:nvPr/>
        </p:nvSpPr>
        <p:spPr>
          <a:xfrm>
            <a:off x="365760" y="1371600"/>
            <a:ext cx="5029200" cy="34747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65760" y="1371600"/>
            <a:ext cx="64008" cy="3474720"/>
          </a:xfrm>
          <a:prstGeom prst="rect">
            <a:avLst/>
          </a:prstGeom>
          <a:solidFill>
            <a:srgbClr val="0F7173"/>
          </a:solidFill>
          <a:ln w="12700">
            <a:solidFill>
              <a:srgbClr val="0F7173"/>
            </a:solidFill>
            <a:prstDash val="solid"/>
          </a:ln>
        </p:spPr>
      </p:sp>
      <p:sp>
        <p:nvSpPr>
          <p:cNvPr id="8" name="Text 6"/>
          <p:cNvSpPr/>
          <p:nvPr/>
        </p:nvSpPr>
        <p:spPr>
          <a:xfrm>
            <a:off x="594360" y="1508760"/>
            <a:ext cx="4572000" cy="274320"/>
          </a:xfrm>
          <a:prstGeom prst="rect">
            <a:avLst/>
          </a:prstGeom>
          <a:noFill/>
          <a:ln/>
        </p:spPr>
        <p:txBody>
          <a:bodyPr wrap="square" lIns="0" tIns="0" rIns="0" bIns="0" rtlCol="0" anchor="ctr"/>
          <a:lstStyle/>
          <a:p>
            <a:pPr indent="0" marL="0">
              <a:buNone/>
            </a:pPr>
            <a:r>
              <a:rPr lang="en-US" sz="1200" b="1" dirty="0">
                <a:solidFill>
                  <a:srgbClr val="0F7173"/>
                </a:solidFill>
                <a:latin typeface="Calibri" pitchFamily="34" charset="0"/>
                <a:ea typeface="Calibri" pitchFamily="34" charset="-122"/>
                <a:cs typeface="Calibri" pitchFamily="34" charset="-120"/>
              </a:rPr>
              <a:t>Collection configuration</a:t>
            </a:r>
            <a:endParaRPr lang="en-US" sz="1200" dirty="0"/>
          </a:p>
        </p:txBody>
      </p:sp>
      <p:sp>
        <p:nvSpPr>
          <p:cNvPr id="9" name="Shape 7"/>
          <p:cNvSpPr/>
          <p:nvPr/>
        </p:nvSpPr>
        <p:spPr>
          <a:xfrm>
            <a:off x="502920" y="1874520"/>
            <a:ext cx="4754880" cy="310896"/>
          </a:xfrm>
          <a:prstGeom prst="rect">
            <a:avLst/>
          </a:prstGeom>
          <a:solidFill>
            <a:srgbClr val="EDF2F7"/>
          </a:solidFill>
          <a:ln w="12700">
            <a:solidFill>
              <a:srgbClr val="E2E8F0"/>
            </a:solidFill>
            <a:prstDash val="solid"/>
          </a:ln>
        </p:spPr>
      </p:sp>
      <p:sp>
        <p:nvSpPr>
          <p:cNvPr id="10" name="Text 8"/>
          <p:cNvSpPr/>
          <p:nvPr/>
        </p:nvSpPr>
        <p:spPr>
          <a:xfrm>
            <a:off x="621792" y="1874520"/>
            <a:ext cx="1920240" cy="31089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Collection name</a:t>
            </a:r>
            <a:endParaRPr lang="en-US" sz="1000" dirty="0"/>
          </a:p>
        </p:txBody>
      </p:sp>
      <p:sp>
        <p:nvSpPr>
          <p:cNvPr id="11" name="Text 9"/>
          <p:cNvSpPr/>
          <p:nvPr/>
        </p:nvSpPr>
        <p:spPr>
          <a:xfrm>
            <a:off x="2606040" y="1874520"/>
            <a:ext cx="2468880" cy="310896"/>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auditai_sop</a:t>
            </a:r>
            <a:endParaRPr lang="en-US" sz="1000" dirty="0"/>
          </a:p>
        </p:txBody>
      </p:sp>
      <p:sp>
        <p:nvSpPr>
          <p:cNvPr id="12" name="Shape 10"/>
          <p:cNvSpPr/>
          <p:nvPr/>
        </p:nvSpPr>
        <p:spPr>
          <a:xfrm>
            <a:off x="502920" y="2221992"/>
            <a:ext cx="4754880" cy="310896"/>
          </a:xfrm>
          <a:prstGeom prst="rect">
            <a:avLst/>
          </a:prstGeom>
          <a:solidFill>
            <a:srgbClr val="FFFFFF"/>
          </a:solidFill>
          <a:ln w="12700">
            <a:solidFill>
              <a:srgbClr val="E2E8F0"/>
            </a:solidFill>
            <a:prstDash val="solid"/>
          </a:ln>
        </p:spPr>
      </p:sp>
      <p:sp>
        <p:nvSpPr>
          <p:cNvPr id="13" name="Text 11"/>
          <p:cNvSpPr/>
          <p:nvPr/>
        </p:nvSpPr>
        <p:spPr>
          <a:xfrm>
            <a:off x="621792" y="2221992"/>
            <a:ext cx="1920240" cy="31089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Distance metric</a:t>
            </a:r>
            <a:endParaRPr lang="en-US" sz="1000" dirty="0"/>
          </a:p>
        </p:txBody>
      </p:sp>
      <p:sp>
        <p:nvSpPr>
          <p:cNvPr id="14" name="Text 12"/>
          <p:cNvSpPr/>
          <p:nvPr/>
        </p:nvSpPr>
        <p:spPr>
          <a:xfrm>
            <a:off x="2606040" y="2221992"/>
            <a:ext cx="2468880" cy="310896"/>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Cosine</a:t>
            </a:r>
            <a:endParaRPr lang="en-US" sz="1000" dirty="0"/>
          </a:p>
        </p:txBody>
      </p:sp>
      <p:sp>
        <p:nvSpPr>
          <p:cNvPr id="15" name="Shape 13"/>
          <p:cNvSpPr/>
          <p:nvPr/>
        </p:nvSpPr>
        <p:spPr>
          <a:xfrm>
            <a:off x="502920" y="2569464"/>
            <a:ext cx="4754880" cy="310896"/>
          </a:xfrm>
          <a:prstGeom prst="rect">
            <a:avLst/>
          </a:prstGeom>
          <a:solidFill>
            <a:srgbClr val="EDF2F7"/>
          </a:solidFill>
          <a:ln w="12700">
            <a:solidFill>
              <a:srgbClr val="E2E8F0"/>
            </a:solidFill>
            <a:prstDash val="solid"/>
          </a:ln>
        </p:spPr>
      </p:sp>
      <p:sp>
        <p:nvSpPr>
          <p:cNvPr id="16" name="Text 14"/>
          <p:cNvSpPr/>
          <p:nvPr/>
        </p:nvSpPr>
        <p:spPr>
          <a:xfrm>
            <a:off x="621792" y="2569464"/>
            <a:ext cx="1920240" cy="31089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Vector size</a:t>
            </a:r>
            <a:endParaRPr lang="en-US" sz="1000" dirty="0"/>
          </a:p>
        </p:txBody>
      </p:sp>
      <p:sp>
        <p:nvSpPr>
          <p:cNvPr id="17" name="Text 15"/>
          <p:cNvSpPr/>
          <p:nvPr/>
        </p:nvSpPr>
        <p:spPr>
          <a:xfrm>
            <a:off x="2606040" y="2569464"/>
            <a:ext cx="2468880" cy="310896"/>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1536  (text-embedding-3-small)</a:t>
            </a:r>
            <a:endParaRPr lang="en-US" sz="1000" dirty="0"/>
          </a:p>
        </p:txBody>
      </p:sp>
      <p:sp>
        <p:nvSpPr>
          <p:cNvPr id="18" name="Shape 16"/>
          <p:cNvSpPr/>
          <p:nvPr/>
        </p:nvSpPr>
        <p:spPr>
          <a:xfrm>
            <a:off x="502920" y="2916936"/>
            <a:ext cx="4754880" cy="310896"/>
          </a:xfrm>
          <a:prstGeom prst="rect">
            <a:avLst/>
          </a:prstGeom>
          <a:solidFill>
            <a:srgbClr val="FFFFFF"/>
          </a:solidFill>
          <a:ln w="12700">
            <a:solidFill>
              <a:srgbClr val="E2E8F0"/>
            </a:solidFill>
            <a:prstDash val="solid"/>
          </a:ln>
        </p:spPr>
      </p:sp>
      <p:sp>
        <p:nvSpPr>
          <p:cNvPr id="19" name="Text 17"/>
          <p:cNvSpPr/>
          <p:nvPr/>
        </p:nvSpPr>
        <p:spPr>
          <a:xfrm>
            <a:off x="621792" y="2916936"/>
            <a:ext cx="1920240" cy="31089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On-disk storage</a:t>
            </a:r>
            <a:endParaRPr lang="en-US" sz="1000" dirty="0"/>
          </a:p>
        </p:txBody>
      </p:sp>
      <p:sp>
        <p:nvSpPr>
          <p:cNvPr id="20" name="Text 18"/>
          <p:cNvSpPr/>
          <p:nvPr/>
        </p:nvSpPr>
        <p:spPr>
          <a:xfrm>
            <a:off x="2606040" y="2916936"/>
            <a:ext cx="2468880" cy="310896"/>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true  (for large corpora)</a:t>
            </a:r>
            <a:endParaRPr lang="en-US" sz="1000" dirty="0"/>
          </a:p>
        </p:txBody>
      </p:sp>
      <p:sp>
        <p:nvSpPr>
          <p:cNvPr id="21" name="Shape 19"/>
          <p:cNvSpPr/>
          <p:nvPr/>
        </p:nvSpPr>
        <p:spPr>
          <a:xfrm>
            <a:off x="502920" y="3264408"/>
            <a:ext cx="4754880" cy="310896"/>
          </a:xfrm>
          <a:prstGeom prst="rect">
            <a:avLst/>
          </a:prstGeom>
          <a:solidFill>
            <a:srgbClr val="EDF2F7"/>
          </a:solidFill>
          <a:ln w="12700">
            <a:solidFill>
              <a:srgbClr val="E2E8F0"/>
            </a:solidFill>
            <a:prstDash val="solid"/>
          </a:ln>
        </p:spPr>
      </p:sp>
      <p:sp>
        <p:nvSpPr>
          <p:cNvPr id="22" name="Text 20"/>
          <p:cNvSpPr/>
          <p:nvPr/>
        </p:nvSpPr>
        <p:spPr>
          <a:xfrm>
            <a:off x="621792" y="3264408"/>
            <a:ext cx="1920240" cy="31089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Payload index 1</a:t>
            </a:r>
            <a:endParaRPr lang="en-US" sz="1000" dirty="0"/>
          </a:p>
        </p:txBody>
      </p:sp>
      <p:sp>
        <p:nvSpPr>
          <p:cNvPr id="23" name="Text 21"/>
          <p:cNvSpPr/>
          <p:nvPr/>
        </p:nvSpPr>
        <p:spPr>
          <a:xfrm>
            <a:off x="2606040" y="3264408"/>
            <a:ext cx="2468880" cy="310896"/>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workpaper_type  → keyword</a:t>
            </a:r>
            <a:endParaRPr lang="en-US" sz="1000" dirty="0"/>
          </a:p>
        </p:txBody>
      </p:sp>
      <p:sp>
        <p:nvSpPr>
          <p:cNvPr id="24" name="Shape 22"/>
          <p:cNvSpPr/>
          <p:nvPr/>
        </p:nvSpPr>
        <p:spPr>
          <a:xfrm>
            <a:off x="502920" y="3611880"/>
            <a:ext cx="4754880" cy="310896"/>
          </a:xfrm>
          <a:prstGeom prst="rect">
            <a:avLst/>
          </a:prstGeom>
          <a:solidFill>
            <a:srgbClr val="FFFFFF"/>
          </a:solidFill>
          <a:ln w="12700">
            <a:solidFill>
              <a:srgbClr val="E2E8F0"/>
            </a:solidFill>
            <a:prstDash val="solid"/>
          </a:ln>
        </p:spPr>
      </p:sp>
      <p:sp>
        <p:nvSpPr>
          <p:cNvPr id="25" name="Text 23"/>
          <p:cNvSpPr/>
          <p:nvPr/>
        </p:nvSpPr>
        <p:spPr>
          <a:xfrm>
            <a:off x="621792" y="3611880"/>
            <a:ext cx="1920240" cy="31089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Payload index 2</a:t>
            </a:r>
            <a:endParaRPr lang="en-US" sz="1000" dirty="0"/>
          </a:p>
        </p:txBody>
      </p:sp>
      <p:sp>
        <p:nvSpPr>
          <p:cNvPr id="26" name="Text 24"/>
          <p:cNvSpPr/>
          <p:nvPr/>
        </p:nvSpPr>
        <p:spPr>
          <a:xfrm>
            <a:off x="2606040" y="3611880"/>
            <a:ext cx="2468880" cy="310896"/>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year  → integer</a:t>
            </a:r>
            <a:endParaRPr lang="en-US" sz="1000" dirty="0"/>
          </a:p>
        </p:txBody>
      </p:sp>
      <p:sp>
        <p:nvSpPr>
          <p:cNvPr id="27" name="Shape 25"/>
          <p:cNvSpPr/>
          <p:nvPr/>
        </p:nvSpPr>
        <p:spPr>
          <a:xfrm>
            <a:off x="502920" y="3959352"/>
            <a:ext cx="4754880" cy="310896"/>
          </a:xfrm>
          <a:prstGeom prst="rect">
            <a:avLst/>
          </a:prstGeom>
          <a:solidFill>
            <a:srgbClr val="EDF2F7"/>
          </a:solidFill>
          <a:ln w="12700">
            <a:solidFill>
              <a:srgbClr val="E2E8F0"/>
            </a:solidFill>
            <a:prstDash val="solid"/>
          </a:ln>
        </p:spPr>
      </p:sp>
      <p:sp>
        <p:nvSpPr>
          <p:cNvPr id="28" name="Text 26"/>
          <p:cNvSpPr/>
          <p:nvPr/>
        </p:nvSpPr>
        <p:spPr>
          <a:xfrm>
            <a:off x="621792" y="3959352"/>
            <a:ext cx="1920240" cy="31089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Point ID format</a:t>
            </a:r>
            <a:endParaRPr lang="en-US" sz="1000" dirty="0"/>
          </a:p>
        </p:txBody>
      </p:sp>
      <p:sp>
        <p:nvSpPr>
          <p:cNvPr id="29" name="Text 27"/>
          <p:cNvSpPr/>
          <p:nvPr/>
        </p:nvSpPr>
        <p:spPr>
          <a:xfrm>
            <a:off x="2606040" y="3959352"/>
            <a:ext cx="2468880" cy="310896"/>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Deterministic hash (chunk_id)</a:t>
            </a:r>
            <a:endParaRPr lang="en-US" sz="1000" dirty="0"/>
          </a:p>
        </p:txBody>
      </p:sp>
      <p:sp>
        <p:nvSpPr>
          <p:cNvPr id="30" name="Shape 28"/>
          <p:cNvSpPr/>
          <p:nvPr/>
        </p:nvSpPr>
        <p:spPr>
          <a:xfrm>
            <a:off x="502920" y="4306824"/>
            <a:ext cx="4754880" cy="310896"/>
          </a:xfrm>
          <a:prstGeom prst="rect">
            <a:avLst/>
          </a:prstGeom>
          <a:solidFill>
            <a:srgbClr val="FFFFFF"/>
          </a:solidFill>
          <a:ln w="12700">
            <a:solidFill>
              <a:srgbClr val="E2E8F0"/>
            </a:solidFill>
            <a:prstDash val="solid"/>
          </a:ln>
        </p:spPr>
      </p:sp>
      <p:sp>
        <p:nvSpPr>
          <p:cNvPr id="31" name="Text 29"/>
          <p:cNvSpPr/>
          <p:nvPr/>
        </p:nvSpPr>
        <p:spPr>
          <a:xfrm>
            <a:off x="621792" y="4306824"/>
            <a:ext cx="1920240" cy="310896"/>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Upsert batch</a:t>
            </a:r>
            <a:endParaRPr lang="en-US" sz="1000" dirty="0"/>
          </a:p>
        </p:txBody>
      </p:sp>
      <p:sp>
        <p:nvSpPr>
          <p:cNvPr id="32" name="Text 30"/>
          <p:cNvSpPr/>
          <p:nvPr/>
        </p:nvSpPr>
        <p:spPr>
          <a:xfrm>
            <a:off x="2606040" y="4306824"/>
            <a:ext cx="2468880" cy="310896"/>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100–500 points per call</a:t>
            </a:r>
            <a:endParaRPr lang="en-US" sz="1000" dirty="0"/>
          </a:p>
        </p:txBody>
      </p:sp>
      <p:sp>
        <p:nvSpPr>
          <p:cNvPr id="33" name="Shape 31"/>
          <p:cNvSpPr/>
          <p:nvPr/>
        </p:nvSpPr>
        <p:spPr>
          <a:xfrm>
            <a:off x="5623560" y="1371600"/>
            <a:ext cx="3154680" cy="34747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4" name="Shape 32"/>
          <p:cNvSpPr/>
          <p:nvPr/>
        </p:nvSpPr>
        <p:spPr>
          <a:xfrm>
            <a:off x="5623560" y="1371600"/>
            <a:ext cx="64008" cy="3474720"/>
          </a:xfrm>
          <a:prstGeom prst="rect">
            <a:avLst/>
          </a:prstGeom>
          <a:solidFill>
            <a:srgbClr val="E09F3E"/>
          </a:solidFill>
          <a:ln w="12700">
            <a:solidFill>
              <a:srgbClr val="E09F3E"/>
            </a:solidFill>
            <a:prstDash val="solid"/>
          </a:ln>
        </p:spPr>
      </p:sp>
      <p:sp>
        <p:nvSpPr>
          <p:cNvPr id="35" name="Text 33"/>
          <p:cNvSpPr/>
          <p:nvPr/>
        </p:nvSpPr>
        <p:spPr>
          <a:xfrm>
            <a:off x="5852160" y="1508760"/>
            <a:ext cx="2651760" cy="274320"/>
          </a:xfrm>
          <a:prstGeom prst="rect">
            <a:avLst/>
          </a:prstGeom>
          <a:noFill/>
          <a:ln/>
        </p:spPr>
        <p:txBody>
          <a:bodyPr wrap="square" lIns="0" tIns="0" rIns="0" bIns="0" rtlCol="0" anchor="ctr"/>
          <a:lstStyle/>
          <a:p>
            <a:pPr indent="0" marL="0">
              <a:buNone/>
            </a:pPr>
            <a:r>
              <a:rPr lang="en-US" sz="1200" b="1" dirty="0">
                <a:solidFill>
                  <a:srgbClr val="E09F3E"/>
                </a:solidFill>
                <a:latin typeface="Calibri" pitchFamily="34" charset="0"/>
                <a:ea typeface="Calibri" pitchFamily="34" charset="-122"/>
                <a:cs typeface="Calibri" pitchFamily="34" charset="-120"/>
              </a:rPr>
              <a:t>Critical rules</a:t>
            </a:r>
            <a:endParaRPr lang="en-US" sz="1200" dirty="0"/>
          </a:p>
        </p:txBody>
      </p:sp>
      <p:sp>
        <p:nvSpPr>
          <p:cNvPr id="36" name="Shape 34"/>
          <p:cNvSpPr/>
          <p:nvPr/>
        </p:nvSpPr>
        <p:spPr>
          <a:xfrm>
            <a:off x="5760720" y="1874520"/>
            <a:ext cx="54864" cy="594360"/>
          </a:xfrm>
          <a:prstGeom prst="rect">
            <a:avLst/>
          </a:prstGeom>
          <a:solidFill>
            <a:srgbClr val="E09F3E"/>
          </a:solidFill>
          <a:ln w="12700">
            <a:solidFill>
              <a:srgbClr val="E09F3E"/>
            </a:solidFill>
            <a:prstDash val="solid"/>
          </a:ln>
        </p:spPr>
      </p:sp>
      <p:sp>
        <p:nvSpPr>
          <p:cNvPr id="37" name="Text 35"/>
          <p:cNvSpPr/>
          <p:nvPr/>
        </p:nvSpPr>
        <p:spPr>
          <a:xfrm>
            <a:off x="5943600" y="1874520"/>
            <a:ext cx="2651760" cy="237744"/>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Create payload indexes BEFORE bulk upsert</a:t>
            </a:r>
            <a:endParaRPr lang="en-US" sz="950" dirty="0"/>
          </a:p>
        </p:txBody>
      </p:sp>
      <p:sp>
        <p:nvSpPr>
          <p:cNvPr id="38" name="Text 36"/>
          <p:cNvSpPr/>
          <p:nvPr/>
        </p:nvSpPr>
        <p:spPr>
          <a:xfrm>
            <a:off x="5943600" y="2112264"/>
            <a:ext cx="2651760" cy="34747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Qdrant rebuilds from scratch if you create them after. Always index first.</a:t>
            </a:r>
            <a:endParaRPr lang="en-US" sz="900" dirty="0"/>
          </a:p>
        </p:txBody>
      </p:sp>
      <p:sp>
        <p:nvSpPr>
          <p:cNvPr id="39" name="Shape 37"/>
          <p:cNvSpPr/>
          <p:nvPr/>
        </p:nvSpPr>
        <p:spPr>
          <a:xfrm>
            <a:off x="5760720" y="2606040"/>
            <a:ext cx="54864" cy="594360"/>
          </a:xfrm>
          <a:prstGeom prst="rect">
            <a:avLst/>
          </a:prstGeom>
          <a:solidFill>
            <a:srgbClr val="E09F3E"/>
          </a:solidFill>
          <a:ln w="12700">
            <a:solidFill>
              <a:srgbClr val="E09F3E"/>
            </a:solidFill>
            <a:prstDash val="solid"/>
          </a:ln>
        </p:spPr>
      </p:sp>
      <p:sp>
        <p:nvSpPr>
          <p:cNvPr id="40" name="Text 38"/>
          <p:cNvSpPr/>
          <p:nvPr/>
        </p:nvSpPr>
        <p:spPr>
          <a:xfrm>
            <a:off x="5943600" y="2606040"/>
            <a:ext cx="2651760" cy="237744"/>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Never store raw text in payload</a:t>
            </a:r>
            <a:endParaRPr lang="en-US" sz="950" dirty="0"/>
          </a:p>
        </p:txBody>
      </p:sp>
      <p:sp>
        <p:nvSpPr>
          <p:cNvPr id="41" name="Text 39"/>
          <p:cNvSpPr/>
          <p:nvPr/>
        </p:nvSpPr>
        <p:spPr>
          <a:xfrm>
            <a:off x="5943600" y="2843784"/>
            <a:ext cx="2651760" cy="34747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Store chunk_id only. Retrieve actual text from Postgres by chunk_id.</a:t>
            </a:r>
            <a:endParaRPr lang="en-US" sz="900" dirty="0"/>
          </a:p>
        </p:txBody>
      </p:sp>
      <p:sp>
        <p:nvSpPr>
          <p:cNvPr id="42" name="Shape 40"/>
          <p:cNvSpPr/>
          <p:nvPr/>
        </p:nvSpPr>
        <p:spPr>
          <a:xfrm>
            <a:off x="5760720" y="3337560"/>
            <a:ext cx="54864" cy="594360"/>
          </a:xfrm>
          <a:prstGeom prst="rect">
            <a:avLst/>
          </a:prstGeom>
          <a:solidFill>
            <a:srgbClr val="E09F3E"/>
          </a:solidFill>
          <a:ln w="12700">
            <a:solidFill>
              <a:srgbClr val="E09F3E"/>
            </a:solidFill>
            <a:prstDash val="solid"/>
          </a:ln>
        </p:spPr>
      </p:sp>
      <p:sp>
        <p:nvSpPr>
          <p:cNvPr id="43" name="Text 41"/>
          <p:cNvSpPr/>
          <p:nvPr/>
        </p:nvSpPr>
        <p:spPr>
          <a:xfrm>
            <a:off x="5943600" y="3337560"/>
            <a:ext cx="2651760" cy="237744"/>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Vector size is immutable</a:t>
            </a:r>
            <a:endParaRPr lang="en-US" sz="950" dirty="0"/>
          </a:p>
        </p:txBody>
      </p:sp>
      <p:sp>
        <p:nvSpPr>
          <p:cNvPr id="44" name="Text 42"/>
          <p:cNvSpPr/>
          <p:nvPr/>
        </p:nvSpPr>
        <p:spPr>
          <a:xfrm>
            <a:off x="5943600" y="3575304"/>
            <a:ext cx="2651760" cy="34747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Wrong size = delete collection + re-embed everything. Finalize model first.</a:t>
            </a:r>
            <a:endParaRPr lang="en-US" sz="900" dirty="0"/>
          </a:p>
        </p:txBody>
      </p:sp>
      <p:sp>
        <p:nvSpPr>
          <p:cNvPr id="45" name="Shape 43"/>
          <p:cNvSpPr/>
          <p:nvPr/>
        </p:nvSpPr>
        <p:spPr>
          <a:xfrm>
            <a:off x="5760720" y="4069080"/>
            <a:ext cx="54864" cy="594360"/>
          </a:xfrm>
          <a:prstGeom prst="rect">
            <a:avLst/>
          </a:prstGeom>
          <a:solidFill>
            <a:srgbClr val="E09F3E"/>
          </a:solidFill>
          <a:ln w="12700">
            <a:solidFill>
              <a:srgbClr val="E09F3E"/>
            </a:solidFill>
            <a:prstDash val="solid"/>
          </a:ln>
        </p:spPr>
      </p:sp>
      <p:sp>
        <p:nvSpPr>
          <p:cNvPr id="46" name="Text 44"/>
          <p:cNvSpPr/>
          <p:nvPr/>
        </p:nvSpPr>
        <p:spPr>
          <a:xfrm>
            <a:off x="5943600" y="4069080"/>
            <a:ext cx="2651760" cy="237744"/>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Use upsert, not insert</a:t>
            </a:r>
            <a:endParaRPr lang="en-US" sz="950" dirty="0"/>
          </a:p>
        </p:txBody>
      </p:sp>
      <p:sp>
        <p:nvSpPr>
          <p:cNvPr id="47" name="Text 45"/>
          <p:cNvSpPr/>
          <p:nvPr/>
        </p:nvSpPr>
        <p:spPr>
          <a:xfrm>
            <a:off x="5943600" y="4306824"/>
            <a:ext cx="2651760" cy="347472"/>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Deterministic chunk_id makes reruns idempotent. Duplicate chunks silently degrade retrieval.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1828800" cy="256032"/>
          </a:xfrm>
          <a:prstGeom prst="rect">
            <a:avLst/>
          </a:prstGeom>
          <a:solidFill>
            <a:srgbClr val="0F7173"/>
          </a:solidFill>
          <a:ln w="12700">
            <a:solidFill>
              <a:srgbClr val="0F7173"/>
            </a:solidFill>
            <a:prstDash val="solid"/>
          </a:ln>
        </p:spPr>
      </p:sp>
      <p:sp>
        <p:nvSpPr>
          <p:cNvPr id="3" name="Text 1"/>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900" b="1" dirty="0">
                <a:solidFill>
                  <a:srgbClr val="FFFFFF"/>
                </a:solidFill>
              </a:rPr>
              <a:t>03 · POSTGRES SCHEMA</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Postgres — four tables, clear ownership split</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Qdrant owns vectors. Postgres owns text, metadata, and business state.</a:t>
            </a:r>
            <a:endParaRPr lang="en-US" sz="1200" dirty="0"/>
          </a:p>
        </p:txBody>
      </p:sp>
      <p:sp>
        <p:nvSpPr>
          <p:cNvPr id="6" name="Shape 4"/>
          <p:cNvSpPr/>
          <p:nvPr/>
        </p:nvSpPr>
        <p:spPr>
          <a:xfrm>
            <a:off x="365760" y="1371600"/>
            <a:ext cx="2057400" cy="347472"/>
          </a:xfrm>
          <a:prstGeom prst="rect">
            <a:avLst/>
          </a:prstGeom>
          <a:solidFill>
            <a:srgbClr val="0F7173"/>
          </a:solidFill>
          <a:ln w="12700">
            <a:solidFill>
              <a:srgbClr val="0F7173"/>
            </a:solidFill>
            <a:prstDash val="solid"/>
          </a:ln>
        </p:spPr>
      </p:sp>
      <p:sp>
        <p:nvSpPr>
          <p:cNvPr id="7" name="Text 5"/>
          <p:cNvSpPr/>
          <p:nvPr/>
        </p:nvSpPr>
        <p:spPr>
          <a:xfrm>
            <a:off x="365760" y="1371600"/>
            <a:ext cx="20574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engagements</a:t>
            </a:r>
            <a:endParaRPr lang="en-US" sz="1100" dirty="0"/>
          </a:p>
        </p:txBody>
      </p:sp>
      <p:sp>
        <p:nvSpPr>
          <p:cNvPr id="8" name="Shape 6"/>
          <p:cNvSpPr/>
          <p:nvPr/>
        </p:nvSpPr>
        <p:spPr>
          <a:xfrm>
            <a:off x="365760" y="1719072"/>
            <a:ext cx="2057400" cy="347472"/>
          </a:xfrm>
          <a:prstGeom prst="rect">
            <a:avLst/>
          </a:prstGeom>
          <a:solidFill>
            <a:srgbClr val="FFFFFF"/>
          </a:solidFill>
          <a:ln w="12700">
            <a:solidFill>
              <a:srgbClr val="E2E8F0"/>
            </a:solidFill>
            <a:prstDash val="solid"/>
          </a:ln>
        </p:spPr>
      </p:sp>
      <p:sp>
        <p:nvSpPr>
          <p:cNvPr id="9" name="Text 7"/>
          <p:cNvSpPr/>
          <p:nvPr/>
        </p:nvSpPr>
        <p:spPr>
          <a:xfrm>
            <a:off x="438912" y="171907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id UUID PK</a:t>
            </a:r>
            <a:endParaRPr lang="en-US" sz="850" dirty="0"/>
          </a:p>
        </p:txBody>
      </p:sp>
      <p:sp>
        <p:nvSpPr>
          <p:cNvPr id="10" name="Shape 8"/>
          <p:cNvSpPr/>
          <p:nvPr/>
        </p:nvSpPr>
        <p:spPr>
          <a:xfrm>
            <a:off x="365760" y="2084832"/>
            <a:ext cx="2057400" cy="347472"/>
          </a:xfrm>
          <a:prstGeom prst="rect">
            <a:avLst/>
          </a:prstGeom>
          <a:solidFill>
            <a:srgbClr val="EDF2F7"/>
          </a:solidFill>
          <a:ln w="12700">
            <a:solidFill>
              <a:srgbClr val="E2E8F0"/>
            </a:solidFill>
            <a:prstDash val="solid"/>
          </a:ln>
        </p:spPr>
      </p:sp>
      <p:sp>
        <p:nvSpPr>
          <p:cNvPr id="11" name="Text 9"/>
          <p:cNvSpPr/>
          <p:nvPr/>
        </p:nvSpPr>
        <p:spPr>
          <a:xfrm>
            <a:off x="438912" y="208483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client_name VARCHAR(200)</a:t>
            </a:r>
            <a:endParaRPr lang="en-US" sz="850" dirty="0"/>
          </a:p>
        </p:txBody>
      </p:sp>
      <p:sp>
        <p:nvSpPr>
          <p:cNvPr id="12" name="Shape 10"/>
          <p:cNvSpPr/>
          <p:nvPr/>
        </p:nvSpPr>
        <p:spPr>
          <a:xfrm>
            <a:off x="365760" y="2450592"/>
            <a:ext cx="2057400" cy="347472"/>
          </a:xfrm>
          <a:prstGeom prst="rect">
            <a:avLst/>
          </a:prstGeom>
          <a:solidFill>
            <a:srgbClr val="FFFFFF"/>
          </a:solidFill>
          <a:ln w="12700">
            <a:solidFill>
              <a:srgbClr val="E2E8F0"/>
            </a:solidFill>
            <a:prstDash val="solid"/>
          </a:ln>
        </p:spPr>
      </p:sp>
      <p:sp>
        <p:nvSpPr>
          <p:cNvPr id="13" name="Text 11"/>
          <p:cNvSpPr/>
          <p:nvPr/>
        </p:nvSpPr>
        <p:spPr>
          <a:xfrm>
            <a:off x="438912" y="245059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client_type VARCHAR(10)  — NPO | Govt</a:t>
            </a:r>
            <a:endParaRPr lang="en-US" sz="850" dirty="0"/>
          </a:p>
        </p:txBody>
      </p:sp>
      <p:sp>
        <p:nvSpPr>
          <p:cNvPr id="14" name="Shape 12"/>
          <p:cNvSpPr/>
          <p:nvPr/>
        </p:nvSpPr>
        <p:spPr>
          <a:xfrm>
            <a:off x="365760" y="2816352"/>
            <a:ext cx="2057400" cy="347472"/>
          </a:xfrm>
          <a:prstGeom prst="rect">
            <a:avLst/>
          </a:prstGeom>
          <a:solidFill>
            <a:srgbClr val="EDF2F7"/>
          </a:solidFill>
          <a:ln w="12700">
            <a:solidFill>
              <a:srgbClr val="E2E8F0"/>
            </a:solidFill>
            <a:prstDash val="solid"/>
          </a:ln>
        </p:spPr>
      </p:sp>
      <p:sp>
        <p:nvSpPr>
          <p:cNvPr id="15" name="Text 13"/>
          <p:cNvSpPr/>
          <p:nvPr/>
        </p:nvSpPr>
        <p:spPr>
          <a:xfrm>
            <a:off x="438912" y="281635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is_gagas BOOLEAN NOT NULL</a:t>
            </a:r>
            <a:endParaRPr lang="en-US" sz="850" dirty="0"/>
          </a:p>
        </p:txBody>
      </p:sp>
      <p:sp>
        <p:nvSpPr>
          <p:cNvPr id="16" name="Shape 14"/>
          <p:cNvSpPr/>
          <p:nvPr/>
        </p:nvSpPr>
        <p:spPr>
          <a:xfrm>
            <a:off x="365760" y="3182112"/>
            <a:ext cx="2057400" cy="347472"/>
          </a:xfrm>
          <a:prstGeom prst="rect">
            <a:avLst/>
          </a:prstGeom>
          <a:solidFill>
            <a:srgbClr val="FFFFFF"/>
          </a:solidFill>
          <a:ln w="12700">
            <a:solidFill>
              <a:srgbClr val="E2E8F0"/>
            </a:solidFill>
            <a:prstDash val="solid"/>
          </a:ln>
        </p:spPr>
      </p:sp>
      <p:sp>
        <p:nvSpPr>
          <p:cNvPr id="17" name="Text 15"/>
          <p:cNvSpPr/>
          <p:nvPr/>
        </p:nvSpPr>
        <p:spPr>
          <a:xfrm>
            <a:off x="438912" y="318211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has_single_audit BOOLEAN NOT NULL</a:t>
            </a:r>
            <a:endParaRPr lang="en-US" sz="850" dirty="0"/>
          </a:p>
        </p:txBody>
      </p:sp>
      <p:sp>
        <p:nvSpPr>
          <p:cNvPr id="18" name="Shape 16"/>
          <p:cNvSpPr/>
          <p:nvPr/>
        </p:nvSpPr>
        <p:spPr>
          <a:xfrm>
            <a:off x="365760" y="3547872"/>
            <a:ext cx="2057400" cy="347472"/>
          </a:xfrm>
          <a:prstGeom prst="rect">
            <a:avLst/>
          </a:prstGeom>
          <a:solidFill>
            <a:srgbClr val="EDF2F7"/>
          </a:solidFill>
          <a:ln w="12700">
            <a:solidFill>
              <a:srgbClr val="E2E8F0"/>
            </a:solidFill>
            <a:prstDash val="solid"/>
          </a:ln>
        </p:spPr>
      </p:sp>
      <p:sp>
        <p:nvSpPr>
          <p:cNvPr id="19" name="Text 17"/>
          <p:cNvSpPr/>
          <p:nvPr/>
        </p:nvSpPr>
        <p:spPr>
          <a:xfrm>
            <a:off x="438912" y="354787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fiscal_year INTEGER</a:t>
            </a:r>
            <a:endParaRPr lang="en-US" sz="850" dirty="0"/>
          </a:p>
        </p:txBody>
      </p:sp>
      <p:sp>
        <p:nvSpPr>
          <p:cNvPr id="20" name="Shape 18"/>
          <p:cNvSpPr/>
          <p:nvPr/>
        </p:nvSpPr>
        <p:spPr>
          <a:xfrm>
            <a:off x="365760" y="3913632"/>
            <a:ext cx="2057400" cy="347472"/>
          </a:xfrm>
          <a:prstGeom prst="rect">
            <a:avLst/>
          </a:prstGeom>
          <a:solidFill>
            <a:srgbClr val="FFFFFF"/>
          </a:solidFill>
          <a:ln w="12700">
            <a:solidFill>
              <a:srgbClr val="E2E8F0"/>
            </a:solidFill>
            <a:prstDash val="solid"/>
          </a:ln>
        </p:spPr>
      </p:sp>
      <p:sp>
        <p:nvSpPr>
          <p:cNvPr id="21" name="Text 19"/>
          <p:cNvSpPr/>
          <p:nvPr/>
        </p:nvSpPr>
        <p:spPr>
          <a:xfrm>
            <a:off x="438912" y="391363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status VARCHAR(20)</a:t>
            </a:r>
            <a:endParaRPr lang="en-US" sz="850" dirty="0"/>
          </a:p>
        </p:txBody>
      </p:sp>
      <p:sp>
        <p:nvSpPr>
          <p:cNvPr id="22" name="Shape 20"/>
          <p:cNvSpPr/>
          <p:nvPr/>
        </p:nvSpPr>
        <p:spPr>
          <a:xfrm>
            <a:off x="2606040" y="1371600"/>
            <a:ext cx="2057400" cy="347472"/>
          </a:xfrm>
          <a:prstGeom prst="rect">
            <a:avLst/>
          </a:prstGeom>
          <a:solidFill>
            <a:srgbClr val="4C3B8A"/>
          </a:solidFill>
          <a:ln w="12700">
            <a:solidFill>
              <a:srgbClr val="4C3B8A"/>
            </a:solidFill>
            <a:prstDash val="solid"/>
          </a:ln>
        </p:spPr>
      </p:sp>
      <p:sp>
        <p:nvSpPr>
          <p:cNvPr id="23" name="Text 21"/>
          <p:cNvSpPr/>
          <p:nvPr/>
        </p:nvSpPr>
        <p:spPr>
          <a:xfrm>
            <a:off x="2606040" y="1371600"/>
            <a:ext cx="20574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workpapers</a:t>
            </a:r>
            <a:endParaRPr lang="en-US" sz="1100" dirty="0"/>
          </a:p>
        </p:txBody>
      </p:sp>
      <p:sp>
        <p:nvSpPr>
          <p:cNvPr id="24" name="Shape 22"/>
          <p:cNvSpPr/>
          <p:nvPr/>
        </p:nvSpPr>
        <p:spPr>
          <a:xfrm>
            <a:off x="2606040" y="1719072"/>
            <a:ext cx="2057400" cy="347472"/>
          </a:xfrm>
          <a:prstGeom prst="rect">
            <a:avLst/>
          </a:prstGeom>
          <a:solidFill>
            <a:srgbClr val="FFFFFF"/>
          </a:solidFill>
          <a:ln w="12700">
            <a:solidFill>
              <a:srgbClr val="E2E8F0"/>
            </a:solidFill>
            <a:prstDash val="solid"/>
          </a:ln>
        </p:spPr>
      </p:sp>
      <p:sp>
        <p:nvSpPr>
          <p:cNvPr id="25" name="Text 23"/>
          <p:cNvSpPr/>
          <p:nvPr/>
        </p:nvSpPr>
        <p:spPr>
          <a:xfrm>
            <a:off x="2679192" y="171907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id UUID PK</a:t>
            </a:r>
            <a:endParaRPr lang="en-US" sz="850" dirty="0"/>
          </a:p>
        </p:txBody>
      </p:sp>
      <p:sp>
        <p:nvSpPr>
          <p:cNvPr id="26" name="Shape 24"/>
          <p:cNvSpPr/>
          <p:nvPr/>
        </p:nvSpPr>
        <p:spPr>
          <a:xfrm>
            <a:off x="2606040" y="2084832"/>
            <a:ext cx="2057400" cy="347472"/>
          </a:xfrm>
          <a:prstGeom prst="rect">
            <a:avLst/>
          </a:prstGeom>
          <a:solidFill>
            <a:srgbClr val="EDF2F7"/>
          </a:solidFill>
          <a:ln w="12700">
            <a:solidFill>
              <a:srgbClr val="E2E8F0"/>
            </a:solidFill>
            <a:prstDash val="solid"/>
          </a:ln>
        </p:spPr>
      </p:sp>
      <p:sp>
        <p:nvSpPr>
          <p:cNvPr id="27" name="Text 25"/>
          <p:cNvSpPr/>
          <p:nvPr/>
        </p:nvSpPr>
        <p:spPr>
          <a:xfrm>
            <a:off x="2679192" y="208483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engagement_id UUID FK</a:t>
            </a:r>
            <a:endParaRPr lang="en-US" sz="850" dirty="0"/>
          </a:p>
        </p:txBody>
      </p:sp>
      <p:sp>
        <p:nvSpPr>
          <p:cNvPr id="28" name="Shape 26"/>
          <p:cNvSpPr/>
          <p:nvPr/>
        </p:nvSpPr>
        <p:spPr>
          <a:xfrm>
            <a:off x="2606040" y="2450592"/>
            <a:ext cx="2057400" cy="347472"/>
          </a:xfrm>
          <a:prstGeom prst="rect">
            <a:avLst/>
          </a:prstGeom>
          <a:solidFill>
            <a:srgbClr val="FFFFFF"/>
          </a:solidFill>
          <a:ln w="12700">
            <a:solidFill>
              <a:srgbClr val="E2E8F0"/>
            </a:solidFill>
            <a:prstDash val="solid"/>
          </a:ln>
        </p:spPr>
      </p:sp>
      <p:sp>
        <p:nvSpPr>
          <p:cNvPr id="29" name="Text 27"/>
          <p:cNvSpPr/>
          <p:nvPr/>
        </p:nvSpPr>
        <p:spPr>
          <a:xfrm>
            <a:off x="2679192" y="245059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workpaper_type ENUM(8)</a:t>
            </a:r>
            <a:endParaRPr lang="en-US" sz="850" dirty="0"/>
          </a:p>
        </p:txBody>
      </p:sp>
      <p:sp>
        <p:nvSpPr>
          <p:cNvPr id="30" name="Shape 28"/>
          <p:cNvSpPr/>
          <p:nvPr/>
        </p:nvSpPr>
        <p:spPr>
          <a:xfrm>
            <a:off x="2606040" y="2816352"/>
            <a:ext cx="2057400" cy="347472"/>
          </a:xfrm>
          <a:prstGeom prst="rect">
            <a:avLst/>
          </a:prstGeom>
          <a:solidFill>
            <a:srgbClr val="EDF2F7"/>
          </a:solidFill>
          <a:ln w="12700">
            <a:solidFill>
              <a:srgbClr val="E2E8F0"/>
            </a:solidFill>
            <a:prstDash val="solid"/>
          </a:ln>
        </p:spPr>
      </p:sp>
      <p:sp>
        <p:nvSpPr>
          <p:cNvPr id="31" name="Text 29"/>
          <p:cNvSpPr/>
          <p:nvPr/>
        </p:nvSpPr>
        <p:spPr>
          <a:xfrm>
            <a:off x="2679192" y="281635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framework_label VARCHAR(20)</a:t>
            </a:r>
            <a:endParaRPr lang="en-US" sz="850" dirty="0"/>
          </a:p>
        </p:txBody>
      </p:sp>
      <p:sp>
        <p:nvSpPr>
          <p:cNvPr id="32" name="Shape 30"/>
          <p:cNvSpPr/>
          <p:nvPr/>
        </p:nvSpPr>
        <p:spPr>
          <a:xfrm>
            <a:off x="2606040" y="3182112"/>
            <a:ext cx="2057400" cy="347472"/>
          </a:xfrm>
          <a:prstGeom prst="rect">
            <a:avLst/>
          </a:prstGeom>
          <a:solidFill>
            <a:srgbClr val="FFFFFF"/>
          </a:solidFill>
          <a:ln w="12700">
            <a:solidFill>
              <a:srgbClr val="E2E8F0"/>
            </a:solidFill>
            <a:prstDash val="solid"/>
          </a:ln>
        </p:spPr>
      </p:sp>
      <p:sp>
        <p:nvSpPr>
          <p:cNvPr id="33" name="Text 31"/>
          <p:cNvSpPr/>
          <p:nvPr/>
        </p:nvSpPr>
        <p:spPr>
          <a:xfrm>
            <a:off x="2679192" y="318211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audit_phase VARCHAR(30)</a:t>
            </a:r>
            <a:endParaRPr lang="en-US" sz="850" dirty="0"/>
          </a:p>
        </p:txBody>
      </p:sp>
      <p:sp>
        <p:nvSpPr>
          <p:cNvPr id="34" name="Shape 32"/>
          <p:cNvSpPr/>
          <p:nvPr/>
        </p:nvSpPr>
        <p:spPr>
          <a:xfrm>
            <a:off x="2606040" y="3547872"/>
            <a:ext cx="2057400" cy="347472"/>
          </a:xfrm>
          <a:prstGeom prst="rect">
            <a:avLst/>
          </a:prstGeom>
          <a:solidFill>
            <a:srgbClr val="EDF2F7"/>
          </a:solidFill>
          <a:ln w="12700">
            <a:solidFill>
              <a:srgbClr val="E2E8F0"/>
            </a:solidFill>
            <a:prstDash val="solid"/>
          </a:ln>
        </p:spPr>
      </p:sp>
      <p:sp>
        <p:nvSpPr>
          <p:cNvPr id="35" name="Text 33"/>
          <p:cNvSpPr/>
          <p:nvPr/>
        </p:nvSpPr>
        <p:spPr>
          <a:xfrm>
            <a:off x="2679192" y="354787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time_sensitivity VARCHAR(20)</a:t>
            </a:r>
            <a:endParaRPr lang="en-US" sz="850" dirty="0"/>
          </a:p>
        </p:txBody>
      </p:sp>
      <p:sp>
        <p:nvSpPr>
          <p:cNvPr id="36" name="Shape 34"/>
          <p:cNvSpPr/>
          <p:nvPr/>
        </p:nvSpPr>
        <p:spPr>
          <a:xfrm>
            <a:off x="2606040" y="3913632"/>
            <a:ext cx="2057400" cy="347472"/>
          </a:xfrm>
          <a:prstGeom prst="rect">
            <a:avLst/>
          </a:prstGeom>
          <a:solidFill>
            <a:srgbClr val="FFFFFF"/>
          </a:solidFill>
          <a:ln w="12700">
            <a:solidFill>
              <a:srgbClr val="E2E8F0"/>
            </a:solidFill>
            <a:prstDash val="solid"/>
          </a:ln>
        </p:spPr>
      </p:sp>
      <p:sp>
        <p:nvSpPr>
          <p:cNvPr id="37" name="Text 35"/>
          <p:cNvSpPr/>
          <p:nvPr/>
        </p:nvSpPr>
        <p:spPr>
          <a:xfrm>
            <a:off x="2679192" y="391363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file_path TEXT</a:t>
            </a:r>
            <a:endParaRPr lang="en-US" sz="850" dirty="0"/>
          </a:p>
        </p:txBody>
      </p:sp>
      <p:sp>
        <p:nvSpPr>
          <p:cNvPr id="38" name="Shape 36"/>
          <p:cNvSpPr/>
          <p:nvPr/>
        </p:nvSpPr>
        <p:spPr>
          <a:xfrm>
            <a:off x="4846320" y="1371600"/>
            <a:ext cx="2057400" cy="347472"/>
          </a:xfrm>
          <a:prstGeom prst="rect">
            <a:avLst/>
          </a:prstGeom>
          <a:solidFill>
            <a:srgbClr val="E09F3E"/>
          </a:solidFill>
          <a:ln w="12700">
            <a:solidFill>
              <a:srgbClr val="E09F3E"/>
            </a:solidFill>
            <a:prstDash val="solid"/>
          </a:ln>
        </p:spPr>
      </p:sp>
      <p:sp>
        <p:nvSpPr>
          <p:cNvPr id="39" name="Text 37"/>
          <p:cNvSpPr/>
          <p:nvPr/>
        </p:nvSpPr>
        <p:spPr>
          <a:xfrm>
            <a:off x="4846320" y="1371600"/>
            <a:ext cx="20574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sop_chunks</a:t>
            </a:r>
            <a:endParaRPr lang="en-US" sz="1100" dirty="0"/>
          </a:p>
        </p:txBody>
      </p:sp>
      <p:sp>
        <p:nvSpPr>
          <p:cNvPr id="40" name="Shape 38"/>
          <p:cNvSpPr/>
          <p:nvPr/>
        </p:nvSpPr>
        <p:spPr>
          <a:xfrm>
            <a:off x="4846320" y="1719072"/>
            <a:ext cx="2057400" cy="347472"/>
          </a:xfrm>
          <a:prstGeom prst="rect">
            <a:avLst/>
          </a:prstGeom>
          <a:solidFill>
            <a:srgbClr val="FFFFFF"/>
          </a:solidFill>
          <a:ln w="12700">
            <a:solidFill>
              <a:srgbClr val="E2E8F0"/>
            </a:solidFill>
            <a:prstDash val="solid"/>
          </a:ln>
        </p:spPr>
      </p:sp>
      <p:sp>
        <p:nvSpPr>
          <p:cNvPr id="41" name="Text 39"/>
          <p:cNvSpPr/>
          <p:nvPr/>
        </p:nvSpPr>
        <p:spPr>
          <a:xfrm>
            <a:off x="4919472" y="171907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id UUID PK</a:t>
            </a:r>
            <a:endParaRPr lang="en-US" sz="850" dirty="0"/>
          </a:p>
        </p:txBody>
      </p:sp>
      <p:sp>
        <p:nvSpPr>
          <p:cNvPr id="42" name="Shape 40"/>
          <p:cNvSpPr/>
          <p:nvPr/>
        </p:nvSpPr>
        <p:spPr>
          <a:xfrm>
            <a:off x="4846320" y="2084832"/>
            <a:ext cx="2057400" cy="347472"/>
          </a:xfrm>
          <a:prstGeom prst="rect">
            <a:avLst/>
          </a:prstGeom>
          <a:solidFill>
            <a:srgbClr val="EDF2F7"/>
          </a:solidFill>
          <a:ln w="12700">
            <a:solidFill>
              <a:srgbClr val="E2E8F0"/>
            </a:solidFill>
            <a:prstDash val="solid"/>
          </a:ln>
        </p:spPr>
      </p:sp>
      <p:sp>
        <p:nvSpPr>
          <p:cNvPr id="43" name="Text 41"/>
          <p:cNvSpPr/>
          <p:nvPr/>
        </p:nvSpPr>
        <p:spPr>
          <a:xfrm>
            <a:off x="4919472" y="208483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chunk_id TEXT UNIQUE</a:t>
            </a:r>
            <a:endParaRPr lang="en-US" sz="850" dirty="0"/>
          </a:p>
        </p:txBody>
      </p:sp>
      <p:sp>
        <p:nvSpPr>
          <p:cNvPr id="44" name="Shape 42"/>
          <p:cNvSpPr/>
          <p:nvPr/>
        </p:nvSpPr>
        <p:spPr>
          <a:xfrm>
            <a:off x="4846320" y="2450592"/>
            <a:ext cx="2057400" cy="347472"/>
          </a:xfrm>
          <a:prstGeom prst="rect">
            <a:avLst/>
          </a:prstGeom>
          <a:solidFill>
            <a:srgbClr val="FFFFFF"/>
          </a:solidFill>
          <a:ln w="12700">
            <a:solidFill>
              <a:srgbClr val="E2E8F0"/>
            </a:solidFill>
            <a:prstDash val="solid"/>
          </a:ln>
        </p:spPr>
      </p:sp>
      <p:sp>
        <p:nvSpPr>
          <p:cNvPr id="45" name="Text 43"/>
          <p:cNvSpPr/>
          <p:nvPr/>
        </p:nvSpPr>
        <p:spPr>
          <a:xfrm>
            <a:off x="4919472" y="245059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source_doc TEXT</a:t>
            </a:r>
            <a:endParaRPr lang="en-US" sz="850" dirty="0"/>
          </a:p>
        </p:txBody>
      </p:sp>
      <p:sp>
        <p:nvSpPr>
          <p:cNvPr id="46" name="Shape 44"/>
          <p:cNvSpPr/>
          <p:nvPr/>
        </p:nvSpPr>
        <p:spPr>
          <a:xfrm>
            <a:off x="4846320" y="2816352"/>
            <a:ext cx="2057400" cy="347472"/>
          </a:xfrm>
          <a:prstGeom prst="rect">
            <a:avLst/>
          </a:prstGeom>
          <a:solidFill>
            <a:srgbClr val="EDF2F7"/>
          </a:solidFill>
          <a:ln w="12700">
            <a:solidFill>
              <a:srgbClr val="E2E8F0"/>
            </a:solidFill>
            <a:prstDash val="solid"/>
          </a:ln>
        </p:spPr>
      </p:sp>
      <p:sp>
        <p:nvSpPr>
          <p:cNvPr id="47" name="Text 45"/>
          <p:cNvSpPr/>
          <p:nvPr/>
        </p:nvSpPr>
        <p:spPr>
          <a:xfrm>
            <a:off x="4919472" y="281635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workpaper_type TEXT</a:t>
            </a:r>
            <a:endParaRPr lang="en-US" sz="850" dirty="0"/>
          </a:p>
        </p:txBody>
      </p:sp>
      <p:sp>
        <p:nvSpPr>
          <p:cNvPr id="48" name="Shape 46"/>
          <p:cNvSpPr/>
          <p:nvPr/>
        </p:nvSpPr>
        <p:spPr>
          <a:xfrm>
            <a:off x="4846320" y="3182112"/>
            <a:ext cx="2057400" cy="347472"/>
          </a:xfrm>
          <a:prstGeom prst="rect">
            <a:avLst/>
          </a:prstGeom>
          <a:solidFill>
            <a:srgbClr val="FFFFFF"/>
          </a:solidFill>
          <a:ln w="12700">
            <a:solidFill>
              <a:srgbClr val="E2E8F0"/>
            </a:solidFill>
            <a:prstDash val="solid"/>
          </a:ln>
        </p:spPr>
      </p:sp>
      <p:sp>
        <p:nvSpPr>
          <p:cNvPr id="49" name="Text 47"/>
          <p:cNvSpPr/>
          <p:nvPr/>
        </p:nvSpPr>
        <p:spPr>
          <a:xfrm>
            <a:off x="4919472" y="318211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audit_phase TEXT</a:t>
            </a:r>
            <a:endParaRPr lang="en-US" sz="850" dirty="0"/>
          </a:p>
        </p:txBody>
      </p:sp>
      <p:sp>
        <p:nvSpPr>
          <p:cNvPr id="50" name="Shape 48"/>
          <p:cNvSpPr/>
          <p:nvPr/>
        </p:nvSpPr>
        <p:spPr>
          <a:xfrm>
            <a:off x="4846320" y="3547872"/>
            <a:ext cx="2057400" cy="347472"/>
          </a:xfrm>
          <a:prstGeom prst="rect">
            <a:avLst/>
          </a:prstGeom>
          <a:solidFill>
            <a:srgbClr val="EDF2F7"/>
          </a:solidFill>
          <a:ln w="12700">
            <a:solidFill>
              <a:srgbClr val="E2E8F0"/>
            </a:solidFill>
            <a:prstDash val="solid"/>
          </a:ln>
        </p:spPr>
      </p:sp>
      <p:sp>
        <p:nvSpPr>
          <p:cNvPr id="51" name="Text 49"/>
          <p:cNvSpPr/>
          <p:nvPr/>
        </p:nvSpPr>
        <p:spPr>
          <a:xfrm>
            <a:off x="4919472" y="354787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year INTEGER</a:t>
            </a:r>
            <a:endParaRPr lang="en-US" sz="850" dirty="0"/>
          </a:p>
        </p:txBody>
      </p:sp>
      <p:sp>
        <p:nvSpPr>
          <p:cNvPr id="52" name="Shape 50"/>
          <p:cNvSpPr/>
          <p:nvPr/>
        </p:nvSpPr>
        <p:spPr>
          <a:xfrm>
            <a:off x="4846320" y="3913632"/>
            <a:ext cx="2057400" cy="347472"/>
          </a:xfrm>
          <a:prstGeom prst="rect">
            <a:avLst/>
          </a:prstGeom>
          <a:solidFill>
            <a:srgbClr val="FFFFFF"/>
          </a:solidFill>
          <a:ln w="12700">
            <a:solidFill>
              <a:srgbClr val="E2E8F0"/>
            </a:solidFill>
            <a:prstDash val="solid"/>
          </a:ln>
        </p:spPr>
      </p:sp>
      <p:sp>
        <p:nvSpPr>
          <p:cNvPr id="53" name="Text 51"/>
          <p:cNvSpPr/>
          <p:nvPr/>
        </p:nvSpPr>
        <p:spPr>
          <a:xfrm>
            <a:off x="4919472" y="391363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raw_text TEXT</a:t>
            </a:r>
            <a:endParaRPr lang="en-US" sz="850" dirty="0"/>
          </a:p>
        </p:txBody>
      </p:sp>
      <p:sp>
        <p:nvSpPr>
          <p:cNvPr id="54" name="Shape 52"/>
          <p:cNvSpPr/>
          <p:nvPr/>
        </p:nvSpPr>
        <p:spPr>
          <a:xfrm>
            <a:off x="4846320" y="4279392"/>
            <a:ext cx="2057400" cy="347472"/>
          </a:xfrm>
          <a:prstGeom prst="rect">
            <a:avLst/>
          </a:prstGeom>
          <a:solidFill>
            <a:srgbClr val="EDF2F7"/>
          </a:solidFill>
          <a:ln w="12700">
            <a:solidFill>
              <a:srgbClr val="E2E8F0"/>
            </a:solidFill>
            <a:prstDash val="solid"/>
          </a:ln>
        </p:spPr>
      </p:sp>
      <p:sp>
        <p:nvSpPr>
          <p:cNvPr id="55" name="Text 53"/>
          <p:cNvSpPr/>
          <p:nvPr/>
        </p:nvSpPr>
        <p:spPr>
          <a:xfrm>
            <a:off x="4919472" y="427939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char_start INT</a:t>
            </a:r>
            <a:endParaRPr lang="en-US" sz="850" dirty="0"/>
          </a:p>
        </p:txBody>
      </p:sp>
      <p:sp>
        <p:nvSpPr>
          <p:cNvPr id="56" name="Shape 54"/>
          <p:cNvSpPr/>
          <p:nvPr/>
        </p:nvSpPr>
        <p:spPr>
          <a:xfrm>
            <a:off x="4846320" y="4645152"/>
            <a:ext cx="2057400" cy="347472"/>
          </a:xfrm>
          <a:prstGeom prst="rect">
            <a:avLst/>
          </a:prstGeom>
          <a:solidFill>
            <a:srgbClr val="FFFFFF"/>
          </a:solidFill>
          <a:ln w="12700">
            <a:solidFill>
              <a:srgbClr val="E2E8F0"/>
            </a:solidFill>
            <a:prstDash val="solid"/>
          </a:ln>
        </p:spPr>
      </p:sp>
      <p:sp>
        <p:nvSpPr>
          <p:cNvPr id="57" name="Text 55"/>
          <p:cNvSpPr/>
          <p:nvPr/>
        </p:nvSpPr>
        <p:spPr>
          <a:xfrm>
            <a:off x="4919472" y="464515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char_end INT</a:t>
            </a:r>
            <a:endParaRPr lang="en-US" sz="850" dirty="0"/>
          </a:p>
        </p:txBody>
      </p:sp>
      <p:sp>
        <p:nvSpPr>
          <p:cNvPr id="58" name="Shape 56"/>
          <p:cNvSpPr/>
          <p:nvPr/>
        </p:nvSpPr>
        <p:spPr>
          <a:xfrm>
            <a:off x="4846320" y="5010912"/>
            <a:ext cx="2057400" cy="347472"/>
          </a:xfrm>
          <a:prstGeom prst="rect">
            <a:avLst/>
          </a:prstGeom>
          <a:solidFill>
            <a:srgbClr val="EDF2F7"/>
          </a:solidFill>
          <a:ln w="12700">
            <a:solidFill>
              <a:srgbClr val="E2E8F0"/>
            </a:solidFill>
            <a:prstDash val="solid"/>
          </a:ln>
        </p:spPr>
      </p:sp>
      <p:sp>
        <p:nvSpPr>
          <p:cNvPr id="59" name="Text 57"/>
          <p:cNvSpPr/>
          <p:nvPr/>
        </p:nvSpPr>
        <p:spPr>
          <a:xfrm>
            <a:off x="4919472" y="501091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chunks_version INT</a:t>
            </a:r>
            <a:endParaRPr lang="en-US" sz="850" dirty="0"/>
          </a:p>
        </p:txBody>
      </p:sp>
      <p:sp>
        <p:nvSpPr>
          <p:cNvPr id="60" name="Shape 58"/>
          <p:cNvSpPr/>
          <p:nvPr/>
        </p:nvSpPr>
        <p:spPr>
          <a:xfrm>
            <a:off x="7086600" y="1371600"/>
            <a:ext cx="2057400" cy="347472"/>
          </a:xfrm>
          <a:prstGeom prst="rect">
            <a:avLst/>
          </a:prstGeom>
          <a:solidFill>
            <a:srgbClr val="C0392B"/>
          </a:solidFill>
          <a:ln w="12700">
            <a:solidFill>
              <a:srgbClr val="C0392B"/>
            </a:solidFill>
            <a:prstDash val="solid"/>
          </a:ln>
        </p:spPr>
      </p:sp>
      <p:sp>
        <p:nvSpPr>
          <p:cNvPr id="61" name="Text 59"/>
          <p:cNvSpPr/>
          <p:nvPr/>
        </p:nvSpPr>
        <p:spPr>
          <a:xfrm>
            <a:off x="7086600" y="1371600"/>
            <a:ext cx="20574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findings</a:t>
            </a:r>
            <a:endParaRPr lang="en-US" sz="1100" dirty="0"/>
          </a:p>
        </p:txBody>
      </p:sp>
      <p:sp>
        <p:nvSpPr>
          <p:cNvPr id="62" name="Shape 60"/>
          <p:cNvSpPr/>
          <p:nvPr/>
        </p:nvSpPr>
        <p:spPr>
          <a:xfrm>
            <a:off x="7086600" y="1719072"/>
            <a:ext cx="2057400" cy="347472"/>
          </a:xfrm>
          <a:prstGeom prst="rect">
            <a:avLst/>
          </a:prstGeom>
          <a:solidFill>
            <a:srgbClr val="FFFFFF"/>
          </a:solidFill>
          <a:ln w="12700">
            <a:solidFill>
              <a:srgbClr val="E2E8F0"/>
            </a:solidFill>
            <a:prstDash val="solid"/>
          </a:ln>
        </p:spPr>
      </p:sp>
      <p:sp>
        <p:nvSpPr>
          <p:cNvPr id="63" name="Text 61"/>
          <p:cNvSpPr/>
          <p:nvPr/>
        </p:nvSpPr>
        <p:spPr>
          <a:xfrm>
            <a:off x="7159752" y="171907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id UUID PK</a:t>
            </a:r>
            <a:endParaRPr lang="en-US" sz="850" dirty="0"/>
          </a:p>
        </p:txBody>
      </p:sp>
      <p:sp>
        <p:nvSpPr>
          <p:cNvPr id="64" name="Shape 62"/>
          <p:cNvSpPr/>
          <p:nvPr/>
        </p:nvSpPr>
        <p:spPr>
          <a:xfrm>
            <a:off x="7086600" y="2084832"/>
            <a:ext cx="2057400" cy="347472"/>
          </a:xfrm>
          <a:prstGeom prst="rect">
            <a:avLst/>
          </a:prstGeom>
          <a:solidFill>
            <a:srgbClr val="EDF2F7"/>
          </a:solidFill>
          <a:ln w="12700">
            <a:solidFill>
              <a:srgbClr val="E2E8F0"/>
            </a:solidFill>
            <a:prstDash val="solid"/>
          </a:ln>
        </p:spPr>
      </p:sp>
      <p:sp>
        <p:nvSpPr>
          <p:cNvPr id="65" name="Text 63"/>
          <p:cNvSpPr/>
          <p:nvPr/>
        </p:nvSpPr>
        <p:spPr>
          <a:xfrm>
            <a:off x="7159752" y="208483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engagement_id UUID FK</a:t>
            </a:r>
            <a:endParaRPr lang="en-US" sz="850" dirty="0"/>
          </a:p>
        </p:txBody>
      </p:sp>
      <p:sp>
        <p:nvSpPr>
          <p:cNvPr id="66" name="Shape 64"/>
          <p:cNvSpPr/>
          <p:nvPr/>
        </p:nvSpPr>
        <p:spPr>
          <a:xfrm>
            <a:off x="7086600" y="2450592"/>
            <a:ext cx="2057400" cy="347472"/>
          </a:xfrm>
          <a:prstGeom prst="rect">
            <a:avLst/>
          </a:prstGeom>
          <a:solidFill>
            <a:srgbClr val="FFFFFF"/>
          </a:solidFill>
          <a:ln w="12700">
            <a:solidFill>
              <a:srgbClr val="E2E8F0"/>
            </a:solidFill>
            <a:prstDash val="solid"/>
          </a:ln>
        </p:spPr>
      </p:sp>
      <p:sp>
        <p:nvSpPr>
          <p:cNvPr id="67" name="Text 65"/>
          <p:cNvSpPr/>
          <p:nvPr/>
        </p:nvSpPr>
        <p:spPr>
          <a:xfrm>
            <a:off x="7159752" y="245059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workpaper_id UUID FK</a:t>
            </a:r>
            <a:endParaRPr lang="en-US" sz="850" dirty="0"/>
          </a:p>
        </p:txBody>
      </p:sp>
      <p:sp>
        <p:nvSpPr>
          <p:cNvPr id="68" name="Shape 66"/>
          <p:cNvSpPr/>
          <p:nvPr/>
        </p:nvSpPr>
        <p:spPr>
          <a:xfrm>
            <a:off x="7086600" y="2816352"/>
            <a:ext cx="2057400" cy="347472"/>
          </a:xfrm>
          <a:prstGeom prst="rect">
            <a:avLst/>
          </a:prstGeom>
          <a:solidFill>
            <a:srgbClr val="EDF2F7"/>
          </a:solidFill>
          <a:ln w="12700">
            <a:solidFill>
              <a:srgbClr val="E2E8F0"/>
            </a:solidFill>
            <a:prstDash val="solid"/>
          </a:ln>
        </p:spPr>
      </p:sp>
      <p:sp>
        <p:nvSpPr>
          <p:cNvPr id="69" name="Text 67"/>
          <p:cNvSpPr/>
          <p:nvPr/>
        </p:nvSpPr>
        <p:spPr>
          <a:xfrm>
            <a:off x="7159752" y="281635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finding_ref VARCHAR(20)</a:t>
            </a:r>
            <a:endParaRPr lang="en-US" sz="850" dirty="0"/>
          </a:p>
        </p:txBody>
      </p:sp>
      <p:sp>
        <p:nvSpPr>
          <p:cNvPr id="70" name="Shape 68"/>
          <p:cNvSpPr/>
          <p:nvPr/>
        </p:nvSpPr>
        <p:spPr>
          <a:xfrm>
            <a:off x="7086600" y="3182112"/>
            <a:ext cx="2057400" cy="347472"/>
          </a:xfrm>
          <a:prstGeom prst="rect">
            <a:avLst/>
          </a:prstGeom>
          <a:solidFill>
            <a:srgbClr val="FFFFFF"/>
          </a:solidFill>
          <a:ln w="12700">
            <a:solidFill>
              <a:srgbClr val="E2E8F0"/>
            </a:solidFill>
            <a:prstDash val="solid"/>
          </a:ln>
        </p:spPr>
      </p:sp>
      <p:sp>
        <p:nvSpPr>
          <p:cNvPr id="71" name="Text 69"/>
          <p:cNvSpPr/>
          <p:nvPr/>
        </p:nvSpPr>
        <p:spPr>
          <a:xfrm>
            <a:off x="7159752" y="318211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finding_type VARCHAR(30)</a:t>
            </a:r>
            <a:endParaRPr lang="en-US" sz="850" dirty="0"/>
          </a:p>
        </p:txBody>
      </p:sp>
      <p:sp>
        <p:nvSpPr>
          <p:cNvPr id="72" name="Shape 70"/>
          <p:cNvSpPr/>
          <p:nvPr/>
        </p:nvSpPr>
        <p:spPr>
          <a:xfrm>
            <a:off x="7086600" y="3547872"/>
            <a:ext cx="2057400" cy="347472"/>
          </a:xfrm>
          <a:prstGeom prst="rect">
            <a:avLst/>
          </a:prstGeom>
          <a:solidFill>
            <a:srgbClr val="EDF2F7"/>
          </a:solidFill>
          <a:ln w="12700">
            <a:solidFill>
              <a:srgbClr val="E2E8F0"/>
            </a:solidFill>
            <a:prstDash val="solid"/>
          </a:ln>
        </p:spPr>
      </p:sp>
      <p:sp>
        <p:nvSpPr>
          <p:cNvPr id="73" name="Text 71"/>
          <p:cNvSpPr/>
          <p:nvPr/>
        </p:nvSpPr>
        <p:spPr>
          <a:xfrm>
            <a:off x="7159752" y="354787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condition TEXT</a:t>
            </a:r>
            <a:endParaRPr lang="en-US" sz="850" dirty="0"/>
          </a:p>
        </p:txBody>
      </p:sp>
      <p:sp>
        <p:nvSpPr>
          <p:cNvPr id="74" name="Shape 72"/>
          <p:cNvSpPr/>
          <p:nvPr/>
        </p:nvSpPr>
        <p:spPr>
          <a:xfrm>
            <a:off x="7086600" y="3913632"/>
            <a:ext cx="2057400" cy="347472"/>
          </a:xfrm>
          <a:prstGeom prst="rect">
            <a:avLst/>
          </a:prstGeom>
          <a:solidFill>
            <a:srgbClr val="FFFFFF"/>
          </a:solidFill>
          <a:ln w="12700">
            <a:solidFill>
              <a:srgbClr val="E2E8F0"/>
            </a:solidFill>
            <a:prstDash val="solid"/>
          </a:ln>
        </p:spPr>
      </p:sp>
      <p:sp>
        <p:nvSpPr>
          <p:cNvPr id="75" name="Text 73"/>
          <p:cNvSpPr/>
          <p:nvPr/>
        </p:nvSpPr>
        <p:spPr>
          <a:xfrm>
            <a:off x="7159752" y="391363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criteria TEXT</a:t>
            </a:r>
            <a:endParaRPr lang="en-US" sz="850" dirty="0"/>
          </a:p>
        </p:txBody>
      </p:sp>
      <p:sp>
        <p:nvSpPr>
          <p:cNvPr id="76" name="Shape 74"/>
          <p:cNvSpPr/>
          <p:nvPr/>
        </p:nvSpPr>
        <p:spPr>
          <a:xfrm>
            <a:off x="7086600" y="4279392"/>
            <a:ext cx="2057400" cy="347472"/>
          </a:xfrm>
          <a:prstGeom prst="rect">
            <a:avLst/>
          </a:prstGeom>
          <a:solidFill>
            <a:srgbClr val="EDF2F7"/>
          </a:solidFill>
          <a:ln w="12700">
            <a:solidFill>
              <a:srgbClr val="E2E8F0"/>
            </a:solidFill>
            <a:prstDash val="solid"/>
          </a:ln>
        </p:spPr>
      </p:sp>
      <p:sp>
        <p:nvSpPr>
          <p:cNvPr id="77" name="Text 75"/>
          <p:cNvSpPr/>
          <p:nvPr/>
        </p:nvSpPr>
        <p:spPr>
          <a:xfrm>
            <a:off x="7159752" y="4279392"/>
            <a:ext cx="1920240" cy="347472"/>
          </a:xfrm>
          <a:prstGeom prst="rect">
            <a:avLst/>
          </a:prstGeom>
          <a:noFill/>
          <a:ln/>
        </p:spPr>
        <p:txBody>
          <a:bodyPr wrap="square" lIns="0" tIns="0" rIns="0" bIns="0" rtlCol="0" anchor="ctr"/>
          <a:lstStyle/>
          <a:p>
            <a:pPr indent="0" marL="0">
              <a:buNone/>
            </a:pPr>
            <a:r>
              <a:rPr lang="en-US" sz="850" dirty="0">
                <a:solidFill>
                  <a:srgbClr val="1A202C"/>
                </a:solidFill>
                <a:latin typeface="Calibri" pitchFamily="34" charset="0"/>
                <a:ea typeface="Calibri" pitchFamily="34" charset="-122"/>
                <a:cs typeface="Calibri" pitchFamily="34" charset="-120"/>
              </a:rPr>
              <a:t>recommendation TEXT</a:t>
            </a:r>
            <a:endParaRPr lang="en-US" sz="850" dirty="0"/>
          </a:p>
        </p:txBody>
      </p:sp>
      <p:sp>
        <p:nvSpPr>
          <p:cNvPr id="78" name="Shape 76"/>
          <p:cNvSpPr/>
          <p:nvPr/>
        </p:nvSpPr>
        <p:spPr>
          <a:xfrm>
            <a:off x="365760" y="4663440"/>
            <a:ext cx="8412480" cy="274320"/>
          </a:xfrm>
          <a:prstGeom prst="rect">
            <a:avLst/>
          </a:prstGeom>
          <a:solidFill>
            <a:srgbClr val="D8F3F3"/>
          </a:solidFill>
          <a:ln w="12700">
            <a:solidFill>
              <a:srgbClr val="0F7173"/>
            </a:solidFill>
            <a:prstDash val="solid"/>
          </a:ln>
        </p:spPr>
      </p:sp>
      <p:sp>
        <p:nvSpPr>
          <p:cNvPr id="79" name="Text 77"/>
          <p:cNvSpPr/>
          <p:nvPr/>
        </p:nvSpPr>
        <p:spPr>
          <a:xfrm>
            <a:off x="502920" y="4663440"/>
            <a:ext cx="8229600" cy="274320"/>
          </a:xfrm>
          <a:prstGeom prst="rect">
            <a:avLst/>
          </a:prstGeom>
          <a:noFill/>
          <a:ln/>
        </p:spPr>
        <p:txBody>
          <a:bodyPr wrap="square" lIns="0" tIns="0" rIns="0" bIns="0" rtlCol="0" anchor="ctr"/>
          <a:lstStyle/>
          <a:p>
            <a:pPr indent="0" marL="0">
              <a:buNone/>
            </a:pPr>
            <a:r>
              <a:rPr lang="en-US" sz="950" i="1" dirty="0">
                <a:solidFill>
                  <a:srgbClr val="0F7173"/>
                </a:solidFill>
                <a:latin typeface="Calibri" pitchFamily="34" charset="0"/>
                <a:ea typeface="Calibri" pitchFamily="34" charset="-122"/>
                <a:cs typeface="Calibri" pitchFamily="34" charset="-120"/>
              </a:rPr>
              <a:t>Key rule: add chunks_version INT to sop_chunks. When the SOP is updated, increment version and re-embed only changed chunks.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1828800" cy="256032"/>
          </a:xfrm>
          <a:prstGeom prst="rect">
            <a:avLst/>
          </a:prstGeom>
          <a:solidFill>
            <a:srgbClr val="0F7173"/>
          </a:solidFill>
          <a:ln w="12700">
            <a:solidFill>
              <a:srgbClr val="0F7173"/>
            </a:solidFill>
            <a:prstDash val="solid"/>
          </a:ln>
        </p:spPr>
      </p:sp>
      <p:sp>
        <p:nvSpPr>
          <p:cNvPr id="3" name="Text 1"/>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900" b="1" dirty="0">
                <a:solidFill>
                  <a:srgbClr val="FFFFFF"/>
                </a:solidFill>
              </a:rPr>
              <a:t>04 · EMBEDDING MODEL</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Embedding model — finalize before touching Qdrant</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You cannot change this later without destroying and rebuilding the entire collection.</a:t>
            </a:r>
            <a:endParaRPr lang="en-US" sz="1200" dirty="0"/>
          </a:p>
        </p:txBody>
      </p:sp>
      <p:sp>
        <p:nvSpPr>
          <p:cNvPr id="6" name="Shape 4"/>
          <p:cNvSpPr/>
          <p:nvPr/>
        </p:nvSpPr>
        <p:spPr>
          <a:xfrm>
            <a:off x="365760" y="1417320"/>
            <a:ext cx="3931920" cy="2286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65760" y="1417320"/>
            <a:ext cx="64008" cy="2286000"/>
          </a:xfrm>
          <a:prstGeom prst="rect">
            <a:avLst/>
          </a:prstGeom>
          <a:solidFill>
            <a:srgbClr val="0F7173"/>
          </a:solidFill>
          <a:ln w="12700">
            <a:solidFill>
              <a:srgbClr val="0F7173"/>
            </a:solidFill>
            <a:prstDash val="solid"/>
          </a:ln>
        </p:spPr>
      </p:sp>
      <p:sp>
        <p:nvSpPr>
          <p:cNvPr id="8" name="Text 6"/>
          <p:cNvSpPr/>
          <p:nvPr/>
        </p:nvSpPr>
        <p:spPr>
          <a:xfrm>
            <a:off x="594360" y="1572768"/>
            <a:ext cx="3474720" cy="256032"/>
          </a:xfrm>
          <a:prstGeom prst="rect">
            <a:avLst/>
          </a:prstGeom>
          <a:noFill/>
          <a:ln/>
        </p:spPr>
        <p:txBody>
          <a:bodyPr wrap="square" lIns="0" tIns="0" rIns="0" bIns="0" rtlCol="0" anchor="ctr"/>
          <a:lstStyle/>
          <a:p>
            <a:pPr indent="0" marL="0">
              <a:buNone/>
            </a:pPr>
            <a:r>
              <a:rPr lang="en-US" sz="1200" b="1" dirty="0">
                <a:solidFill>
                  <a:srgbClr val="0F7173"/>
                </a:solidFill>
                <a:latin typeface="Calibri" pitchFamily="34" charset="0"/>
                <a:ea typeface="Calibri" pitchFamily="34" charset="-122"/>
                <a:cs typeface="Calibri" pitchFamily="34" charset="-120"/>
              </a:rPr>
              <a:t>Option A — Recommended</a:t>
            </a:r>
            <a:endParaRPr lang="en-US" sz="1200" dirty="0"/>
          </a:p>
        </p:txBody>
      </p:sp>
      <p:sp>
        <p:nvSpPr>
          <p:cNvPr id="9" name="Text 7"/>
          <p:cNvSpPr/>
          <p:nvPr/>
        </p:nvSpPr>
        <p:spPr>
          <a:xfrm>
            <a:off x="594360" y="1874520"/>
            <a:ext cx="3474720" cy="347472"/>
          </a:xfrm>
          <a:prstGeom prst="rect">
            <a:avLst/>
          </a:prstGeom>
          <a:noFill/>
          <a:ln/>
        </p:spPr>
        <p:txBody>
          <a:bodyPr wrap="square" lIns="0" tIns="0" rIns="0" bIns="0" rtlCol="0" anchor="ctr"/>
          <a:lstStyle/>
          <a:p>
            <a:pPr indent="0" marL="0">
              <a:buNone/>
            </a:pPr>
            <a:r>
              <a:rPr lang="en-US" sz="1800" b="1" dirty="0">
                <a:solidFill>
                  <a:srgbClr val="1A202C"/>
                </a:solidFill>
                <a:latin typeface="Calibri" pitchFamily="34" charset="0"/>
                <a:ea typeface="Calibri" pitchFamily="34" charset="-122"/>
                <a:cs typeface="Calibri" pitchFamily="34" charset="-120"/>
              </a:rPr>
              <a:t>text-embedding-3-small</a:t>
            </a:r>
            <a:endParaRPr lang="en-US" sz="1800" dirty="0"/>
          </a:p>
        </p:txBody>
      </p:sp>
      <p:sp>
        <p:nvSpPr>
          <p:cNvPr id="10" name="Text 8"/>
          <p:cNvSpPr/>
          <p:nvPr/>
        </p:nvSpPr>
        <p:spPr>
          <a:xfrm>
            <a:off x="594360" y="2286000"/>
            <a:ext cx="1371600" cy="256032"/>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Dimensions:</a:t>
            </a:r>
            <a:endParaRPr lang="en-US" sz="1000" dirty="0"/>
          </a:p>
        </p:txBody>
      </p:sp>
      <p:sp>
        <p:nvSpPr>
          <p:cNvPr id="11" name="Text 9"/>
          <p:cNvSpPr/>
          <p:nvPr/>
        </p:nvSpPr>
        <p:spPr>
          <a:xfrm>
            <a:off x="2011680" y="2286000"/>
            <a:ext cx="2011680" cy="256032"/>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1536</a:t>
            </a:r>
            <a:endParaRPr lang="en-US" sz="1000" dirty="0"/>
          </a:p>
        </p:txBody>
      </p:sp>
      <p:sp>
        <p:nvSpPr>
          <p:cNvPr id="12" name="Text 10"/>
          <p:cNvSpPr/>
          <p:nvPr/>
        </p:nvSpPr>
        <p:spPr>
          <a:xfrm>
            <a:off x="594360" y="2560320"/>
            <a:ext cx="1371600" cy="256032"/>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Context window:</a:t>
            </a:r>
            <a:endParaRPr lang="en-US" sz="1000" dirty="0"/>
          </a:p>
        </p:txBody>
      </p:sp>
      <p:sp>
        <p:nvSpPr>
          <p:cNvPr id="13" name="Text 11"/>
          <p:cNvSpPr/>
          <p:nvPr/>
        </p:nvSpPr>
        <p:spPr>
          <a:xfrm>
            <a:off x="2011680" y="2560320"/>
            <a:ext cx="2011680" cy="256032"/>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8,191 tokens</a:t>
            </a:r>
            <a:endParaRPr lang="en-US" sz="1000" dirty="0"/>
          </a:p>
        </p:txBody>
      </p:sp>
      <p:sp>
        <p:nvSpPr>
          <p:cNvPr id="14" name="Text 12"/>
          <p:cNvSpPr/>
          <p:nvPr/>
        </p:nvSpPr>
        <p:spPr>
          <a:xfrm>
            <a:off x="594360" y="2834640"/>
            <a:ext cx="1371600" cy="256032"/>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Cost:</a:t>
            </a:r>
            <a:endParaRPr lang="en-US" sz="1000" dirty="0"/>
          </a:p>
        </p:txBody>
      </p:sp>
      <p:sp>
        <p:nvSpPr>
          <p:cNvPr id="15" name="Text 13"/>
          <p:cNvSpPr/>
          <p:nvPr/>
        </p:nvSpPr>
        <p:spPr>
          <a:xfrm>
            <a:off x="2011680" y="2834640"/>
            <a:ext cx="2011680" cy="256032"/>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Low — $0.02 / 1M tokens</a:t>
            </a:r>
            <a:endParaRPr lang="en-US" sz="1000" dirty="0"/>
          </a:p>
        </p:txBody>
      </p:sp>
      <p:sp>
        <p:nvSpPr>
          <p:cNvPr id="16" name="Text 14"/>
          <p:cNvSpPr/>
          <p:nvPr/>
        </p:nvSpPr>
        <p:spPr>
          <a:xfrm>
            <a:off x="594360" y="3108960"/>
            <a:ext cx="1371600" cy="256032"/>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Hosting:</a:t>
            </a:r>
            <a:endParaRPr lang="en-US" sz="1000" dirty="0"/>
          </a:p>
        </p:txBody>
      </p:sp>
      <p:sp>
        <p:nvSpPr>
          <p:cNvPr id="17" name="Text 15"/>
          <p:cNvSpPr/>
          <p:nvPr/>
        </p:nvSpPr>
        <p:spPr>
          <a:xfrm>
            <a:off x="2011680" y="3108960"/>
            <a:ext cx="2011680" cy="256032"/>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OpenAI API</a:t>
            </a:r>
            <a:endParaRPr lang="en-US" sz="1000" dirty="0"/>
          </a:p>
        </p:txBody>
      </p:sp>
      <p:sp>
        <p:nvSpPr>
          <p:cNvPr id="18" name="Shape 16"/>
          <p:cNvSpPr/>
          <p:nvPr/>
        </p:nvSpPr>
        <p:spPr>
          <a:xfrm>
            <a:off x="4572000" y="1417320"/>
            <a:ext cx="4114800" cy="2286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4572000" y="1417320"/>
            <a:ext cx="64008" cy="2286000"/>
          </a:xfrm>
          <a:prstGeom prst="rect">
            <a:avLst/>
          </a:prstGeom>
          <a:solidFill>
            <a:srgbClr val="718096"/>
          </a:solidFill>
          <a:ln w="12700">
            <a:solidFill>
              <a:srgbClr val="718096"/>
            </a:solidFill>
            <a:prstDash val="solid"/>
          </a:ln>
        </p:spPr>
      </p:sp>
      <p:sp>
        <p:nvSpPr>
          <p:cNvPr id="20" name="Text 18"/>
          <p:cNvSpPr/>
          <p:nvPr/>
        </p:nvSpPr>
        <p:spPr>
          <a:xfrm>
            <a:off x="4800600" y="1572768"/>
            <a:ext cx="3657600" cy="256032"/>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Option B — Air-gapped / on-prem</a:t>
            </a:r>
            <a:endParaRPr lang="en-US" sz="1200" dirty="0"/>
          </a:p>
        </p:txBody>
      </p:sp>
      <p:sp>
        <p:nvSpPr>
          <p:cNvPr id="21" name="Text 19"/>
          <p:cNvSpPr/>
          <p:nvPr/>
        </p:nvSpPr>
        <p:spPr>
          <a:xfrm>
            <a:off x="4800600" y="1874520"/>
            <a:ext cx="3657600" cy="347472"/>
          </a:xfrm>
          <a:prstGeom prst="rect">
            <a:avLst/>
          </a:prstGeom>
          <a:noFill/>
          <a:ln/>
        </p:spPr>
        <p:txBody>
          <a:bodyPr wrap="square" lIns="0" tIns="0" rIns="0" bIns="0" rtlCol="0" anchor="ctr"/>
          <a:lstStyle/>
          <a:p>
            <a:pPr indent="0" marL="0">
              <a:buNone/>
            </a:pPr>
            <a:r>
              <a:rPr lang="en-US" sz="1800" b="1" dirty="0">
                <a:solidFill>
                  <a:srgbClr val="1A202C"/>
                </a:solidFill>
                <a:latin typeface="Calibri" pitchFamily="34" charset="0"/>
                <a:ea typeface="Calibri" pitchFamily="34" charset="-122"/>
                <a:cs typeface="Calibri" pitchFamily="34" charset="-120"/>
              </a:rPr>
              <a:t>bge-large-en-v1.5</a:t>
            </a:r>
            <a:endParaRPr lang="en-US" sz="1800" dirty="0"/>
          </a:p>
        </p:txBody>
      </p:sp>
      <p:sp>
        <p:nvSpPr>
          <p:cNvPr id="22" name="Text 20"/>
          <p:cNvSpPr/>
          <p:nvPr/>
        </p:nvSpPr>
        <p:spPr>
          <a:xfrm>
            <a:off x="4800600" y="2286000"/>
            <a:ext cx="1371600" cy="256032"/>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Dimensions:</a:t>
            </a:r>
            <a:endParaRPr lang="en-US" sz="1000" dirty="0"/>
          </a:p>
        </p:txBody>
      </p:sp>
      <p:sp>
        <p:nvSpPr>
          <p:cNvPr id="23" name="Text 21"/>
          <p:cNvSpPr/>
          <p:nvPr/>
        </p:nvSpPr>
        <p:spPr>
          <a:xfrm>
            <a:off x="6217920" y="2286000"/>
            <a:ext cx="2286000" cy="256032"/>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1024</a:t>
            </a:r>
            <a:endParaRPr lang="en-US" sz="1000" dirty="0"/>
          </a:p>
        </p:txBody>
      </p:sp>
      <p:sp>
        <p:nvSpPr>
          <p:cNvPr id="24" name="Text 22"/>
          <p:cNvSpPr/>
          <p:nvPr/>
        </p:nvSpPr>
        <p:spPr>
          <a:xfrm>
            <a:off x="4800600" y="2560320"/>
            <a:ext cx="1371600" cy="256032"/>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Context window:</a:t>
            </a:r>
            <a:endParaRPr lang="en-US" sz="1000" dirty="0"/>
          </a:p>
        </p:txBody>
      </p:sp>
      <p:sp>
        <p:nvSpPr>
          <p:cNvPr id="25" name="Text 23"/>
          <p:cNvSpPr/>
          <p:nvPr/>
        </p:nvSpPr>
        <p:spPr>
          <a:xfrm>
            <a:off x="6217920" y="2560320"/>
            <a:ext cx="2286000" cy="256032"/>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512 tokens</a:t>
            </a:r>
            <a:endParaRPr lang="en-US" sz="1000" dirty="0"/>
          </a:p>
        </p:txBody>
      </p:sp>
      <p:sp>
        <p:nvSpPr>
          <p:cNvPr id="26" name="Text 24"/>
          <p:cNvSpPr/>
          <p:nvPr/>
        </p:nvSpPr>
        <p:spPr>
          <a:xfrm>
            <a:off x="4800600" y="2834640"/>
            <a:ext cx="1371600" cy="256032"/>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Cost:</a:t>
            </a:r>
            <a:endParaRPr lang="en-US" sz="1000" dirty="0"/>
          </a:p>
        </p:txBody>
      </p:sp>
      <p:sp>
        <p:nvSpPr>
          <p:cNvPr id="27" name="Text 25"/>
          <p:cNvSpPr/>
          <p:nvPr/>
        </p:nvSpPr>
        <p:spPr>
          <a:xfrm>
            <a:off x="6217920" y="2834640"/>
            <a:ext cx="2286000" cy="256032"/>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Free — runs locally</a:t>
            </a:r>
            <a:endParaRPr lang="en-US" sz="1000" dirty="0"/>
          </a:p>
        </p:txBody>
      </p:sp>
      <p:sp>
        <p:nvSpPr>
          <p:cNvPr id="28" name="Text 26"/>
          <p:cNvSpPr/>
          <p:nvPr/>
        </p:nvSpPr>
        <p:spPr>
          <a:xfrm>
            <a:off x="4800600" y="3108960"/>
            <a:ext cx="1371600" cy="256032"/>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Hosting:</a:t>
            </a:r>
            <a:endParaRPr lang="en-US" sz="1000" dirty="0"/>
          </a:p>
        </p:txBody>
      </p:sp>
      <p:sp>
        <p:nvSpPr>
          <p:cNvPr id="29" name="Text 27"/>
          <p:cNvSpPr/>
          <p:nvPr/>
        </p:nvSpPr>
        <p:spPr>
          <a:xfrm>
            <a:off x="6217920" y="3108960"/>
            <a:ext cx="2286000" cy="256032"/>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Hugging Face / local GPU</a:t>
            </a:r>
            <a:endParaRPr lang="en-US" sz="1000" dirty="0"/>
          </a:p>
        </p:txBody>
      </p:sp>
      <p:sp>
        <p:nvSpPr>
          <p:cNvPr id="30" name="Shape 28"/>
          <p:cNvSpPr/>
          <p:nvPr/>
        </p:nvSpPr>
        <p:spPr>
          <a:xfrm>
            <a:off x="365760" y="3840480"/>
            <a:ext cx="8412480" cy="1005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1" name="Shape 29"/>
          <p:cNvSpPr/>
          <p:nvPr/>
        </p:nvSpPr>
        <p:spPr>
          <a:xfrm>
            <a:off x="365760" y="3840480"/>
            <a:ext cx="64008" cy="1005840"/>
          </a:xfrm>
          <a:prstGeom prst="rect">
            <a:avLst/>
          </a:prstGeom>
          <a:solidFill>
            <a:srgbClr val="C0392B"/>
          </a:solidFill>
          <a:ln w="12700">
            <a:solidFill>
              <a:srgbClr val="C0392B"/>
            </a:solidFill>
            <a:prstDash val="solid"/>
          </a:ln>
        </p:spPr>
      </p:sp>
      <p:sp>
        <p:nvSpPr>
          <p:cNvPr id="32" name="Text 30"/>
          <p:cNvSpPr/>
          <p:nvPr/>
        </p:nvSpPr>
        <p:spPr>
          <a:xfrm>
            <a:off x="594360" y="3950208"/>
            <a:ext cx="7955280" cy="219456"/>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Hard rules</a:t>
            </a:r>
            <a:endParaRPr lang="en-US" sz="1100" dirty="0"/>
          </a:p>
        </p:txBody>
      </p:sp>
      <p:sp>
        <p:nvSpPr>
          <p:cNvPr id="33" name="Text 31"/>
          <p:cNvSpPr/>
          <p:nvPr/>
        </p:nvSpPr>
        <p:spPr>
          <a:xfrm>
            <a:off x="594360" y="4187952"/>
            <a:ext cx="7955280" cy="201168"/>
          </a:xfrm>
          <a:prstGeom prst="rect">
            <a:avLst/>
          </a:prstGeom>
          <a:noFill/>
          <a:ln/>
        </p:spPr>
        <p:txBody>
          <a:bodyPr wrap="square" lIns="0" tIns="0" rIns="0" bIns="0" rtlCol="0" anchor="ctr"/>
          <a:lstStyle/>
          <a:p>
            <a:pPr indent="0" marL="0">
              <a:buNone/>
            </a:pPr>
            <a:r>
              <a:rPr lang="en-US" sz="950" dirty="0">
                <a:solidFill>
                  <a:srgbClr val="1A202C"/>
                </a:solidFill>
                <a:latin typeface="Calibri" pitchFamily="34" charset="0"/>
                <a:ea typeface="Calibri" pitchFamily="34" charset="-122"/>
                <a:cs typeface="Calibri" pitchFamily="34" charset="-120"/>
              </a:rPr>
              <a:t>—  Never mix embedding models in the same Qdrant collection — all vectors must come from the identical model version.</a:t>
            </a:r>
            <a:endParaRPr lang="en-US" sz="950" dirty="0"/>
          </a:p>
        </p:txBody>
      </p:sp>
      <p:sp>
        <p:nvSpPr>
          <p:cNvPr id="34" name="Text 32"/>
          <p:cNvSpPr/>
          <p:nvPr/>
        </p:nvSpPr>
        <p:spPr>
          <a:xfrm>
            <a:off x="594360" y="4389120"/>
            <a:ext cx="7955280" cy="201168"/>
          </a:xfrm>
          <a:prstGeom prst="rect">
            <a:avLst/>
          </a:prstGeom>
          <a:noFill/>
          <a:ln/>
        </p:spPr>
        <p:txBody>
          <a:bodyPr wrap="square" lIns="0" tIns="0" rIns="0" bIns="0" rtlCol="0" anchor="ctr"/>
          <a:lstStyle/>
          <a:p>
            <a:pPr indent="0" marL="0">
              <a:buNone/>
            </a:pPr>
            <a:r>
              <a:rPr lang="en-US" sz="950" dirty="0">
                <a:solidFill>
                  <a:srgbClr val="1A202C"/>
                </a:solidFill>
                <a:latin typeface="Calibri" pitchFamily="34" charset="0"/>
                <a:ea typeface="Calibri" pitchFamily="34" charset="-122"/>
                <a:cs typeface="Calibri" pitchFamily="34" charset="-120"/>
              </a:rPr>
              <a:t>—  Pin the exact model version in config. OpenAI can silently update model behaviour even on the same name.</a:t>
            </a:r>
            <a:endParaRPr lang="en-US" sz="950" dirty="0"/>
          </a:p>
        </p:txBody>
      </p:sp>
      <p:sp>
        <p:nvSpPr>
          <p:cNvPr id="35" name="Text 33"/>
          <p:cNvSpPr/>
          <p:nvPr/>
        </p:nvSpPr>
        <p:spPr>
          <a:xfrm>
            <a:off x="594360" y="4590288"/>
            <a:ext cx="7955280" cy="201168"/>
          </a:xfrm>
          <a:prstGeom prst="rect">
            <a:avLst/>
          </a:prstGeom>
          <a:noFill/>
          <a:ln/>
        </p:spPr>
        <p:txBody>
          <a:bodyPr wrap="square" lIns="0" tIns="0" rIns="0" bIns="0" rtlCol="0" anchor="ctr"/>
          <a:lstStyle/>
          <a:p>
            <a:pPr indent="0" marL="0">
              <a:buNone/>
            </a:pPr>
            <a:r>
              <a:rPr lang="en-US" sz="950" dirty="0">
                <a:solidFill>
                  <a:srgbClr val="1A202C"/>
                </a:solidFill>
                <a:latin typeface="Calibri" pitchFamily="34" charset="0"/>
                <a:ea typeface="Calibri" pitchFamily="34" charset="-122"/>
                <a:cs typeface="Calibri" pitchFamily="34" charset="-120"/>
              </a:rPr>
              <a:t>—  Run a test embed of 5–10 chunks and check cosine similarity scores before committing to a model.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1984248" cy="256032"/>
          </a:xfrm>
          <a:prstGeom prst="rect">
            <a:avLst/>
          </a:prstGeom>
          <a:solidFill>
            <a:srgbClr val="0F7173"/>
          </a:solidFill>
          <a:ln w="12700">
            <a:solidFill>
              <a:srgbClr val="0F7173"/>
            </a:solidFill>
            <a:prstDash val="solid"/>
          </a:ln>
        </p:spPr>
      </p:sp>
      <p:sp>
        <p:nvSpPr>
          <p:cNvPr id="3" name="Text 1"/>
          <p:cNvSpPr/>
          <p:nvPr/>
        </p:nvSpPr>
        <p:spPr>
          <a:xfrm>
            <a:off x="365760" y="256032"/>
            <a:ext cx="1984248" cy="256032"/>
          </a:xfrm>
          <a:prstGeom prst="rect">
            <a:avLst/>
          </a:prstGeom>
          <a:noFill/>
          <a:ln/>
        </p:spPr>
        <p:txBody>
          <a:bodyPr wrap="square" lIns="0" tIns="0" rIns="0" bIns="0" rtlCol="0" anchor="ctr"/>
          <a:lstStyle/>
          <a:p>
            <a:pPr algn="ctr" indent="0" marL="0">
              <a:buNone/>
            </a:pPr>
            <a:r>
              <a:rPr lang="en-US" sz="900" b="1" dirty="0">
                <a:solidFill>
                  <a:srgbClr val="FFFFFF"/>
                </a:solidFill>
              </a:rPr>
              <a:t>05 · CHUNKING STRATEGY</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Chunking — the decision with the highest retrieval impact</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Wrong chunk size = wrong SOP sections retrieved = wrong AI output.</a:t>
            </a:r>
            <a:endParaRPr lang="en-US" sz="1200" dirty="0"/>
          </a:p>
        </p:txBody>
      </p:sp>
      <p:sp>
        <p:nvSpPr>
          <p:cNvPr id="6" name="Shape 4"/>
          <p:cNvSpPr/>
          <p:nvPr/>
        </p:nvSpPr>
        <p:spPr>
          <a:xfrm>
            <a:off x="365760" y="1417320"/>
            <a:ext cx="4251960" cy="8229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65760" y="1417320"/>
            <a:ext cx="64008" cy="822960"/>
          </a:xfrm>
          <a:prstGeom prst="rect">
            <a:avLst/>
          </a:prstGeom>
          <a:solidFill>
            <a:srgbClr val="0F7173"/>
          </a:solidFill>
          <a:ln w="12700">
            <a:solidFill>
              <a:srgbClr val="0F7173"/>
            </a:solidFill>
            <a:prstDash val="solid"/>
          </a:ln>
        </p:spPr>
      </p:sp>
      <p:sp>
        <p:nvSpPr>
          <p:cNvPr id="8" name="Text 6"/>
          <p:cNvSpPr/>
          <p:nvPr/>
        </p:nvSpPr>
        <p:spPr>
          <a:xfrm>
            <a:off x="566928" y="1508760"/>
            <a:ext cx="3840480" cy="219456"/>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Chunk size</a:t>
            </a:r>
            <a:endParaRPr lang="en-US" sz="1000" dirty="0"/>
          </a:p>
        </p:txBody>
      </p:sp>
      <p:sp>
        <p:nvSpPr>
          <p:cNvPr id="9" name="Text 7"/>
          <p:cNvSpPr/>
          <p:nvPr/>
        </p:nvSpPr>
        <p:spPr>
          <a:xfrm>
            <a:off x="566928" y="1709928"/>
            <a:ext cx="3840480" cy="274320"/>
          </a:xfrm>
          <a:prstGeom prst="rect">
            <a:avLst/>
          </a:prstGeom>
          <a:noFill/>
          <a:ln/>
        </p:spPr>
        <p:txBody>
          <a:bodyPr wrap="square" lIns="0" tIns="0" rIns="0" bIns="0" rtlCol="0" anchor="ctr"/>
          <a:lstStyle/>
          <a:p>
            <a:pPr indent="0" marL="0">
              <a:buNone/>
            </a:pPr>
            <a:r>
              <a:rPr lang="en-US" sz="1400" b="1" dirty="0">
                <a:solidFill>
                  <a:srgbClr val="1A202C"/>
                </a:solidFill>
                <a:latin typeface="Calibri" pitchFamily="34" charset="0"/>
                <a:ea typeface="Calibri" pitchFamily="34" charset="-122"/>
                <a:cs typeface="Calibri" pitchFamily="34" charset="-120"/>
              </a:rPr>
              <a:t>400–500 tokens</a:t>
            </a:r>
            <a:endParaRPr lang="en-US" sz="1400" dirty="0"/>
          </a:p>
        </p:txBody>
      </p:sp>
      <p:sp>
        <p:nvSpPr>
          <p:cNvPr id="10" name="Text 8"/>
          <p:cNvSpPr/>
          <p:nvPr/>
        </p:nvSpPr>
        <p:spPr>
          <a:xfrm>
            <a:off x="566928" y="1993392"/>
            <a:ext cx="3840480" cy="182880"/>
          </a:xfrm>
          <a:prstGeom prst="rect">
            <a:avLst/>
          </a:prstGeom>
          <a:noFill/>
          <a:ln/>
        </p:spPr>
        <p:txBody>
          <a:bodyPr wrap="square" lIns="0" tIns="0" rIns="0" bIns="0"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One SOP procedure ≈ one chunk</a:t>
            </a:r>
            <a:endParaRPr lang="en-US" sz="900" dirty="0"/>
          </a:p>
        </p:txBody>
      </p:sp>
      <p:sp>
        <p:nvSpPr>
          <p:cNvPr id="11" name="Shape 9"/>
          <p:cNvSpPr/>
          <p:nvPr/>
        </p:nvSpPr>
        <p:spPr>
          <a:xfrm>
            <a:off x="4800600" y="1417320"/>
            <a:ext cx="4251960" cy="8229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4800600" y="1417320"/>
            <a:ext cx="64008" cy="822960"/>
          </a:xfrm>
          <a:prstGeom prst="rect">
            <a:avLst/>
          </a:prstGeom>
          <a:solidFill>
            <a:srgbClr val="0F7173"/>
          </a:solidFill>
          <a:ln w="12700">
            <a:solidFill>
              <a:srgbClr val="0F7173"/>
            </a:solidFill>
            <a:prstDash val="solid"/>
          </a:ln>
        </p:spPr>
      </p:sp>
      <p:sp>
        <p:nvSpPr>
          <p:cNvPr id="13" name="Text 11"/>
          <p:cNvSpPr/>
          <p:nvPr/>
        </p:nvSpPr>
        <p:spPr>
          <a:xfrm>
            <a:off x="5001768" y="1508760"/>
            <a:ext cx="3840480" cy="219456"/>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Chunk overlap</a:t>
            </a:r>
            <a:endParaRPr lang="en-US" sz="1000" dirty="0"/>
          </a:p>
        </p:txBody>
      </p:sp>
      <p:sp>
        <p:nvSpPr>
          <p:cNvPr id="14" name="Text 12"/>
          <p:cNvSpPr/>
          <p:nvPr/>
        </p:nvSpPr>
        <p:spPr>
          <a:xfrm>
            <a:off x="5001768" y="1709928"/>
            <a:ext cx="3840480" cy="274320"/>
          </a:xfrm>
          <a:prstGeom prst="rect">
            <a:avLst/>
          </a:prstGeom>
          <a:noFill/>
          <a:ln/>
        </p:spPr>
        <p:txBody>
          <a:bodyPr wrap="square" lIns="0" tIns="0" rIns="0" bIns="0" rtlCol="0" anchor="ctr"/>
          <a:lstStyle/>
          <a:p>
            <a:pPr indent="0" marL="0">
              <a:buNone/>
            </a:pPr>
            <a:r>
              <a:rPr lang="en-US" sz="1400" b="1" dirty="0">
                <a:solidFill>
                  <a:srgbClr val="1A202C"/>
                </a:solidFill>
                <a:latin typeface="Calibri" pitchFamily="34" charset="0"/>
                <a:ea typeface="Calibri" pitchFamily="34" charset="-122"/>
                <a:cs typeface="Calibri" pitchFamily="34" charset="-120"/>
              </a:rPr>
              <a:t>50–80 tokens</a:t>
            </a:r>
            <a:endParaRPr lang="en-US" sz="1400" dirty="0"/>
          </a:p>
        </p:txBody>
      </p:sp>
      <p:sp>
        <p:nvSpPr>
          <p:cNvPr id="15" name="Text 13"/>
          <p:cNvSpPr/>
          <p:nvPr/>
        </p:nvSpPr>
        <p:spPr>
          <a:xfrm>
            <a:off x="5001768" y="1993392"/>
            <a:ext cx="3840480" cy="182880"/>
          </a:xfrm>
          <a:prstGeom prst="rect">
            <a:avLst/>
          </a:prstGeom>
          <a:noFill/>
          <a:ln/>
        </p:spPr>
        <p:txBody>
          <a:bodyPr wrap="square" lIns="0" tIns="0" rIns="0" bIns="0"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Prevents boundary context loss</a:t>
            </a:r>
            <a:endParaRPr lang="en-US" sz="900" dirty="0"/>
          </a:p>
        </p:txBody>
      </p:sp>
      <p:sp>
        <p:nvSpPr>
          <p:cNvPr id="16" name="Shape 14"/>
          <p:cNvSpPr/>
          <p:nvPr/>
        </p:nvSpPr>
        <p:spPr>
          <a:xfrm>
            <a:off x="365760" y="2377440"/>
            <a:ext cx="4251960" cy="8229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365760" y="2377440"/>
            <a:ext cx="64008" cy="822960"/>
          </a:xfrm>
          <a:prstGeom prst="rect">
            <a:avLst/>
          </a:prstGeom>
          <a:solidFill>
            <a:srgbClr val="4C3B8A"/>
          </a:solidFill>
          <a:ln w="12700">
            <a:solidFill>
              <a:srgbClr val="4C3B8A"/>
            </a:solidFill>
            <a:prstDash val="solid"/>
          </a:ln>
        </p:spPr>
      </p:sp>
      <p:sp>
        <p:nvSpPr>
          <p:cNvPr id="18" name="Text 16"/>
          <p:cNvSpPr/>
          <p:nvPr/>
        </p:nvSpPr>
        <p:spPr>
          <a:xfrm>
            <a:off x="566928" y="2468880"/>
            <a:ext cx="3840480" cy="219456"/>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Splitter</a:t>
            </a:r>
            <a:endParaRPr lang="en-US" sz="1000" dirty="0"/>
          </a:p>
        </p:txBody>
      </p:sp>
      <p:sp>
        <p:nvSpPr>
          <p:cNvPr id="19" name="Text 17"/>
          <p:cNvSpPr/>
          <p:nvPr/>
        </p:nvSpPr>
        <p:spPr>
          <a:xfrm>
            <a:off x="566928" y="2670048"/>
            <a:ext cx="3840480" cy="274320"/>
          </a:xfrm>
          <a:prstGeom prst="rect">
            <a:avLst/>
          </a:prstGeom>
          <a:noFill/>
          <a:ln/>
        </p:spPr>
        <p:txBody>
          <a:bodyPr wrap="square" lIns="0" tIns="0" rIns="0" bIns="0" rtlCol="0" anchor="ctr"/>
          <a:lstStyle/>
          <a:p>
            <a:pPr indent="0" marL="0">
              <a:buNone/>
            </a:pPr>
            <a:r>
              <a:rPr lang="en-US" sz="1400" b="1" dirty="0">
                <a:solidFill>
                  <a:srgbClr val="1A202C"/>
                </a:solidFill>
                <a:latin typeface="Calibri" pitchFamily="34" charset="0"/>
                <a:ea typeface="Calibri" pitchFamily="34" charset="-122"/>
                <a:cs typeface="Calibri" pitchFamily="34" charset="-120"/>
              </a:rPr>
              <a:t>RecursiveCharacterTextSplitter</a:t>
            </a:r>
            <a:endParaRPr lang="en-US" sz="1400" dirty="0"/>
          </a:p>
        </p:txBody>
      </p:sp>
      <p:sp>
        <p:nvSpPr>
          <p:cNvPr id="20" name="Text 18"/>
          <p:cNvSpPr/>
          <p:nvPr/>
        </p:nvSpPr>
        <p:spPr>
          <a:xfrm>
            <a:off x="566928" y="2953512"/>
            <a:ext cx="3840480" cy="182880"/>
          </a:xfrm>
          <a:prstGeom prst="rect">
            <a:avLst/>
          </a:prstGeom>
          <a:noFill/>
          <a:ln/>
        </p:spPr>
        <p:txBody>
          <a:bodyPr wrap="square" lIns="0" tIns="0" rIns="0" bIns="0"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LangChain / LlamaIndex</a:t>
            </a:r>
            <a:endParaRPr lang="en-US" sz="900" dirty="0"/>
          </a:p>
        </p:txBody>
      </p:sp>
      <p:sp>
        <p:nvSpPr>
          <p:cNvPr id="21" name="Shape 19"/>
          <p:cNvSpPr/>
          <p:nvPr/>
        </p:nvSpPr>
        <p:spPr>
          <a:xfrm>
            <a:off x="4800600" y="2377440"/>
            <a:ext cx="4251960" cy="8229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2" name="Shape 20"/>
          <p:cNvSpPr/>
          <p:nvPr/>
        </p:nvSpPr>
        <p:spPr>
          <a:xfrm>
            <a:off x="4800600" y="2377440"/>
            <a:ext cx="64008" cy="822960"/>
          </a:xfrm>
          <a:prstGeom prst="rect">
            <a:avLst/>
          </a:prstGeom>
          <a:solidFill>
            <a:srgbClr val="4C3B8A"/>
          </a:solidFill>
          <a:ln w="12700">
            <a:solidFill>
              <a:srgbClr val="4C3B8A"/>
            </a:solidFill>
            <a:prstDash val="solid"/>
          </a:ln>
        </p:spPr>
      </p:sp>
      <p:sp>
        <p:nvSpPr>
          <p:cNvPr id="23" name="Text 21"/>
          <p:cNvSpPr/>
          <p:nvPr/>
        </p:nvSpPr>
        <p:spPr>
          <a:xfrm>
            <a:off x="5001768" y="2468880"/>
            <a:ext cx="3840480" cy="219456"/>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Split order</a:t>
            </a:r>
            <a:endParaRPr lang="en-US" sz="1000" dirty="0"/>
          </a:p>
        </p:txBody>
      </p:sp>
      <p:sp>
        <p:nvSpPr>
          <p:cNvPr id="24" name="Text 22"/>
          <p:cNvSpPr/>
          <p:nvPr/>
        </p:nvSpPr>
        <p:spPr>
          <a:xfrm>
            <a:off x="5001768" y="2670048"/>
            <a:ext cx="3840480" cy="274320"/>
          </a:xfrm>
          <a:prstGeom prst="rect">
            <a:avLst/>
          </a:prstGeom>
          <a:noFill/>
          <a:ln/>
        </p:spPr>
        <p:txBody>
          <a:bodyPr wrap="square" lIns="0" tIns="0" rIns="0" bIns="0" rtlCol="0" anchor="ctr"/>
          <a:lstStyle/>
          <a:p>
            <a:pPr indent="0" marL="0">
              <a:buNone/>
            </a:pPr>
            <a:r>
              <a:rPr lang="en-US" sz="1400" b="1" dirty="0">
                <a:solidFill>
                  <a:srgbClr val="1A202C"/>
                </a:solidFill>
                <a:latin typeface="Calibri" pitchFamily="34" charset="0"/>
                <a:ea typeface="Calibri" pitchFamily="34" charset="-122"/>
                <a:cs typeface="Calibri" pitchFamily="34" charset="-120"/>
              </a:rPr>
              <a:t>\n\n → \n → . → space</a:t>
            </a:r>
            <a:endParaRPr lang="en-US" sz="1400" dirty="0"/>
          </a:p>
        </p:txBody>
      </p:sp>
      <p:sp>
        <p:nvSpPr>
          <p:cNvPr id="25" name="Text 23"/>
          <p:cNvSpPr/>
          <p:nvPr/>
        </p:nvSpPr>
        <p:spPr>
          <a:xfrm>
            <a:off x="5001768" y="2953512"/>
            <a:ext cx="3840480" cy="182880"/>
          </a:xfrm>
          <a:prstGeom prst="rect">
            <a:avLst/>
          </a:prstGeom>
          <a:noFill/>
          <a:ln/>
        </p:spPr>
        <p:txBody>
          <a:bodyPr wrap="square" lIns="0" tIns="0" rIns="0" bIns="0"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Always paragraph-first</a:t>
            </a:r>
            <a:endParaRPr lang="en-US" sz="900" dirty="0"/>
          </a:p>
        </p:txBody>
      </p:sp>
      <p:sp>
        <p:nvSpPr>
          <p:cNvPr id="26" name="Shape 24"/>
          <p:cNvSpPr/>
          <p:nvPr/>
        </p:nvSpPr>
        <p:spPr>
          <a:xfrm>
            <a:off x="365760" y="3429000"/>
            <a:ext cx="8412480" cy="1463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365760" y="3429000"/>
            <a:ext cx="64008" cy="1463040"/>
          </a:xfrm>
          <a:prstGeom prst="rect">
            <a:avLst/>
          </a:prstGeom>
          <a:solidFill>
            <a:srgbClr val="E09F3E"/>
          </a:solidFill>
          <a:ln w="12700">
            <a:solidFill>
              <a:srgbClr val="E09F3E"/>
            </a:solidFill>
            <a:prstDash val="solid"/>
          </a:ln>
        </p:spPr>
      </p:sp>
      <p:sp>
        <p:nvSpPr>
          <p:cNvPr id="28" name="Text 26"/>
          <p:cNvSpPr/>
          <p:nvPr/>
        </p:nvSpPr>
        <p:spPr>
          <a:xfrm>
            <a:off x="594360" y="3547872"/>
            <a:ext cx="7955280" cy="256032"/>
          </a:xfrm>
          <a:prstGeom prst="rect">
            <a:avLst/>
          </a:prstGeom>
          <a:noFill/>
          <a:ln/>
        </p:spPr>
        <p:txBody>
          <a:bodyPr wrap="square" lIns="0" tIns="0" rIns="0" bIns="0" rtlCol="0" anchor="ctr"/>
          <a:lstStyle/>
          <a:p>
            <a:pPr indent="0" marL="0">
              <a:buNone/>
            </a:pPr>
            <a:r>
              <a:rPr lang="en-US" sz="1200" b="1" dirty="0">
                <a:solidFill>
                  <a:srgbClr val="E09F3E"/>
                </a:solidFill>
                <a:latin typeface="Calibri" pitchFamily="34" charset="0"/>
                <a:ea typeface="Calibri" pitchFamily="34" charset="-122"/>
                <a:cs typeface="Calibri" pitchFamily="34" charset="-120"/>
              </a:rPr>
              <a:t>Pre-chunking checklist</a:t>
            </a:r>
            <a:endParaRPr lang="en-US" sz="1200" dirty="0"/>
          </a:p>
        </p:txBody>
      </p:sp>
      <p:sp>
        <p:nvSpPr>
          <p:cNvPr id="29" name="Text 27"/>
          <p:cNvSpPr/>
          <p:nvPr/>
        </p:nvSpPr>
        <p:spPr>
          <a:xfrm>
            <a:off x="594360" y="3858768"/>
            <a:ext cx="7955280" cy="201168"/>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  </a:t>
            </a:r>
            <a:pPr indent="0" marL="0">
              <a:buNone/>
            </a:pPr>
            <a:r>
              <a:rPr lang="en-US" sz="950" dirty="0">
                <a:solidFill>
                  <a:srgbClr val="1A202C"/>
                </a:solidFill>
                <a:latin typeface="Calibri" pitchFamily="34" charset="0"/>
                <a:ea typeface="Calibri" pitchFamily="34" charset="-122"/>
                <a:cs typeface="Calibri" pitchFamily="34" charset="-120"/>
              </a:rPr>
              <a:t>Measure chunk_size in TOKENS (tiktoken), not characters — dense legal text can be 2× denser than normal prose.</a:t>
            </a:r>
            <a:endParaRPr lang="en-US" sz="950" dirty="0"/>
          </a:p>
        </p:txBody>
      </p:sp>
      <p:sp>
        <p:nvSpPr>
          <p:cNvPr id="30" name="Text 28"/>
          <p:cNvSpPr/>
          <p:nvPr/>
        </p:nvSpPr>
        <p:spPr>
          <a:xfrm>
            <a:off x="594360" y="4059936"/>
            <a:ext cx="7955280" cy="201168"/>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  </a:t>
            </a:r>
            <a:pPr indent="0" marL="0">
              <a:buNone/>
            </a:pPr>
            <a:r>
              <a:rPr lang="en-US" sz="950" dirty="0">
                <a:solidFill>
                  <a:srgbClr val="1A202C"/>
                </a:solidFill>
                <a:latin typeface="Calibri" pitchFamily="34" charset="0"/>
                <a:ea typeface="Calibri" pitchFamily="34" charset="-122"/>
                <a:cs typeface="Calibri" pitchFamily="34" charset="-120"/>
              </a:rPr>
              <a:t>Strip page headers, footers, and page numbers from PDFs before chunking — they pollute every embedding.</a:t>
            </a:r>
            <a:endParaRPr lang="en-US" sz="950" dirty="0"/>
          </a:p>
        </p:txBody>
      </p:sp>
      <p:sp>
        <p:nvSpPr>
          <p:cNvPr id="31" name="Text 29"/>
          <p:cNvSpPr/>
          <p:nvPr/>
        </p:nvSpPr>
        <p:spPr>
          <a:xfrm>
            <a:off x="594360" y="4261104"/>
            <a:ext cx="7955280" cy="201168"/>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  </a:t>
            </a:r>
            <a:pPr indent="0" marL="0">
              <a:buNone/>
            </a:pPr>
            <a:r>
              <a:rPr lang="en-US" sz="950" dirty="0">
                <a:solidFill>
                  <a:srgbClr val="1A202C"/>
                </a:solidFill>
                <a:latin typeface="Calibri" pitchFamily="34" charset="0"/>
                <a:ea typeface="Calibri" pitchFamily="34" charset="-122"/>
                <a:cs typeface="Calibri" pitchFamily="34" charset="-120"/>
              </a:rPr>
              <a:t>Prepend section title to every chunk: "SOP §4.2 — NPO Materiality: [chunk text]" — orphan chunks lose meaning.</a:t>
            </a:r>
            <a:endParaRPr lang="en-US" sz="950" dirty="0"/>
          </a:p>
        </p:txBody>
      </p:sp>
      <p:sp>
        <p:nvSpPr>
          <p:cNvPr id="32" name="Text 30"/>
          <p:cNvSpPr/>
          <p:nvPr/>
        </p:nvSpPr>
        <p:spPr>
          <a:xfrm>
            <a:off x="594360" y="4462272"/>
            <a:ext cx="7955280" cy="201168"/>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  </a:t>
            </a:r>
            <a:pPr indent="0" marL="0">
              <a:buNone/>
            </a:pPr>
            <a:r>
              <a:rPr lang="en-US" sz="950" dirty="0">
                <a:solidFill>
                  <a:srgbClr val="1A202C"/>
                </a:solidFill>
                <a:latin typeface="Calibri" pitchFamily="34" charset="0"/>
                <a:ea typeface="Calibri" pitchFamily="34" charset="-122"/>
                <a:cs typeface="Calibri" pitchFamily="34" charset="-120"/>
              </a:rPr>
              <a:t>Keep tables whole — never split a materiality threshold table across two chunks. One table = one chunk.</a:t>
            </a:r>
            <a:endParaRPr lang="en-US" sz="950" dirty="0"/>
          </a:p>
        </p:txBody>
      </p:sp>
      <p:sp>
        <p:nvSpPr>
          <p:cNvPr id="33" name="Text 31"/>
          <p:cNvSpPr/>
          <p:nvPr/>
        </p:nvSpPr>
        <p:spPr>
          <a:xfrm>
            <a:off x="594360" y="4663440"/>
            <a:ext cx="7955280" cy="201168"/>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  </a:t>
            </a:r>
            <a:pPr indent="0" marL="0">
              <a:buNone/>
            </a:pPr>
            <a:r>
              <a:rPr lang="en-US" sz="950" dirty="0">
                <a:solidFill>
                  <a:srgbClr val="1A202C"/>
                </a:solidFill>
                <a:latin typeface="Calibri" pitchFamily="34" charset="0"/>
                <a:ea typeface="Calibri" pitchFamily="34" charset="-122"/>
                <a:cs typeface="Calibri" pitchFamily="34" charset="-120"/>
              </a:rPr>
              <a:t>Generate a deterministic chunk_id = sha256(source_doc_name + char_start). Use as Qdrant point ID for idempotency.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1828800" cy="256032"/>
          </a:xfrm>
          <a:prstGeom prst="rect">
            <a:avLst/>
          </a:prstGeom>
          <a:solidFill>
            <a:srgbClr val="0F7173"/>
          </a:solidFill>
          <a:ln w="12700">
            <a:solidFill>
              <a:srgbClr val="0F7173"/>
            </a:solidFill>
            <a:prstDash val="solid"/>
          </a:ln>
        </p:spPr>
      </p:sp>
      <p:sp>
        <p:nvSpPr>
          <p:cNvPr id="3" name="Text 1"/>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900" b="1" dirty="0">
                <a:solidFill>
                  <a:srgbClr val="FFFFFF"/>
                </a:solidFill>
              </a:rPr>
              <a:t>06 · TRAINING PAIRS</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Fine-tuning pairs — anatomy of one JSONL example</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Every pair has exactly three parts. Deviation from this structure breaks fine-tuning.</a:t>
            </a:r>
            <a:endParaRPr lang="en-US" sz="1200" dirty="0"/>
          </a:p>
        </p:txBody>
      </p:sp>
      <p:sp>
        <p:nvSpPr>
          <p:cNvPr id="6" name="Shape 4"/>
          <p:cNvSpPr/>
          <p:nvPr/>
        </p:nvSpPr>
        <p:spPr>
          <a:xfrm>
            <a:off x="365760" y="1417320"/>
            <a:ext cx="1280160" cy="1005840"/>
          </a:xfrm>
          <a:prstGeom prst="rect">
            <a:avLst/>
          </a:prstGeom>
          <a:solidFill>
            <a:srgbClr val="4C3B8A"/>
          </a:solidFill>
          <a:ln w="12700">
            <a:solidFill>
              <a:srgbClr val="4C3B8A"/>
            </a:solidFill>
            <a:prstDash val="solid"/>
          </a:ln>
        </p:spPr>
      </p:sp>
      <p:sp>
        <p:nvSpPr>
          <p:cNvPr id="7" name="Text 5"/>
          <p:cNvSpPr/>
          <p:nvPr/>
        </p:nvSpPr>
        <p:spPr>
          <a:xfrm>
            <a:off x="365760" y="1417320"/>
            <a:ext cx="128016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system</a:t>
            </a:r>
            <a:endParaRPr lang="en-US" sz="1300" dirty="0"/>
          </a:p>
        </p:txBody>
      </p:sp>
      <p:sp>
        <p:nvSpPr>
          <p:cNvPr id="8" name="Shape 6"/>
          <p:cNvSpPr/>
          <p:nvPr/>
        </p:nvSpPr>
        <p:spPr>
          <a:xfrm>
            <a:off x="1737360" y="1417320"/>
            <a:ext cx="7040880" cy="1005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9" name="Text 7"/>
          <p:cNvSpPr/>
          <p:nvPr/>
        </p:nvSpPr>
        <p:spPr>
          <a:xfrm>
            <a:off x="1920240" y="1490472"/>
            <a:ext cx="6675120" cy="219456"/>
          </a:xfrm>
          <a:prstGeom prst="rect">
            <a:avLst/>
          </a:prstGeom>
          <a:noFill/>
          <a:ln/>
        </p:spPr>
        <p:txBody>
          <a:bodyPr wrap="square" lIns="0" tIns="0" rIns="0" bIns="0" rtlCol="0" anchor="ctr"/>
          <a:lstStyle/>
          <a:p>
            <a:pPr indent="0" marL="0">
              <a:buNone/>
            </a:pPr>
            <a:r>
              <a:rPr lang="en-US" sz="950" b="1" dirty="0">
                <a:solidFill>
                  <a:srgbClr val="4C3B8A"/>
                </a:solidFill>
                <a:latin typeface="Calibri" pitchFamily="34" charset="0"/>
                <a:ea typeface="Calibri" pitchFamily="34" charset="-122"/>
                <a:cs typeface="Calibri" pitchFamily="34" charset="-120"/>
              </a:rPr>
              <a:t>Role definition + SOP anchor</a:t>
            </a:r>
            <a:endParaRPr lang="en-US" sz="950" dirty="0"/>
          </a:p>
        </p:txBody>
      </p:sp>
      <p:sp>
        <p:nvSpPr>
          <p:cNvPr id="10" name="Text 8"/>
          <p:cNvSpPr/>
          <p:nvPr/>
        </p:nvSpPr>
        <p:spPr>
          <a:xfrm>
            <a:off x="1920240" y="1728216"/>
            <a:ext cx="6675120" cy="640080"/>
          </a:xfrm>
          <a:prstGeom prst="rect">
            <a:avLst/>
          </a:prstGeom>
          <a:noFill/>
          <a:ln/>
        </p:spPr>
        <p:txBody>
          <a:bodyPr wrap="square" lIns="0" tIns="0" rIns="0" bIns="0" rtlCol="0" anchor="ctr"/>
          <a:lstStyle/>
          <a:p>
            <a:pPr indent="0" marL="0">
              <a:buNone/>
            </a:pPr>
            <a:r>
              <a:rPr lang="en-US" sz="950" dirty="0">
                <a:solidFill>
                  <a:srgbClr val="1A202C"/>
                </a:solidFill>
                <a:latin typeface="Calibri" pitchFamily="34" charset="0"/>
                <a:ea typeface="Calibri" pitchFamily="34" charset="-122"/>
                <a:cs typeface="Calibri" pitchFamily="34" charset="-120"/>
              </a:rPr>
              <a:t>You are AuditAI, an expert auditor for Harshwal &amp; Company LLP. You follow HCLLP SOPs exactly and cite section numbers in all findings.</a:t>
            </a:r>
            <a:endParaRPr lang="en-US" sz="950" dirty="0"/>
          </a:p>
        </p:txBody>
      </p:sp>
      <p:sp>
        <p:nvSpPr>
          <p:cNvPr id="11" name="Shape 9"/>
          <p:cNvSpPr/>
          <p:nvPr/>
        </p:nvSpPr>
        <p:spPr>
          <a:xfrm>
            <a:off x="365760" y="2606040"/>
            <a:ext cx="1280160" cy="1005840"/>
          </a:xfrm>
          <a:prstGeom prst="rect">
            <a:avLst/>
          </a:prstGeom>
          <a:solidFill>
            <a:srgbClr val="0F7173"/>
          </a:solidFill>
          <a:ln w="12700">
            <a:solidFill>
              <a:srgbClr val="0F7173"/>
            </a:solidFill>
            <a:prstDash val="solid"/>
          </a:ln>
        </p:spPr>
      </p:sp>
      <p:sp>
        <p:nvSpPr>
          <p:cNvPr id="12" name="Text 10"/>
          <p:cNvSpPr/>
          <p:nvPr/>
        </p:nvSpPr>
        <p:spPr>
          <a:xfrm>
            <a:off x="365760" y="2606040"/>
            <a:ext cx="128016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user</a:t>
            </a:r>
            <a:endParaRPr lang="en-US" sz="1300" dirty="0"/>
          </a:p>
        </p:txBody>
      </p:sp>
      <p:sp>
        <p:nvSpPr>
          <p:cNvPr id="13" name="Shape 11"/>
          <p:cNvSpPr/>
          <p:nvPr/>
        </p:nvSpPr>
        <p:spPr>
          <a:xfrm>
            <a:off x="1737360" y="2606040"/>
            <a:ext cx="7040880" cy="1005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1920240" y="2679192"/>
            <a:ext cx="6675120" cy="219456"/>
          </a:xfrm>
          <a:prstGeom prst="rect">
            <a:avLst/>
          </a:prstGeom>
          <a:noFill/>
          <a:ln/>
        </p:spPr>
        <p:txBody>
          <a:bodyPr wrap="square" lIns="0" tIns="0" rIns="0" bIns="0" rtlCol="0" anchor="ctr"/>
          <a:lstStyle/>
          <a:p>
            <a:pPr indent="0" marL="0">
              <a:buNone/>
            </a:pPr>
            <a:r>
              <a:rPr lang="en-US" sz="950" b="1" dirty="0">
                <a:solidFill>
                  <a:srgbClr val="0F7173"/>
                </a:solidFill>
                <a:latin typeface="Calibri" pitchFamily="34" charset="0"/>
                <a:ea typeface="Calibri" pitchFamily="34" charset="-122"/>
                <a:cs typeface="Calibri" pitchFamily="34" charset="-120"/>
              </a:rPr>
              <a:t>Workpaper context + all 5 labels + document content</a:t>
            </a:r>
            <a:endParaRPr lang="en-US" sz="950" dirty="0"/>
          </a:p>
        </p:txBody>
      </p:sp>
      <p:sp>
        <p:nvSpPr>
          <p:cNvPr id="15" name="Text 13"/>
          <p:cNvSpPr/>
          <p:nvPr/>
        </p:nvSpPr>
        <p:spPr>
          <a:xfrm>
            <a:off x="1920240" y="2916936"/>
            <a:ext cx="6675120" cy="640080"/>
          </a:xfrm>
          <a:prstGeom prst="rect">
            <a:avLst/>
          </a:prstGeom>
          <a:noFill/>
          <a:ln/>
        </p:spPr>
        <p:txBody>
          <a:bodyPr wrap="square" lIns="0" tIns="0" rIns="0" bIns="0" rtlCol="0" anchor="ctr"/>
          <a:lstStyle/>
          <a:p>
            <a:pPr indent="0" marL="0">
              <a:buNone/>
            </a:pPr>
            <a:r>
              <a:rPr lang="en-US" sz="950" dirty="0">
                <a:solidFill>
                  <a:srgbClr val="1A202C"/>
                </a:solidFill>
                <a:latin typeface="Calibri" pitchFamily="34" charset="0"/>
                <a:ea typeface="Calibri" pitchFamily="34" charset="-122"/>
                <a:cs typeface="Calibri" pitchFamily="34" charset="-120"/>
              </a:rPr>
              <a:t>Workpaper type: PPC  |  Client: NPO  |  is_gagas: false  |  has_single_audit: false  |  Phase: Planning</a:t>
            </a:r>
            <a:endParaRPr lang="en-US" sz="950" dirty="0"/>
          </a:p>
          <a:p>
            <a:pPr indent="0" marL="0">
              <a:buNone/>
            </a:pPr>
            <a:r>
              <a:rPr lang="en-US" sz="950" dirty="0">
                <a:solidFill>
                  <a:srgbClr val="1A202C"/>
                </a:solidFill>
                <a:latin typeface="Calibri" pitchFamily="34" charset="0"/>
                <a:ea typeface="Calibri" pitchFamily="34" charset="-122"/>
                <a:cs typeface="Calibri" pitchFamily="34" charset="-120"/>
              </a:rPr>
              <a:t>---</a:t>
            </a:r>
            <a:endParaRPr lang="en-US" sz="950" dirty="0"/>
          </a:p>
          <a:p>
            <a:pPr indent="0" marL="0">
              <a:buNone/>
            </a:pPr>
            <a:r>
              <a:rPr lang="en-US" sz="950" dirty="0">
                <a:solidFill>
                  <a:srgbClr val="1A202C"/>
                </a:solidFill>
                <a:latin typeface="Calibri" pitchFamily="34" charset="0"/>
                <a:ea typeface="Calibri" pitchFamily="34" charset="-122"/>
                <a:cs typeface="Calibri" pitchFamily="34" charset="-120"/>
              </a:rPr>
              <a:t>Review this Engagement Acceptance Form and flag missing fields, independence issues, or SOP deviations.</a:t>
            </a:r>
            <a:endParaRPr lang="en-US" sz="950" dirty="0"/>
          </a:p>
        </p:txBody>
      </p:sp>
      <p:sp>
        <p:nvSpPr>
          <p:cNvPr id="16" name="Shape 14"/>
          <p:cNvSpPr/>
          <p:nvPr/>
        </p:nvSpPr>
        <p:spPr>
          <a:xfrm>
            <a:off x="365760" y="3794760"/>
            <a:ext cx="1280160" cy="1005840"/>
          </a:xfrm>
          <a:prstGeom prst="rect">
            <a:avLst/>
          </a:prstGeom>
          <a:solidFill>
            <a:srgbClr val="E09F3E"/>
          </a:solidFill>
          <a:ln w="12700">
            <a:solidFill>
              <a:srgbClr val="E09F3E"/>
            </a:solidFill>
            <a:prstDash val="solid"/>
          </a:ln>
        </p:spPr>
      </p:sp>
      <p:sp>
        <p:nvSpPr>
          <p:cNvPr id="17" name="Text 15"/>
          <p:cNvSpPr/>
          <p:nvPr/>
        </p:nvSpPr>
        <p:spPr>
          <a:xfrm>
            <a:off x="365760" y="3794760"/>
            <a:ext cx="128016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assistant</a:t>
            </a:r>
            <a:endParaRPr lang="en-US" sz="1300" dirty="0"/>
          </a:p>
        </p:txBody>
      </p:sp>
      <p:sp>
        <p:nvSpPr>
          <p:cNvPr id="18" name="Shape 16"/>
          <p:cNvSpPr/>
          <p:nvPr/>
        </p:nvSpPr>
        <p:spPr>
          <a:xfrm>
            <a:off x="1737360" y="3794760"/>
            <a:ext cx="7040880" cy="10058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9" name="Text 17"/>
          <p:cNvSpPr/>
          <p:nvPr/>
        </p:nvSpPr>
        <p:spPr>
          <a:xfrm>
            <a:off x="1920240" y="3867912"/>
            <a:ext cx="6675120" cy="219456"/>
          </a:xfrm>
          <a:prstGeom prst="rect">
            <a:avLst/>
          </a:prstGeom>
          <a:noFill/>
          <a:ln/>
        </p:spPr>
        <p:txBody>
          <a:bodyPr wrap="square" lIns="0" tIns="0" rIns="0" bIns="0" rtlCol="0" anchor="ctr"/>
          <a:lstStyle/>
          <a:p>
            <a:pPr indent="0" marL="0">
              <a:buNone/>
            </a:pPr>
            <a:r>
              <a:rPr lang="en-US" sz="950" b="1" dirty="0">
                <a:solidFill>
                  <a:srgbClr val="E09F3E"/>
                </a:solidFill>
                <a:latin typeface="Calibri" pitchFamily="34" charset="0"/>
                <a:ea typeface="Calibri" pitchFamily="34" charset="-122"/>
                <a:cs typeface="Calibri" pitchFamily="34" charset="-120"/>
              </a:rPr>
              <a:t>Structured, SOP-cited ideal output from a senior auditor</a:t>
            </a:r>
            <a:endParaRPr lang="en-US" sz="950" dirty="0"/>
          </a:p>
        </p:txBody>
      </p:sp>
      <p:sp>
        <p:nvSpPr>
          <p:cNvPr id="20" name="Text 18"/>
          <p:cNvSpPr/>
          <p:nvPr/>
        </p:nvSpPr>
        <p:spPr>
          <a:xfrm>
            <a:off x="1920240" y="4105656"/>
            <a:ext cx="6675120" cy="640080"/>
          </a:xfrm>
          <a:prstGeom prst="rect">
            <a:avLst/>
          </a:prstGeom>
          <a:noFill/>
          <a:ln/>
        </p:spPr>
        <p:txBody>
          <a:bodyPr wrap="square" lIns="0" tIns="0" rIns="0" bIns="0" rtlCol="0" anchor="ctr"/>
          <a:lstStyle/>
          <a:p>
            <a:pPr indent="0" marL="0">
              <a:buNone/>
            </a:pPr>
            <a:r>
              <a:rPr lang="en-US" sz="950" dirty="0">
                <a:solidFill>
                  <a:srgbClr val="1A202C"/>
                </a:solidFill>
                <a:latin typeface="Calibri" pitchFamily="34" charset="0"/>
                <a:ea typeface="Calibri" pitchFamily="34" charset="-122"/>
                <a:cs typeface="Calibri" pitchFamily="34" charset="-120"/>
              </a:rPr>
              <a:t>Review complete. Engagement: NPO-GAAS. FINDINGS: 1. Partner independence sign-off blank — required per SOP §2.1.  2. Risk score not populated — required before acceptance per SOP §2.3.  RECOMMENDATION: Do not accept until items 1–2 resolved.</a:t>
            </a:r>
            <a:endParaRPr lang="en-US" sz="950" dirty="0"/>
          </a:p>
        </p:txBody>
      </p:sp>
      <p:sp>
        <p:nvSpPr>
          <p:cNvPr id="21" name="Shape 19"/>
          <p:cNvSpPr/>
          <p:nvPr/>
        </p:nvSpPr>
        <p:spPr>
          <a:xfrm>
            <a:off x="365760" y="4663440"/>
            <a:ext cx="8412480" cy="274320"/>
          </a:xfrm>
          <a:prstGeom prst="rect">
            <a:avLst/>
          </a:prstGeom>
          <a:solidFill>
            <a:srgbClr val="EFECFB"/>
          </a:solidFill>
          <a:ln w="12700">
            <a:solidFill>
              <a:srgbClr val="4C3B8A"/>
            </a:solidFill>
            <a:prstDash val="solid"/>
          </a:ln>
        </p:spPr>
      </p:sp>
      <p:sp>
        <p:nvSpPr>
          <p:cNvPr id="22" name="Text 20"/>
          <p:cNvSpPr/>
          <p:nvPr/>
        </p:nvSpPr>
        <p:spPr>
          <a:xfrm>
            <a:off x="502920" y="4663440"/>
            <a:ext cx="8229600" cy="274320"/>
          </a:xfrm>
          <a:prstGeom prst="rect">
            <a:avLst/>
          </a:prstGeom>
          <a:noFill/>
          <a:ln/>
        </p:spPr>
        <p:txBody>
          <a:bodyPr wrap="square" lIns="0" tIns="0" rIns="0" bIns="0" rtlCol="0" anchor="ctr"/>
          <a:lstStyle/>
          <a:p>
            <a:pPr indent="0" marL="0">
              <a:buNone/>
            </a:pPr>
            <a:r>
              <a:rPr lang="en-US" sz="950" dirty="0">
                <a:solidFill>
                  <a:srgbClr val="4C3B8A"/>
                </a:solidFill>
                <a:latin typeface="Calibri" pitchFamily="34" charset="0"/>
                <a:ea typeface="Calibri" pitchFamily="34" charset="-122"/>
                <a:cs typeface="Calibri" pitchFamily="34" charset="-120"/>
              </a:rPr>
              <a:t>Rules: 10–20 pairs per workpaper type  ·  Vary client_type across all 4 combinations  ·  Every finding must cite SOP §X.X  ·  90/10 train/validation split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1828800" cy="256032"/>
          </a:xfrm>
          <a:prstGeom prst="rect">
            <a:avLst/>
          </a:prstGeom>
          <a:solidFill>
            <a:srgbClr val="0F7173"/>
          </a:solidFill>
          <a:ln w="12700">
            <a:solidFill>
              <a:srgbClr val="0F7173"/>
            </a:solidFill>
            <a:prstDash val="solid"/>
          </a:ln>
        </p:spPr>
      </p:sp>
      <p:sp>
        <p:nvSpPr>
          <p:cNvPr id="3" name="Text 1"/>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900" b="1" dirty="0">
                <a:solidFill>
                  <a:srgbClr val="FFFFFF"/>
                </a:solidFill>
              </a:rPr>
              <a:t>07 · RUNTIME STACK</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Runtime stack — packages, parsers, config</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Pin every version. A dependency upgrade can silently break embedding output.</a:t>
            </a:r>
            <a:endParaRPr lang="en-US" sz="1200" dirty="0"/>
          </a:p>
        </p:txBody>
      </p:sp>
      <p:sp>
        <p:nvSpPr>
          <p:cNvPr id="6" name="Shape 4"/>
          <p:cNvSpPr/>
          <p:nvPr/>
        </p:nvSpPr>
        <p:spPr>
          <a:xfrm>
            <a:off x="365760" y="1371600"/>
            <a:ext cx="2743200" cy="329184"/>
          </a:xfrm>
          <a:prstGeom prst="rect">
            <a:avLst/>
          </a:prstGeom>
          <a:solidFill>
            <a:srgbClr val="0F7173"/>
          </a:solidFill>
          <a:ln w="12700">
            <a:solidFill>
              <a:srgbClr val="0F7173"/>
            </a:solidFill>
            <a:prstDash val="solid"/>
          </a:ln>
        </p:spPr>
      </p:sp>
      <p:sp>
        <p:nvSpPr>
          <p:cNvPr id="7" name="Text 5"/>
          <p:cNvSpPr/>
          <p:nvPr/>
        </p:nvSpPr>
        <p:spPr>
          <a:xfrm>
            <a:off x="365760" y="1371600"/>
            <a:ext cx="27432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 runtime</a:t>
            </a:r>
            <a:endParaRPr lang="en-US" sz="1100" dirty="0"/>
          </a:p>
        </p:txBody>
      </p:sp>
      <p:sp>
        <p:nvSpPr>
          <p:cNvPr id="8" name="Shape 6"/>
          <p:cNvSpPr/>
          <p:nvPr/>
        </p:nvSpPr>
        <p:spPr>
          <a:xfrm>
            <a:off x="365760" y="1700784"/>
            <a:ext cx="2743200" cy="365760"/>
          </a:xfrm>
          <a:prstGeom prst="rect">
            <a:avLst/>
          </a:prstGeom>
          <a:solidFill>
            <a:srgbClr val="FFFFFF"/>
          </a:solidFill>
          <a:ln w="12700">
            <a:solidFill>
              <a:srgbClr val="E2E8F0"/>
            </a:solidFill>
            <a:prstDash val="solid"/>
          </a:ln>
        </p:spPr>
      </p:sp>
      <p:sp>
        <p:nvSpPr>
          <p:cNvPr id="9" name="Text 7"/>
          <p:cNvSpPr/>
          <p:nvPr/>
        </p:nvSpPr>
        <p:spPr>
          <a:xfrm>
            <a:off x="457200" y="1700784"/>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Language</a:t>
            </a:r>
            <a:endParaRPr lang="en-US" sz="900" dirty="0"/>
          </a:p>
        </p:txBody>
      </p:sp>
      <p:sp>
        <p:nvSpPr>
          <p:cNvPr id="10" name="Text 8"/>
          <p:cNvSpPr/>
          <p:nvPr/>
        </p:nvSpPr>
        <p:spPr>
          <a:xfrm>
            <a:off x="1463040" y="1700784"/>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Python 3.11+</a:t>
            </a:r>
            <a:endParaRPr lang="en-US" sz="900" dirty="0"/>
          </a:p>
        </p:txBody>
      </p:sp>
      <p:sp>
        <p:nvSpPr>
          <p:cNvPr id="11" name="Shape 9"/>
          <p:cNvSpPr/>
          <p:nvPr/>
        </p:nvSpPr>
        <p:spPr>
          <a:xfrm>
            <a:off x="365760" y="2084832"/>
            <a:ext cx="2743200" cy="365760"/>
          </a:xfrm>
          <a:prstGeom prst="rect">
            <a:avLst/>
          </a:prstGeom>
          <a:solidFill>
            <a:srgbClr val="EDF2F7"/>
          </a:solidFill>
          <a:ln w="12700">
            <a:solidFill>
              <a:srgbClr val="E2E8F0"/>
            </a:solidFill>
            <a:prstDash val="solid"/>
          </a:ln>
        </p:spPr>
      </p:sp>
      <p:sp>
        <p:nvSpPr>
          <p:cNvPr id="12" name="Text 10"/>
          <p:cNvSpPr/>
          <p:nvPr/>
        </p:nvSpPr>
        <p:spPr>
          <a:xfrm>
            <a:off x="457200" y="2084832"/>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RAG framework</a:t>
            </a:r>
            <a:endParaRPr lang="en-US" sz="900" dirty="0"/>
          </a:p>
        </p:txBody>
      </p:sp>
      <p:sp>
        <p:nvSpPr>
          <p:cNvPr id="13" name="Text 11"/>
          <p:cNvSpPr/>
          <p:nvPr/>
        </p:nvSpPr>
        <p:spPr>
          <a:xfrm>
            <a:off x="1463040" y="2084832"/>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LangChain or LlamaIndex</a:t>
            </a:r>
            <a:endParaRPr lang="en-US" sz="900" dirty="0"/>
          </a:p>
        </p:txBody>
      </p:sp>
      <p:sp>
        <p:nvSpPr>
          <p:cNvPr id="14" name="Shape 12"/>
          <p:cNvSpPr/>
          <p:nvPr/>
        </p:nvSpPr>
        <p:spPr>
          <a:xfrm>
            <a:off x="365760" y="2468880"/>
            <a:ext cx="2743200" cy="365760"/>
          </a:xfrm>
          <a:prstGeom prst="rect">
            <a:avLst/>
          </a:prstGeom>
          <a:solidFill>
            <a:srgbClr val="FFFFFF"/>
          </a:solidFill>
          <a:ln w="12700">
            <a:solidFill>
              <a:srgbClr val="E2E8F0"/>
            </a:solidFill>
            <a:prstDash val="solid"/>
          </a:ln>
        </p:spPr>
      </p:sp>
      <p:sp>
        <p:nvSpPr>
          <p:cNvPr id="15" name="Text 13"/>
          <p:cNvSpPr/>
          <p:nvPr/>
        </p:nvSpPr>
        <p:spPr>
          <a:xfrm>
            <a:off x="457200" y="2468880"/>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Qdrant client</a:t>
            </a:r>
            <a:endParaRPr lang="en-US" sz="900" dirty="0"/>
          </a:p>
        </p:txBody>
      </p:sp>
      <p:sp>
        <p:nvSpPr>
          <p:cNvPr id="16" name="Text 14"/>
          <p:cNvSpPr/>
          <p:nvPr/>
        </p:nvSpPr>
        <p:spPr>
          <a:xfrm>
            <a:off x="1463040" y="2468880"/>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qdrant-client (Python)</a:t>
            </a:r>
            <a:endParaRPr lang="en-US" sz="900" dirty="0"/>
          </a:p>
        </p:txBody>
      </p:sp>
      <p:sp>
        <p:nvSpPr>
          <p:cNvPr id="17" name="Shape 15"/>
          <p:cNvSpPr/>
          <p:nvPr/>
        </p:nvSpPr>
        <p:spPr>
          <a:xfrm>
            <a:off x="365760" y="2852928"/>
            <a:ext cx="2743200" cy="365760"/>
          </a:xfrm>
          <a:prstGeom prst="rect">
            <a:avLst/>
          </a:prstGeom>
          <a:solidFill>
            <a:srgbClr val="EDF2F7"/>
          </a:solidFill>
          <a:ln w="12700">
            <a:solidFill>
              <a:srgbClr val="E2E8F0"/>
            </a:solidFill>
            <a:prstDash val="solid"/>
          </a:ln>
        </p:spPr>
      </p:sp>
      <p:sp>
        <p:nvSpPr>
          <p:cNvPr id="18" name="Text 16"/>
          <p:cNvSpPr/>
          <p:nvPr/>
        </p:nvSpPr>
        <p:spPr>
          <a:xfrm>
            <a:off x="457200" y="2852928"/>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ORM</a:t>
            </a:r>
            <a:endParaRPr lang="en-US" sz="900" dirty="0"/>
          </a:p>
        </p:txBody>
      </p:sp>
      <p:sp>
        <p:nvSpPr>
          <p:cNvPr id="19" name="Text 17"/>
          <p:cNvSpPr/>
          <p:nvPr/>
        </p:nvSpPr>
        <p:spPr>
          <a:xfrm>
            <a:off x="1463040" y="2852928"/>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SQLAlchemy + psycopg2</a:t>
            </a:r>
            <a:endParaRPr lang="en-US" sz="900" dirty="0"/>
          </a:p>
        </p:txBody>
      </p:sp>
      <p:sp>
        <p:nvSpPr>
          <p:cNvPr id="20" name="Shape 18"/>
          <p:cNvSpPr/>
          <p:nvPr/>
        </p:nvSpPr>
        <p:spPr>
          <a:xfrm>
            <a:off x="365760" y="3236976"/>
            <a:ext cx="2743200" cy="365760"/>
          </a:xfrm>
          <a:prstGeom prst="rect">
            <a:avLst/>
          </a:prstGeom>
          <a:solidFill>
            <a:srgbClr val="FFFFFF"/>
          </a:solidFill>
          <a:ln w="12700">
            <a:solidFill>
              <a:srgbClr val="E2E8F0"/>
            </a:solidFill>
            <a:prstDash val="solid"/>
          </a:ln>
        </p:spPr>
      </p:sp>
      <p:sp>
        <p:nvSpPr>
          <p:cNvPr id="21" name="Text 19"/>
          <p:cNvSpPr/>
          <p:nvPr/>
        </p:nvSpPr>
        <p:spPr>
          <a:xfrm>
            <a:off x="457200" y="3236976"/>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Config</a:t>
            </a:r>
            <a:endParaRPr lang="en-US" sz="900" dirty="0"/>
          </a:p>
        </p:txBody>
      </p:sp>
      <p:sp>
        <p:nvSpPr>
          <p:cNvPr id="22" name="Text 20"/>
          <p:cNvSpPr/>
          <p:nvPr/>
        </p:nvSpPr>
        <p:spPr>
          <a:xfrm>
            <a:off x="1463040" y="3236976"/>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pydantic-settings + python-dotenv</a:t>
            </a:r>
            <a:endParaRPr lang="en-US" sz="900" dirty="0"/>
          </a:p>
        </p:txBody>
      </p:sp>
      <p:sp>
        <p:nvSpPr>
          <p:cNvPr id="23" name="Shape 21"/>
          <p:cNvSpPr/>
          <p:nvPr/>
        </p:nvSpPr>
        <p:spPr>
          <a:xfrm>
            <a:off x="365760" y="3621024"/>
            <a:ext cx="2743200" cy="365760"/>
          </a:xfrm>
          <a:prstGeom prst="rect">
            <a:avLst/>
          </a:prstGeom>
          <a:solidFill>
            <a:srgbClr val="EDF2F7"/>
          </a:solidFill>
          <a:ln w="12700">
            <a:solidFill>
              <a:srgbClr val="E2E8F0"/>
            </a:solidFill>
            <a:prstDash val="solid"/>
          </a:ln>
        </p:spPr>
      </p:sp>
      <p:sp>
        <p:nvSpPr>
          <p:cNvPr id="24" name="Text 22"/>
          <p:cNvSpPr/>
          <p:nvPr/>
        </p:nvSpPr>
        <p:spPr>
          <a:xfrm>
            <a:off x="457200" y="3621024"/>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Secrets</a:t>
            </a:r>
            <a:endParaRPr lang="en-US" sz="900" dirty="0"/>
          </a:p>
        </p:txBody>
      </p:sp>
      <p:sp>
        <p:nvSpPr>
          <p:cNvPr id="25" name="Text 23"/>
          <p:cNvSpPr/>
          <p:nvPr/>
        </p:nvSpPr>
        <p:spPr>
          <a:xfrm>
            <a:off x="1463040" y="3621024"/>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.env  →  never hardcode</a:t>
            </a:r>
            <a:endParaRPr lang="en-US" sz="900" dirty="0"/>
          </a:p>
        </p:txBody>
      </p:sp>
      <p:sp>
        <p:nvSpPr>
          <p:cNvPr id="26" name="Shape 24"/>
          <p:cNvSpPr/>
          <p:nvPr/>
        </p:nvSpPr>
        <p:spPr>
          <a:xfrm>
            <a:off x="3291840" y="1371600"/>
            <a:ext cx="2743200" cy="329184"/>
          </a:xfrm>
          <a:prstGeom prst="rect">
            <a:avLst/>
          </a:prstGeom>
          <a:solidFill>
            <a:srgbClr val="4C3B8A"/>
          </a:solidFill>
          <a:ln w="12700">
            <a:solidFill>
              <a:srgbClr val="4C3B8A"/>
            </a:solidFill>
            <a:prstDash val="solid"/>
          </a:ln>
        </p:spPr>
      </p:sp>
      <p:sp>
        <p:nvSpPr>
          <p:cNvPr id="27" name="Text 25"/>
          <p:cNvSpPr/>
          <p:nvPr/>
        </p:nvSpPr>
        <p:spPr>
          <a:xfrm>
            <a:off x="3291840" y="1371600"/>
            <a:ext cx="27432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Document parsers</a:t>
            </a:r>
            <a:endParaRPr lang="en-US" sz="1100" dirty="0"/>
          </a:p>
        </p:txBody>
      </p:sp>
      <p:sp>
        <p:nvSpPr>
          <p:cNvPr id="28" name="Shape 26"/>
          <p:cNvSpPr/>
          <p:nvPr/>
        </p:nvSpPr>
        <p:spPr>
          <a:xfrm>
            <a:off x="3291840" y="1700784"/>
            <a:ext cx="2743200" cy="365760"/>
          </a:xfrm>
          <a:prstGeom prst="rect">
            <a:avLst/>
          </a:prstGeom>
          <a:solidFill>
            <a:srgbClr val="FFFFFF"/>
          </a:solidFill>
          <a:ln w="12700">
            <a:solidFill>
              <a:srgbClr val="E2E8F0"/>
            </a:solidFill>
            <a:prstDash val="solid"/>
          </a:ln>
        </p:spPr>
      </p:sp>
      <p:sp>
        <p:nvSpPr>
          <p:cNvPr id="29" name="Text 27"/>
          <p:cNvSpPr/>
          <p:nvPr/>
        </p:nvSpPr>
        <p:spPr>
          <a:xfrm>
            <a:off x="3383280" y="1700784"/>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PDF — text</a:t>
            </a:r>
            <a:endParaRPr lang="en-US" sz="900" dirty="0"/>
          </a:p>
        </p:txBody>
      </p:sp>
      <p:sp>
        <p:nvSpPr>
          <p:cNvPr id="30" name="Text 28"/>
          <p:cNvSpPr/>
          <p:nvPr/>
        </p:nvSpPr>
        <p:spPr>
          <a:xfrm>
            <a:off x="4389120" y="1700784"/>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pypdf</a:t>
            </a:r>
            <a:endParaRPr lang="en-US" sz="900" dirty="0"/>
          </a:p>
        </p:txBody>
      </p:sp>
      <p:sp>
        <p:nvSpPr>
          <p:cNvPr id="31" name="Shape 29"/>
          <p:cNvSpPr/>
          <p:nvPr/>
        </p:nvSpPr>
        <p:spPr>
          <a:xfrm>
            <a:off x="3291840" y="2084832"/>
            <a:ext cx="2743200" cy="365760"/>
          </a:xfrm>
          <a:prstGeom prst="rect">
            <a:avLst/>
          </a:prstGeom>
          <a:solidFill>
            <a:srgbClr val="EDF2F7"/>
          </a:solidFill>
          <a:ln w="12700">
            <a:solidFill>
              <a:srgbClr val="E2E8F0"/>
            </a:solidFill>
            <a:prstDash val="solid"/>
          </a:ln>
        </p:spPr>
      </p:sp>
      <p:sp>
        <p:nvSpPr>
          <p:cNvPr id="32" name="Text 30"/>
          <p:cNvSpPr/>
          <p:nvPr/>
        </p:nvSpPr>
        <p:spPr>
          <a:xfrm>
            <a:off x="3383280" y="2084832"/>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PDF — tables</a:t>
            </a:r>
            <a:endParaRPr lang="en-US" sz="900" dirty="0"/>
          </a:p>
        </p:txBody>
      </p:sp>
      <p:sp>
        <p:nvSpPr>
          <p:cNvPr id="33" name="Text 31"/>
          <p:cNvSpPr/>
          <p:nvPr/>
        </p:nvSpPr>
        <p:spPr>
          <a:xfrm>
            <a:off x="4389120" y="2084832"/>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pdfplumber</a:t>
            </a:r>
            <a:endParaRPr lang="en-US" sz="900" dirty="0"/>
          </a:p>
        </p:txBody>
      </p:sp>
      <p:sp>
        <p:nvSpPr>
          <p:cNvPr id="34" name="Shape 32"/>
          <p:cNvSpPr/>
          <p:nvPr/>
        </p:nvSpPr>
        <p:spPr>
          <a:xfrm>
            <a:off x="3291840" y="2468880"/>
            <a:ext cx="2743200" cy="365760"/>
          </a:xfrm>
          <a:prstGeom prst="rect">
            <a:avLst/>
          </a:prstGeom>
          <a:solidFill>
            <a:srgbClr val="FFFFFF"/>
          </a:solidFill>
          <a:ln w="12700">
            <a:solidFill>
              <a:srgbClr val="E2E8F0"/>
            </a:solidFill>
            <a:prstDash val="solid"/>
          </a:ln>
        </p:spPr>
      </p:sp>
      <p:sp>
        <p:nvSpPr>
          <p:cNvPr id="35" name="Text 33"/>
          <p:cNvSpPr/>
          <p:nvPr/>
        </p:nvSpPr>
        <p:spPr>
          <a:xfrm>
            <a:off x="3383280" y="2468880"/>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Word (.docx)</a:t>
            </a:r>
            <a:endParaRPr lang="en-US" sz="900" dirty="0"/>
          </a:p>
        </p:txBody>
      </p:sp>
      <p:sp>
        <p:nvSpPr>
          <p:cNvPr id="36" name="Text 34"/>
          <p:cNvSpPr/>
          <p:nvPr/>
        </p:nvSpPr>
        <p:spPr>
          <a:xfrm>
            <a:off x="4389120" y="2468880"/>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python-docx</a:t>
            </a:r>
            <a:endParaRPr lang="en-US" sz="900" dirty="0"/>
          </a:p>
        </p:txBody>
      </p:sp>
      <p:sp>
        <p:nvSpPr>
          <p:cNvPr id="37" name="Shape 35"/>
          <p:cNvSpPr/>
          <p:nvPr/>
        </p:nvSpPr>
        <p:spPr>
          <a:xfrm>
            <a:off x="3291840" y="2852928"/>
            <a:ext cx="2743200" cy="365760"/>
          </a:xfrm>
          <a:prstGeom prst="rect">
            <a:avLst/>
          </a:prstGeom>
          <a:solidFill>
            <a:srgbClr val="EDF2F7"/>
          </a:solidFill>
          <a:ln w="12700">
            <a:solidFill>
              <a:srgbClr val="E2E8F0"/>
            </a:solidFill>
            <a:prstDash val="solid"/>
          </a:ln>
        </p:spPr>
      </p:sp>
      <p:sp>
        <p:nvSpPr>
          <p:cNvPr id="38" name="Text 36"/>
          <p:cNvSpPr/>
          <p:nvPr/>
        </p:nvSpPr>
        <p:spPr>
          <a:xfrm>
            <a:off x="3383280" y="2852928"/>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Excel (.xlsx)</a:t>
            </a:r>
            <a:endParaRPr lang="en-US" sz="900" dirty="0"/>
          </a:p>
        </p:txBody>
      </p:sp>
      <p:sp>
        <p:nvSpPr>
          <p:cNvPr id="39" name="Text 37"/>
          <p:cNvSpPr/>
          <p:nvPr/>
        </p:nvSpPr>
        <p:spPr>
          <a:xfrm>
            <a:off x="4389120" y="2852928"/>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openpyxl</a:t>
            </a:r>
            <a:endParaRPr lang="en-US" sz="900" dirty="0"/>
          </a:p>
        </p:txBody>
      </p:sp>
      <p:sp>
        <p:nvSpPr>
          <p:cNvPr id="40" name="Shape 38"/>
          <p:cNvSpPr/>
          <p:nvPr/>
        </p:nvSpPr>
        <p:spPr>
          <a:xfrm>
            <a:off x="3291840" y="3236976"/>
            <a:ext cx="2743200" cy="365760"/>
          </a:xfrm>
          <a:prstGeom prst="rect">
            <a:avLst/>
          </a:prstGeom>
          <a:solidFill>
            <a:srgbClr val="FFFFFF"/>
          </a:solidFill>
          <a:ln w="12700">
            <a:solidFill>
              <a:srgbClr val="E2E8F0"/>
            </a:solidFill>
            <a:prstDash val="solid"/>
          </a:ln>
        </p:spPr>
      </p:sp>
      <p:sp>
        <p:nvSpPr>
          <p:cNvPr id="41" name="Text 39"/>
          <p:cNvSpPr/>
          <p:nvPr/>
        </p:nvSpPr>
        <p:spPr>
          <a:xfrm>
            <a:off x="3383280" y="3236976"/>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Tokenizer</a:t>
            </a:r>
            <a:endParaRPr lang="en-US" sz="900" dirty="0"/>
          </a:p>
        </p:txBody>
      </p:sp>
      <p:sp>
        <p:nvSpPr>
          <p:cNvPr id="42" name="Text 40"/>
          <p:cNvSpPr/>
          <p:nvPr/>
        </p:nvSpPr>
        <p:spPr>
          <a:xfrm>
            <a:off x="4389120" y="3236976"/>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tiktoken (for chunk sizing)</a:t>
            </a:r>
            <a:endParaRPr lang="en-US" sz="900" dirty="0"/>
          </a:p>
        </p:txBody>
      </p:sp>
      <p:sp>
        <p:nvSpPr>
          <p:cNvPr id="43" name="Shape 41"/>
          <p:cNvSpPr/>
          <p:nvPr/>
        </p:nvSpPr>
        <p:spPr>
          <a:xfrm>
            <a:off x="3291840" y="3621024"/>
            <a:ext cx="2743200" cy="365760"/>
          </a:xfrm>
          <a:prstGeom prst="rect">
            <a:avLst/>
          </a:prstGeom>
          <a:solidFill>
            <a:srgbClr val="EDF2F7"/>
          </a:solidFill>
          <a:ln w="12700">
            <a:solidFill>
              <a:srgbClr val="E2E8F0"/>
            </a:solidFill>
            <a:prstDash val="solid"/>
          </a:ln>
        </p:spPr>
      </p:sp>
      <p:sp>
        <p:nvSpPr>
          <p:cNvPr id="44" name="Text 42"/>
          <p:cNvSpPr/>
          <p:nvPr/>
        </p:nvSpPr>
        <p:spPr>
          <a:xfrm>
            <a:off x="3383280" y="3621024"/>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Chunking</a:t>
            </a:r>
            <a:endParaRPr lang="en-US" sz="900" dirty="0"/>
          </a:p>
        </p:txBody>
      </p:sp>
      <p:sp>
        <p:nvSpPr>
          <p:cNvPr id="45" name="Text 43"/>
          <p:cNvSpPr/>
          <p:nvPr/>
        </p:nvSpPr>
        <p:spPr>
          <a:xfrm>
            <a:off x="4389120" y="3621024"/>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langchain.text_splitter</a:t>
            </a:r>
            <a:endParaRPr lang="en-US" sz="900" dirty="0"/>
          </a:p>
        </p:txBody>
      </p:sp>
      <p:sp>
        <p:nvSpPr>
          <p:cNvPr id="46" name="Shape 44"/>
          <p:cNvSpPr/>
          <p:nvPr/>
        </p:nvSpPr>
        <p:spPr>
          <a:xfrm>
            <a:off x="6217920" y="1371600"/>
            <a:ext cx="2743200" cy="329184"/>
          </a:xfrm>
          <a:prstGeom prst="rect">
            <a:avLst/>
          </a:prstGeom>
          <a:solidFill>
            <a:srgbClr val="E09F3E"/>
          </a:solidFill>
          <a:ln w="12700">
            <a:solidFill>
              <a:srgbClr val="E09F3E"/>
            </a:solidFill>
            <a:prstDash val="solid"/>
          </a:ln>
        </p:spPr>
      </p:sp>
      <p:sp>
        <p:nvSpPr>
          <p:cNvPr id="47" name="Text 45"/>
          <p:cNvSpPr/>
          <p:nvPr/>
        </p:nvSpPr>
        <p:spPr>
          <a:xfrm>
            <a:off x="6217920" y="1371600"/>
            <a:ext cx="27432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Fine-tuning</a:t>
            </a:r>
            <a:endParaRPr lang="en-US" sz="1100" dirty="0"/>
          </a:p>
        </p:txBody>
      </p:sp>
      <p:sp>
        <p:nvSpPr>
          <p:cNvPr id="48" name="Shape 46"/>
          <p:cNvSpPr/>
          <p:nvPr/>
        </p:nvSpPr>
        <p:spPr>
          <a:xfrm>
            <a:off x="6217920" y="1700784"/>
            <a:ext cx="2743200" cy="365760"/>
          </a:xfrm>
          <a:prstGeom prst="rect">
            <a:avLst/>
          </a:prstGeom>
          <a:solidFill>
            <a:srgbClr val="FFFFFF"/>
          </a:solidFill>
          <a:ln w="12700">
            <a:solidFill>
              <a:srgbClr val="E2E8F0"/>
            </a:solidFill>
            <a:prstDash val="solid"/>
          </a:ln>
        </p:spPr>
      </p:sp>
      <p:sp>
        <p:nvSpPr>
          <p:cNvPr id="49" name="Text 47"/>
          <p:cNvSpPr/>
          <p:nvPr/>
        </p:nvSpPr>
        <p:spPr>
          <a:xfrm>
            <a:off x="6309360" y="1700784"/>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Platform A</a:t>
            </a:r>
            <a:endParaRPr lang="en-US" sz="900" dirty="0"/>
          </a:p>
        </p:txBody>
      </p:sp>
      <p:sp>
        <p:nvSpPr>
          <p:cNvPr id="50" name="Text 48"/>
          <p:cNvSpPr/>
          <p:nvPr/>
        </p:nvSpPr>
        <p:spPr>
          <a:xfrm>
            <a:off x="7315200" y="1700784"/>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OpenAI fine-tuning API (gpt-4o-mini)</a:t>
            </a:r>
            <a:endParaRPr lang="en-US" sz="900" dirty="0"/>
          </a:p>
        </p:txBody>
      </p:sp>
      <p:sp>
        <p:nvSpPr>
          <p:cNvPr id="51" name="Shape 49"/>
          <p:cNvSpPr/>
          <p:nvPr/>
        </p:nvSpPr>
        <p:spPr>
          <a:xfrm>
            <a:off x="6217920" y="2084832"/>
            <a:ext cx="2743200" cy="365760"/>
          </a:xfrm>
          <a:prstGeom prst="rect">
            <a:avLst/>
          </a:prstGeom>
          <a:solidFill>
            <a:srgbClr val="EDF2F7"/>
          </a:solidFill>
          <a:ln w="12700">
            <a:solidFill>
              <a:srgbClr val="E2E8F0"/>
            </a:solidFill>
            <a:prstDash val="solid"/>
          </a:ln>
        </p:spPr>
      </p:sp>
      <p:sp>
        <p:nvSpPr>
          <p:cNvPr id="52" name="Text 50"/>
          <p:cNvSpPr/>
          <p:nvPr/>
        </p:nvSpPr>
        <p:spPr>
          <a:xfrm>
            <a:off x="6309360" y="2084832"/>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Platform B</a:t>
            </a:r>
            <a:endParaRPr lang="en-US" sz="900" dirty="0"/>
          </a:p>
        </p:txBody>
      </p:sp>
      <p:sp>
        <p:nvSpPr>
          <p:cNvPr id="53" name="Text 51"/>
          <p:cNvSpPr/>
          <p:nvPr/>
        </p:nvSpPr>
        <p:spPr>
          <a:xfrm>
            <a:off x="7315200" y="2084832"/>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Hugging Face + LoRA (open models)</a:t>
            </a:r>
            <a:endParaRPr lang="en-US" sz="900" dirty="0"/>
          </a:p>
        </p:txBody>
      </p:sp>
      <p:sp>
        <p:nvSpPr>
          <p:cNvPr id="54" name="Shape 52"/>
          <p:cNvSpPr/>
          <p:nvPr/>
        </p:nvSpPr>
        <p:spPr>
          <a:xfrm>
            <a:off x="6217920" y="2468880"/>
            <a:ext cx="2743200" cy="365760"/>
          </a:xfrm>
          <a:prstGeom prst="rect">
            <a:avLst/>
          </a:prstGeom>
          <a:solidFill>
            <a:srgbClr val="FFFFFF"/>
          </a:solidFill>
          <a:ln w="12700">
            <a:solidFill>
              <a:srgbClr val="E2E8F0"/>
            </a:solidFill>
            <a:prstDash val="solid"/>
          </a:ln>
        </p:spPr>
      </p:sp>
      <p:sp>
        <p:nvSpPr>
          <p:cNvPr id="55" name="Text 53"/>
          <p:cNvSpPr/>
          <p:nvPr/>
        </p:nvSpPr>
        <p:spPr>
          <a:xfrm>
            <a:off x="6309360" y="2468880"/>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Dataset format</a:t>
            </a:r>
            <a:endParaRPr lang="en-US" sz="900" dirty="0"/>
          </a:p>
        </p:txBody>
      </p:sp>
      <p:sp>
        <p:nvSpPr>
          <p:cNvPr id="56" name="Text 54"/>
          <p:cNvSpPr/>
          <p:nvPr/>
        </p:nvSpPr>
        <p:spPr>
          <a:xfrm>
            <a:off x="7315200" y="2468880"/>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JSONL — one object per line</a:t>
            </a:r>
            <a:endParaRPr lang="en-US" sz="900" dirty="0"/>
          </a:p>
        </p:txBody>
      </p:sp>
      <p:sp>
        <p:nvSpPr>
          <p:cNvPr id="57" name="Shape 55"/>
          <p:cNvSpPr/>
          <p:nvPr/>
        </p:nvSpPr>
        <p:spPr>
          <a:xfrm>
            <a:off x="6217920" y="2852928"/>
            <a:ext cx="2743200" cy="365760"/>
          </a:xfrm>
          <a:prstGeom prst="rect">
            <a:avLst/>
          </a:prstGeom>
          <a:solidFill>
            <a:srgbClr val="EDF2F7"/>
          </a:solidFill>
          <a:ln w="12700">
            <a:solidFill>
              <a:srgbClr val="E2E8F0"/>
            </a:solidFill>
            <a:prstDash val="solid"/>
          </a:ln>
        </p:spPr>
      </p:sp>
      <p:sp>
        <p:nvSpPr>
          <p:cNvPr id="58" name="Text 56"/>
          <p:cNvSpPr/>
          <p:nvPr/>
        </p:nvSpPr>
        <p:spPr>
          <a:xfrm>
            <a:off x="6309360" y="2852928"/>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Epochs</a:t>
            </a:r>
            <a:endParaRPr lang="en-US" sz="900" dirty="0"/>
          </a:p>
        </p:txBody>
      </p:sp>
      <p:sp>
        <p:nvSpPr>
          <p:cNvPr id="59" name="Text 57"/>
          <p:cNvSpPr/>
          <p:nvPr/>
        </p:nvSpPr>
        <p:spPr>
          <a:xfrm>
            <a:off x="7315200" y="2852928"/>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3–5 (watch eval loss, stop early)</a:t>
            </a:r>
            <a:endParaRPr lang="en-US" sz="900" dirty="0"/>
          </a:p>
        </p:txBody>
      </p:sp>
      <p:sp>
        <p:nvSpPr>
          <p:cNvPr id="60" name="Shape 58"/>
          <p:cNvSpPr/>
          <p:nvPr/>
        </p:nvSpPr>
        <p:spPr>
          <a:xfrm>
            <a:off x="6217920" y="3236976"/>
            <a:ext cx="2743200" cy="365760"/>
          </a:xfrm>
          <a:prstGeom prst="rect">
            <a:avLst/>
          </a:prstGeom>
          <a:solidFill>
            <a:srgbClr val="FFFFFF"/>
          </a:solidFill>
          <a:ln w="12700">
            <a:solidFill>
              <a:srgbClr val="E2E8F0"/>
            </a:solidFill>
            <a:prstDash val="solid"/>
          </a:ln>
        </p:spPr>
      </p:sp>
      <p:sp>
        <p:nvSpPr>
          <p:cNvPr id="61" name="Text 59"/>
          <p:cNvSpPr/>
          <p:nvPr/>
        </p:nvSpPr>
        <p:spPr>
          <a:xfrm>
            <a:off x="6309360" y="3236976"/>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Deduplication</a:t>
            </a:r>
            <a:endParaRPr lang="en-US" sz="900" dirty="0"/>
          </a:p>
        </p:txBody>
      </p:sp>
      <p:sp>
        <p:nvSpPr>
          <p:cNvPr id="62" name="Text 60"/>
          <p:cNvSpPr/>
          <p:nvPr/>
        </p:nvSpPr>
        <p:spPr>
          <a:xfrm>
            <a:off x="7315200" y="3236976"/>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Hash every example, remove exact dupes</a:t>
            </a:r>
            <a:endParaRPr lang="en-US" sz="900" dirty="0"/>
          </a:p>
        </p:txBody>
      </p:sp>
      <p:sp>
        <p:nvSpPr>
          <p:cNvPr id="63" name="Shape 61"/>
          <p:cNvSpPr/>
          <p:nvPr/>
        </p:nvSpPr>
        <p:spPr>
          <a:xfrm>
            <a:off x="6217920" y="3621024"/>
            <a:ext cx="2743200" cy="365760"/>
          </a:xfrm>
          <a:prstGeom prst="rect">
            <a:avLst/>
          </a:prstGeom>
          <a:solidFill>
            <a:srgbClr val="EDF2F7"/>
          </a:solidFill>
          <a:ln w="12700">
            <a:solidFill>
              <a:srgbClr val="E2E8F0"/>
            </a:solidFill>
            <a:prstDash val="solid"/>
          </a:ln>
        </p:spPr>
      </p:sp>
      <p:sp>
        <p:nvSpPr>
          <p:cNvPr id="64" name="Text 62"/>
          <p:cNvSpPr/>
          <p:nvPr/>
        </p:nvSpPr>
        <p:spPr>
          <a:xfrm>
            <a:off x="6309360" y="3621024"/>
            <a:ext cx="1005840" cy="365760"/>
          </a:xfrm>
          <a:prstGeom prst="rect">
            <a:avLst/>
          </a:prstGeom>
          <a:noFill/>
          <a:ln/>
        </p:spPr>
        <p:txBody>
          <a:bodyPr wrap="square" lIns="0" tIns="0" rIns="0" bIns="0" rtlCol="0" anchor="ctr"/>
          <a:lstStyle/>
          <a:p>
            <a:pPr indent="0" marL="0">
              <a:buNone/>
            </a:pPr>
            <a:r>
              <a:rPr lang="en-US" sz="900" dirty="0">
                <a:solidFill>
                  <a:srgbClr val="718096"/>
                </a:solidFill>
                <a:latin typeface="Calibri" pitchFamily="34" charset="0"/>
                <a:ea typeface="Calibri" pitchFamily="34" charset="-122"/>
                <a:cs typeface="Calibri" pitchFamily="34" charset="-120"/>
              </a:rPr>
              <a:t>Separation</a:t>
            </a:r>
            <a:endParaRPr lang="en-US" sz="900" dirty="0"/>
          </a:p>
        </p:txBody>
      </p:sp>
      <p:sp>
        <p:nvSpPr>
          <p:cNvPr id="65" name="Text 63"/>
          <p:cNvSpPr/>
          <p:nvPr/>
        </p:nvSpPr>
        <p:spPr>
          <a:xfrm>
            <a:off x="7315200" y="3621024"/>
            <a:ext cx="1600200" cy="365760"/>
          </a:xfrm>
          <a:prstGeom prst="rect">
            <a:avLst/>
          </a:prstGeom>
          <a:noFill/>
          <a:ln/>
        </p:spPr>
        <p:txBody>
          <a:bodyPr wrap="square" lIns="0" tIns="0" rIns="0" bIns="0" rtlCol="0" anchor="ctr"/>
          <a:lstStyle/>
          <a:p>
            <a:pPr indent="0" marL="0">
              <a:buNone/>
            </a:pPr>
            <a:r>
              <a:rPr lang="en-US" sz="900" b="1" dirty="0">
                <a:solidFill>
                  <a:srgbClr val="1A202C"/>
                </a:solidFill>
                <a:latin typeface="Calibri" pitchFamily="34" charset="0"/>
                <a:ea typeface="Calibri" pitchFamily="34" charset="-122"/>
                <a:cs typeface="Calibri" pitchFamily="34" charset="-120"/>
              </a:rPr>
              <a:t>Stage 2 and Stage 3 = separate runs</a:t>
            </a:r>
            <a:endParaRPr lang="en-US" sz="900" dirty="0"/>
          </a:p>
        </p:txBody>
      </p:sp>
      <p:sp>
        <p:nvSpPr>
          <p:cNvPr id="66" name="Shape 64"/>
          <p:cNvSpPr/>
          <p:nvPr/>
        </p:nvSpPr>
        <p:spPr>
          <a:xfrm>
            <a:off x="365760" y="4663440"/>
            <a:ext cx="8412480" cy="274320"/>
          </a:xfrm>
          <a:prstGeom prst="rect">
            <a:avLst/>
          </a:prstGeom>
          <a:solidFill>
            <a:srgbClr val="FFF3CD"/>
          </a:solidFill>
          <a:ln w="12700">
            <a:solidFill>
              <a:srgbClr val="E09F3E"/>
            </a:solidFill>
            <a:prstDash val="solid"/>
          </a:ln>
        </p:spPr>
      </p:sp>
      <p:sp>
        <p:nvSpPr>
          <p:cNvPr id="67" name="Text 65"/>
          <p:cNvSpPr/>
          <p:nvPr/>
        </p:nvSpPr>
        <p:spPr>
          <a:xfrm>
            <a:off x="502920" y="4663440"/>
            <a:ext cx="8229600" cy="274320"/>
          </a:xfrm>
          <a:prstGeom prst="rect">
            <a:avLst/>
          </a:prstGeom>
          <a:noFill/>
          <a:ln/>
        </p:spPr>
        <p:txBody>
          <a:bodyPr wrap="square" lIns="0" tIns="0" rIns="0" bIns="0" rtlCol="0" anchor="ctr"/>
          <a:lstStyle/>
          <a:p>
            <a:pPr indent="0" marL="0">
              <a:buNone/>
            </a:pPr>
            <a:r>
              <a:rPr lang="en-US" sz="950" i="1" dirty="0">
                <a:solidFill>
                  <a:srgbClr val="E09F3E"/>
                </a:solidFill>
                <a:latin typeface="Calibri" pitchFamily="34" charset="0"/>
                <a:ea typeface="Calibri" pitchFamily="34" charset="-122"/>
                <a:cs typeface="Calibri" pitchFamily="34" charset="-120"/>
              </a:rPr>
              <a:t>Add .env to .gitignore on line 1 of the project. Pin all package versions in requirements.txt before sharing code with anyone.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2839212" cy="256032"/>
          </a:xfrm>
          <a:prstGeom prst="rect">
            <a:avLst/>
          </a:prstGeom>
          <a:solidFill>
            <a:srgbClr val="0F7173"/>
          </a:solidFill>
          <a:ln w="12700">
            <a:solidFill>
              <a:srgbClr val="0F7173"/>
            </a:solidFill>
            <a:prstDash val="solid"/>
          </a:ln>
        </p:spPr>
      </p:sp>
      <p:sp>
        <p:nvSpPr>
          <p:cNvPr id="3" name="Text 1"/>
          <p:cNvSpPr/>
          <p:nvPr/>
        </p:nvSpPr>
        <p:spPr>
          <a:xfrm>
            <a:off x="365760" y="256032"/>
            <a:ext cx="2839212" cy="256032"/>
          </a:xfrm>
          <a:prstGeom prst="rect">
            <a:avLst/>
          </a:prstGeom>
          <a:noFill/>
          <a:ln/>
        </p:spPr>
        <p:txBody>
          <a:bodyPr wrap="square" lIns="0" tIns="0" rIns="0" bIns="0" rtlCol="0" anchor="ctr"/>
          <a:lstStyle/>
          <a:p>
            <a:pPr algn="ctr" indent="0" marL="0">
              <a:buNone/>
            </a:pPr>
            <a:r>
              <a:rPr lang="en-US" sz="900" b="1" dirty="0">
                <a:solidFill>
                  <a:srgbClr val="FFFFFF"/>
                </a:solidFill>
              </a:rPr>
              <a:t>08 · CHUNKING &amp; EMBEDDING GOTCHAS</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Chunking &amp; embedding — where engineers get burned</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These are silent failures. No error is thrown. Retrieval quality just quietly degrades.</a:t>
            </a:r>
            <a:endParaRPr lang="en-US" sz="1200" dirty="0"/>
          </a:p>
        </p:txBody>
      </p:sp>
      <p:sp>
        <p:nvSpPr>
          <p:cNvPr id="6" name="Shape 4"/>
          <p:cNvSpPr/>
          <p:nvPr/>
        </p:nvSpPr>
        <p:spPr>
          <a:xfrm>
            <a:off x="365760" y="141732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65760" y="1417320"/>
            <a:ext cx="64008" cy="1600200"/>
          </a:xfrm>
          <a:prstGeom prst="rect">
            <a:avLst/>
          </a:prstGeom>
          <a:solidFill>
            <a:srgbClr val="C0392B"/>
          </a:solidFill>
          <a:ln w="12700">
            <a:solidFill>
              <a:srgbClr val="C0392B"/>
            </a:solidFill>
            <a:prstDash val="solid"/>
          </a:ln>
        </p:spPr>
      </p:sp>
      <p:sp>
        <p:nvSpPr>
          <p:cNvPr id="8" name="Text 6"/>
          <p:cNvSpPr/>
          <p:nvPr/>
        </p:nvSpPr>
        <p:spPr>
          <a:xfrm>
            <a:off x="566928" y="150876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Tokenizer mismatch — characters ≠ tokens</a:t>
            </a:r>
            <a:endParaRPr lang="en-US" sz="1050" dirty="0"/>
          </a:p>
        </p:txBody>
      </p:sp>
      <p:sp>
        <p:nvSpPr>
          <p:cNvPr id="9" name="Text 7"/>
          <p:cNvSpPr/>
          <p:nvPr/>
        </p:nvSpPr>
        <p:spPr>
          <a:xfrm>
            <a:off x="566928" y="180136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You set chunk_size=500 in RecursiveCharacterTextSplitter thinking it's tokens. It's characters. Dense legal/audit text can be 200+ tokens in 500 chars. You silently overflow the embedding model's context window.</a:t>
            </a:r>
            <a:endParaRPr lang="en-US" sz="900" dirty="0"/>
          </a:p>
        </p:txBody>
      </p:sp>
      <p:sp>
        <p:nvSpPr>
          <p:cNvPr id="10" name="Shape 8"/>
          <p:cNvSpPr/>
          <p:nvPr/>
        </p:nvSpPr>
        <p:spPr>
          <a:xfrm>
            <a:off x="502920" y="2514600"/>
            <a:ext cx="3977640" cy="411480"/>
          </a:xfrm>
          <a:prstGeom prst="rect">
            <a:avLst/>
          </a:prstGeom>
          <a:solidFill>
            <a:srgbClr val="FDECEA"/>
          </a:solidFill>
          <a:ln w="12700">
            <a:solidFill>
              <a:srgbClr val="C0392B"/>
            </a:solidFill>
            <a:prstDash val="solid"/>
          </a:ln>
        </p:spPr>
      </p:sp>
      <p:sp>
        <p:nvSpPr>
          <p:cNvPr id="11" name="Text 9"/>
          <p:cNvSpPr/>
          <p:nvPr/>
        </p:nvSpPr>
        <p:spPr>
          <a:xfrm>
            <a:off x="566928" y="2514600"/>
            <a:ext cx="3886200" cy="41148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FIX: Import tiktoken and measure chunk_size in tokens. Set chunk_size=400 with length_function=len_tokens.</a:t>
            </a:r>
            <a:endParaRPr lang="en-US" sz="900" dirty="0"/>
          </a:p>
        </p:txBody>
      </p:sp>
      <p:sp>
        <p:nvSpPr>
          <p:cNvPr id="12" name="Shape 10"/>
          <p:cNvSpPr/>
          <p:nvPr/>
        </p:nvSpPr>
        <p:spPr>
          <a:xfrm>
            <a:off x="4800600" y="141732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3" name="Shape 11"/>
          <p:cNvSpPr/>
          <p:nvPr/>
        </p:nvSpPr>
        <p:spPr>
          <a:xfrm>
            <a:off x="4800600" y="1417320"/>
            <a:ext cx="64008" cy="1600200"/>
          </a:xfrm>
          <a:prstGeom prst="rect">
            <a:avLst/>
          </a:prstGeom>
          <a:solidFill>
            <a:srgbClr val="C0392B"/>
          </a:solidFill>
          <a:ln w="12700">
            <a:solidFill>
              <a:srgbClr val="C0392B"/>
            </a:solidFill>
            <a:prstDash val="solid"/>
          </a:ln>
        </p:spPr>
      </p:sp>
      <p:sp>
        <p:nvSpPr>
          <p:cNvPr id="14" name="Text 12"/>
          <p:cNvSpPr/>
          <p:nvPr/>
        </p:nvSpPr>
        <p:spPr>
          <a:xfrm>
            <a:off x="5001768" y="150876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Page headers and footers polluting every chunk</a:t>
            </a:r>
            <a:endParaRPr lang="en-US" sz="1050" dirty="0"/>
          </a:p>
        </p:txBody>
      </p:sp>
      <p:sp>
        <p:nvSpPr>
          <p:cNvPr id="15" name="Text 13"/>
          <p:cNvSpPr/>
          <p:nvPr/>
        </p:nvSpPr>
        <p:spPr>
          <a:xfrm>
            <a:off x="5001768" y="180136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Every chunk will contain 'HCLLP Confidential — Page 14'. This makes all chunks look semantically similar. Retrieval precision collapses because the model retrieves on noise.</a:t>
            </a:r>
            <a:endParaRPr lang="en-US" sz="900" dirty="0"/>
          </a:p>
        </p:txBody>
      </p:sp>
      <p:sp>
        <p:nvSpPr>
          <p:cNvPr id="16" name="Shape 14"/>
          <p:cNvSpPr/>
          <p:nvPr/>
        </p:nvSpPr>
        <p:spPr>
          <a:xfrm>
            <a:off x="4937760" y="2514600"/>
            <a:ext cx="3977640" cy="411480"/>
          </a:xfrm>
          <a:prstGeom prst="rect">
            <a:avLst/>
          </a:prstGeom>
          <a:solidFill>
            <a:srgbClr val="FDECEA"/>
          </a:solidFill>
          <a:ln w="12700">
            <a:solidFill>
              <a:srgbClr val="C0392B"/>
            </a:solidFill>
            <a:prstDash val="solid"/>
          </a:ln>
        </p:spPr>
      </p:sp>
      <p:sp>
        <p:nvSpPr>
          <p:cNvPr id="17" name="Text 15"/>
          <p:cNvSpPr/>
          <p:nvPr/>
        </p:nvSpPr>
        <p:spPr>
          <a:xfrm>
            <a:off x="5001768" y="2514600"/>
            <a:ext cx="3886200" cy="41148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FIX: In pdfplumber, exclude the top 5% and bottom 5% of each page bounding box before extracting text.</a:t>
            </a:r>
            <a:endParaRPr lang="en-US" sz="900" dirty="0"/>
          </a:p>
        </p:txBody>
      </p:sp>
      <p:sp>
        <p:nvSpPr>
          <p:cNvPr id="18" name="Shape 16"/>
          <p:cNvSpPr/>
          <p:nvPr/>
        </p:nvSpPr>
        <p:spPr>
          <a:xfrm>
            <a:off x="365760" y="315468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365760" y="3154680"/>
            <a:ext cx="64008" cy="1600200"/>
          </a:xfrm>
          <a:prstGeom prst="rect">
            <a:avLst/>
          </a:prstGeom>
          <a:solidFill>
            <a:srgbClr val="E09F3E"/>
          </a:solidFill>
          <a:ln w="12700">
            <a:solidFill>
              <a:srgbClr val="E09F3E"/>
            </a:solidFill>
            <a:prstDash val="solid"/>
          </a:ln>
        </p:spPr>
      </p:sp>
      <p:sp>
        <p:nvSpPr>
          <p:cNvPr id="20" name="Text 18"/>
          <p:cNvSpPr/>
          <p:nvPr/>
        </p:nvSpPr>
        <p:spPr>
          <a:xfrm>
            <a:off x="566928" y="324612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Orphan chunks — no section context</a:t>
            </a:r>
            <a:endParaRPr lang="en-US" sz="1050" dirty="0"/>
          </a:p>
        </p:txBody>
      </p:sp>
      <p:sp>
        <p:nvSpPr>
          <p:cNvPr id="21" name="Text 19"/>
          <p:cNvSpPr/>
          <p:nvPr/>
        </p:nvSpPr>
        <p:spPr>
          <a:xfrm>
            <a:off x="566928" y="353872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A chunk reading 'The threshold shall be 5% of total expenses' has no meaning alone. The LLM gets a number with zero frame of reference and cannot identify which engagement type it applies to.</a:t>
            </a:r>
            <a:endParaRPr lang="en-US" sz="900" dirty="0"/>
          </a:p>
        </p:txBody>
      </p:sp>
      <p:sp>
        <p:nvSpPr>
          <p:cNvPr id="22" name="Shape 20"/>
          <p:cNvSpPr/>
          <p:nvPr/>
        </p:nvSpPr>
        <p:spPr>
          <a:xfrm>
            <a:off x="502920" y="4251960"/>
            <a:ext cx="3977640" cy="411480"/>
          </a:xfrm>
          <a:prstGeom prst="rect">
            <a:avLst/>
          </a:prstGeom>
          <a:solidFill>
            <a:srgbClr val="FFF3CD"/>
          </a:solidFill>
          <a:ln w="12700">
            <a:solidFill>
              <a:srgbClr val="E09F3E"/>
            </a:solidFill>
            <a:prstDash val="solid"/>
          </a:ln>
        </p:spPr>
      </p:sp>
      <p:sp>
        <p:nvSpPr>
          <p:cNvPr id="23" name="Text 21"/>
          <p:cNvSpPr/>
          <p:nvPr/>
        </p:nvSpPr>
        <p:spPr>
          <a:xfrm>
            <a:off x="566928" y="4251960"/>
            <a:ext cx="3886200" cy="411480"/>
          </a:xfrm>
          <a:prstGeom prst="rect">
            <a:avLst/>
          </a:prstGeom>
          <a:noFill/>
          <a:ln/>
        </p:spPr>
        <p:txBody>
          <a:bodyPr wrap="square" lIns="0" tIns="0" rIns="0" bIns="0" rtlCol="0" anchor="ctr"/>
          <a:lstStyle/>
          <a:p>
            <a:pPr indent="0" marL="0">
              <a:buNone/>
            </a:pPr>
            <a:r>
              <a:rPr lang="en-US" sz="900" dirty="0">
                <a:solidFill>
                  <a:srgbClr val="8B6914"/>
                </a:solidFill>
                <a:latin typeface="Calibri" pitchFamily="34" charset="0"/>
                <a:ea typeface="Calibri" pitchFamily="34" charset="-122"/>
                <a:cs typeface="Calibri" pitchFamily="34" charset="-120"/>
              </a:rPr>
              <a:t>FIX: Prepend 'SOP §X.X — [Section Title]:' to every chunk's text before embedding.</a:t>
            </a:r>
            <a:endParaRPr lang="en-US" sz="900" dirty="0"/>
          </a:p>
        </p:txBody>
      </p:sp>
      <p:sp>
        <p:nvSpPr>
          <p:cNvPr id="24" name="Shape 22"/>
          <p:cNvSpPr/>
          <p:nvPr/>
        </p:nvSpPr>
        <p:spPr>
          <a:xfrm>
            <a:off x="4800600" y="315468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4800600" y="3154680"/>
            <a:ext cx="64008" cy="1600200"/>
          </a:xfrm>
          <a:prstGeom prst="rect">
            <a:avLst/>
          </a:prstGeom>
          <a:solidFill>
            <a:srgbClr val="E09F3E"/>
          </a:solidFill>
          <a:ln w="12700">
            <a:solidFill>
              <a:srgbClr val="E09F3E"/>
            </a:solidFill>
            <a:prstDash val="solid"/>
          </a:ln>
        </p:spPr>
      </p:sp>
      <p:sp>
        <p:nvSpPr>
          <p:cNvPr id="26" name="Text 24"/>
          <p:cNvSpPr/>
          <p:nvPr/>
        </p:nvSpPr>
        <p:spPr>
          <a:xfrm>
            <a:off x="5001768" y="324612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Embedding one chunk at a time — API rate limit death</a:t>
            </a:r>
            <a:endParaRPr lang="en-US" sz="1050" dirty="0"/>
          </a:p>
        </p:txBody>
      </p:sp>
      <p:sp>
        <p:nvSpPr>
          <p:cNvPr id="27" name="Text 25"/>
          <p:cNvSpPr/>
          <p:nvPr/>
        </p:nvSpPr>
        <p:spPr>
          <a:xfrm>
            <a:off x="5001768" y="353872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500 chunks at 1 API call each = hundreds of sequential requests. You hit rate limits within minutes. Processing time is measured in hours for a full corpus.</a:t>
            </a:r>
            <a:endParaRPr lang="en-US" sz="900" dirty="0"/>
          </a:p>
        </p:txBody>
      </p:sp>
      <p:sp>
        <p:nvSpPr>
          <p:cNvPr id="28" name="Shape 26"/>
          <p:cNvSpPr/>
          <p:nvPr/>
        </p:nvSpPr>
        <p:spPr>
          <a:xfrm>
            <a:off x="4937760" y="4251960"/>
            <a:ext cx="3977640" cy="411480"/>
          </a:xfrm>
          <a:prstGeom prst="rect">
            <a:avLst/>
          </a:prstGeom>
          <a:solidFill>
            <a:srgbClr val="FFF3CD"/>
          </a:solidFill>
          <a:ln w="12700">
            <a:solidFill>
              <a:srgbClr val="E09F3E"/>
            </a:solidFill>
            <a:prstDash val="solid"/>
          </a:ln>
        </p:spPr>
      </p:sp>
      <p:sp>
        <p:nvSpPr>
          <p:cNvPr id="29" name="Text 27"/>
          <p:cNvSpPr/>
          <p:nvPr/>
        </p:nvSpPr>
        <p:spPr>
          <a:xfrm>
            <a:off x="5001768" y="4251960"/>
            <a:ext cx="3886200" cy="411480"/>
          </a:xfrm>
          <a:prstGeom prst="rect">
            <a:avLst/>
          </a:prstGeom>
          <a:noFill/>
          <a:ln/>
        </p:spPr>
        <p:txBody>
          <a:bodyPr wrap="square" lIns="0" tIns="0" rIns="0" bIns="0" rtlCol="0" anchor="ctr"/>
          <a:lstStyle/>
          <a:p>
            <a:pPr indent="0" marL="0">
              <a:buNone/>
            </a:pPr>
            <a:r>
              <a:rPr lang="en-US" sz="900" dirty="0">
                <a:solidFill>
                  <a:srgbClr val="8B6914"/>
                </a:solidFill>
                <a:latin typeface="Calibri" pitchFamily="34" charset="0"/>
                <a:ea typeface="Calibri" pitchFamily="34" charset="-122"/>
                <a:cs typeface="Calibri" pitchFamily="34" charset="-120"/>
              </a:rPr>
              <a:t>FIX: Batch at 100 chunks per embed call (OpenAI max). Upsert to Qdrant in batches of 100–500 points.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2761488" cy="256032"/>
          </a:xfrm>
          <a:prstGeom prst="rect">
            <a:avLst/>
          </a:prstGeom>
          <a:solidFill>
            <a:srgbClr val="0F7173"/>
          </a:solidFill>
          <a:ln w="12700">
            <a:solidFill>
              <a:srgbClr val="0F7173"/>
            </a:solidFill>
            <a:prstDash val="solid"/>
          </a:ln>
        </p:spPr>
      </p:sp>
      <p:sp>
        <p:nvSpPr>
          <p:cNvPr id="3" name="Text 1"/>
          <p:cNvSpPr/>
          <p:nvPr/>
        </p:nvSpPr>
        <p:spPr>
          <a:xfrm>
            <a:off x="365760" y="256032"/>
            <a:ext cx="2761488" cy="256032"/>
          </a:xfrm>
          <a:prstGeom prst="rect">
            <a:avLst/>
          </a:prstGeom>
          <a:noFill/>
          <a:ln/>
        </p:spPr>
        <p:txBody>
          <a:bodyPr wrap="square" lIns="0" tIns="0" rIns="0" bIns="0" rtlCol="0" anchor="ctr"/>
          <a:lstStyle/>
          <a:p>
            <a:pPr algn="ctr" indent="0" marL="0">
              <a:buNone/>
            </a:pPr>
            <a:r>
              <a:rPr lang="en-US" sz="900" b="1" dirty="0">
                <a:solidFill>
                  <a:srgbClr val="FFFFFF"/>
                </a:solidFill>
              </a:rPr>
              <a:t>09 · GOTCHAS — QDRANT &amp; PIPELINE</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Qdrant &amp; pipeline gotchas — ops-level failures</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These corrupt your collection or make reruns catastrophically expensive.</a:t>
            </a:r>
            <a:endParaRPr lang="en-US" sz="1200" dirty="0"/>
          </a:p>
        </p:txBody>
      </p:sp>
      <p:sp>
        <p:nvSpPr>
          <p:cNvPr id="6" name="Shape 4"/>
          <p:cNvSpPr/>
          <p:nvPr/>
        </p:nvSpPr>
        <p:spPr>
          <a:xfrm>
            <a:off x="365760" y="141732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65760" y="1417320"/>
            <a:ext cx="64008" cy="1600200"/>
          </a:xfrm>
          <a:prstGeom prst="rect">
            <a:avLst/>
          </a:prstGeom>
          <a:solidFill>
            <a:srgbClr val="C0392B"/>
          </a:solidFill>
          <a:ln w="12700">
            <a:solidFill>
              <a:srgbClr val="C0392B"/>
            </a:solidFill>
            <a:prstDash val="solid"/>
          </a:ln>
        </p:spPr>
      </p:sp>
      <p:sp>
        <p:nvSpPr>
          <p:cNvPr id="8" name="Text 6"/>
          <p:cNvSpPr/>
          <p:nvPr/>
        </p:nvSpPr>
        <p:spPr>
          <a:xfrm>
            <a:off x="566928" y="150876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Wrong vector size at collection creation</a:t>
            </a:r>
            <a:endParaRPr lang="en-US" sz="1050" dirty="0"/>
          </a:p>
        </p:txBody>
      </p:sp>
      <p:sp>
        <p:nvSpPr>
          <p:cNvPr id="9" name="Text 7"/>
          <p:cNvSpPr/>
          <p:nvPr/>
        </p:nvSpPr>
        <p:spPr>
          <a:xfrm>
            <a:off x="566928" y="180136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Qdrant collection vector dimensions are immutable. Create at 768 thinking you'll use bge-base, then switch to text-embedding-3-small (1536) = delete entire collection, re-embed everything from scratch.</a:t>
            </a:r>
            <a:endParaRPr lang="en-US" sz="900" dirty="0"/>
          </a:p>
        </p:txBody>
      </p:sp>
      <p:sp>
        <p:nvSpPr>
          <p:cNvPr id="10" name="Shape 8"/>
          <p:cNvSpPr/>
          <p:nvPr/>
        </p:nvSpPr>
        <p:spPr>
          <a:xfrm>
            <a:off x="502920" y="2514600"/>
            <a:ext cx="3977640" cy="411480"/>
          </a:xfrm>
          <a:prstGeom prst="rect">
            <a:avLst/>
          </a:prstGeom>
          <a:solidFill>
            <a:srgbClr val="FDECEA"/>
          </a:solidFill>
          <a:ln w="12700">
            <a:solidFill>
              <a:srgbClr val="C0392B"/>
            </a:solidFill>
            <a:prstDash val="solid"/>
          </a:ln>
        </p:spPr>
      </p:sp>
      <p:sp>
        <p:nvSpPr>
          <p:cNvPr id="11" name="Text 9"/>
          <p:cNvSpPr/>
          <p:nvPr/>
        </p:nvSpPr>
        <p:spPr>
          <a:xfrm>
            <a:off x="566928" y="2514600"/>
            <a:ext cx="3886200" cy="41148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FIX: Lock embedding model in config FIRST. Write vector_size into a config.yaml, read it at collection creation time.</a:t>
            </a:r>
            <a:endParaRPr lang="en-US" sz="900" dirty="0"/>
          </a:p>
        </p:txBody>
      </p:sp>
      <p:sp>
        <p:nvSpPr>
          <p:cNvPr id="12" name="Shape 10"/>
          <p:cNvSpPr/>
          <p:nvPr/>
        </p:nvSpPr>
        <p:spPr>
          <a:xfrm>
            <a:off x="4800600" y="141732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3" name="Shape 11"/>
          <p:cNvSpPr/>
          <p:nvPr/>
        </p:nvSpPr>
        <p:spPr>
          <a:xfrm>
            <a:off x="4800600" y="1417320"/>
            <a:ext cx="64008" cy="1600200"/>
          </a:xfrm>
          <a:prstGeom prst="rect">
            <a:avLst/>
          </a:prstGeom>
          <a:solidFill>
            <a:srgbClr val="C0392B"/>
          </a:solidFill>
          <a:ln w="12700">
            <a:solidFill>
              <a:srgbClr val="C0392B"/>
            </a:solidFill>
            <a:prstDash val="solid"/>
          </a:ln>
        </p:spPr>
      </p:sp>
      <p:sp>
        <p:nvSpPr>
          <p:cNvPr id="14" name="Text 12"/>
          <p:cNvSpPr/>
          <p:nvPr/>
        </p:nvSpPr>
        <p:spPr>
          <a:xfrm>
            <a:off x="5001768" y="150876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Payload indexes created after bulk upsert</a:t>
            </a:r>
            <a:endParaRPr lang="en-US" sz="1050" dirty="0"/>
          </a:p>
        </p:txBody>
      </p:sp>
      <p:sp>
        <p:nvSpPr>
          <p:cNvPr id="15" name="Text 13"/>
          <p:cNvSpPr/>
          <p:nvPr/>
        </p:nvSpPr>
        <p:spPr>
          <a:xfrm>
            <a:off x="5001768" y="180136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Qdrant must rebuild the index from scratch if you upsert 50,000 chunks first and then create the payload index on workpaper_type. Indexing becomes a slow, blocking operation.</a:t>
            </a:r>
            <a:endParaRPr lang="en-US" sz="900" dirty="0"/>
          </a:p>
        </p:txBody>
      </p:sp>
      <p:sp>
        <p:nvSpPr>
          <p:cNvPr id="16" name="Shape 14"/>
          <p:cNvSpPr/>
          <p:nvPr/>
        </p:nvSpPr>
        <p:spPr>
          <a:xfrm>
            <a:off x="4937760" y="2514600"/>
            <a:ext cx="3977640" cy="411480"/>
          </a:xfrm>
          <a:prstGeom prst="rect">
            <a:avLst/>
          </a:prstGeom>
          <a:solidFill>
            <a:srgbClr val="FDECEA"/>
          </a:solidFill>
          <a:ln w="12700">
            <a:solidFill>
              <a:srgbClr val="C0392B"/>
            </a:solidFill>
            <a:prstDash val="solid"/>
          </a:ln>
        </p:spPr>
      </p:sp>
      <p:sp>
        <p:nvSpPr>
          <p:cNvPr id="17" name="Text 15"/>
          <p:cNvSpPr/>
          <p:nvPr/>
        </p:nvSpPr>
        <p:spPr>
          <a:xfrm>
            <a:off x="5001768" y="2514600"/>
            <a:ext cx="3886200" cy="41148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FIX: Call collection.create_payload_index(field_name='workpaper_type', field_schema='keyword') before the first upsert.</a:t>
            </a:r>
            <a:endParaRPr lang="en-US" sz="900" dirty="0"/>
          </a:p>
        </p:txBody>
      </p:sp>
      <p:sp>
        <p:nvSpPr>
          <p:cNvPr id="18" name="Shape 16"/>
          <p:cNvSpPr/>
          <p:nvPr/>
        </p:nvSpPr>
        <p:spPr>
          <a:xfrm>
            <a:off x="365760" y="315468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365760" y="3154680"/>
            <a:ext cx="64008" cy="1600200"/>
          </a:xfrm>
          <a:prstGeom prst="rect">
            <a:avLst/>
          </a:prstGeom>
          <a:solidFill>
            <a:srgbClr val="E09F3E"/>
          </a:solidFill>
          <a:ln w="12700">
            <a:solidFill>
              <a:srgbClr val="E09F3E"/>
            </a:solidFill>
            <a:prstDash val="solid"/>
          </a:ln>
        </p:spPr>
      </p:sp>
      <p:sp>
        <p:nvSpPr>
          <p:cNvPr id="20" name="Text 18"/>
          <p:cNvSpPr/>
          <p:nvPr/>
        </p:nvSpPr>
        <p:spPr>
          <a:xfrm>
            <a:off x="566928" y="324612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No idempotency — duplicate chunks on rerun</a:t>
            </a:r>
            <a:endParaRPr lang="en-US" sz="1050" dirty="0"/>
          </a:p>
        </p:txBody>
      </p:sp>
      <p:sp>
        <p:nvSpPr>
          <p:cNvPr id="21" name="Text 19"/>
          <p:cNvSpPr/>
          <p:nvPr/>
        </p:nvSpPr>
        <p:spPr>
          <a:xfrm>
            <a:off x="566928" y="353872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Pipeline fails halfway through chunking. You rerun it. Qdrant now has duplicate chunks for every document processed in the first run. Retrieval silently returns duplicates, doubling hit scores on repeated procedures.</a:t>
            </a:r>
            <a:endParaRPr lang="en-US" sz="900" dirty="0"/>
          </a:p>
        </p:txBody>
      </p:sp>
      <p:sp>
        <p:nvSpPr>
          <p:cNvPr id="22" name="Shape 20"/>
          <p:cNvSpPr/>
          <p:nvPr/>
        </p:nvSpPr>
        <p:spPr>
          <a:xfrm>
            <a:off x="502920" y="4251960"/>
            <a:ext cx="3977640" cy="411480"/>
          </a:xfrm>
          <a:prstGeom prst="rect">
            <a:avLst/>
          </a:prstGeom>
          <a:solidFill>
            <a:srgbClr val="FFF3CD"/>
          </a:solidFill>
          <a:ln w="12700">
            <a:solidFill>
              <a:srgbClr val="E09F3E"/>
            </a:solidFill>
            <a:prstDash val="solid"/>
          </a:ln>
        </p:spPr>
      </p:sp>
      <p:sp>
        <p:nvSpPr>
          <p:cNvPr id="23" name="Text 21"/>
          <p:cNvSpPr/>
          <p:nvPr/>
        </p:nvSpPr>
        <p:spPr>
          <a:xfrm>
            <a:off x="566928" y="4251960"/>
            <a:ext cx="3886200" cy="411480"/>
          </a:xfrm>
          <a:prstGeom prst="rect">
            <a:avLst/>
          </a:prstGeom>
          <a:noFill/>
          <a:ln/>
        </p:spPr>
        <p:txBody>
          <a:bodyPr wrap="square" lIns="0" tIns="0" rIns="0" bIns="0" rtlCol="0" anchor="ctr"/>
          <a:lstStyle/>
          <a:p>
            <a:pPr indent="0" marL="0">
              <a:buNone/>
            </a:pPr>
            <a:r>
              <a:rPr lang="en-US" sz="900" dirty="0">
                <a:solidFill>
                  <a:srgbClr val="8B6914"/>
                </a:solidFill>
                <a:latin typeface="Calibri" pitchFamily="34" charset="0"/>
                <a:ea typeface="Calibri" pitchFamily="34" charset="-122"/>
                <a:cs typeface="Calibri" pitchFamily="34" charset="-120"/>
              </a:rPr>
              <a:t>FIX: chunk_id = sha256(source_doc + char_start). Use as Qdrant point ID. Upsert is then safe to rerun.</a:t>
            </a:r>
            <a:endParaRPr lang="en-US" sz="900" dirty="0"/>
          </a:p>
        </p:txBody>
      </p:sp>
      <p:sp>
        <p:nvSpPr>
          <p:cNvPr id="24" name="Shape 22"/>
          <p:cNvSpPr/>
          <p:nvPr/>
        </p:nvSpPr>
        <p:spPr>
          <a:xfrm>
            <a:off x="4800600" y="315468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4800600" y="3154680"/>
            <a:ext cx="64008" cy="1600200"/>
          </a:xfrm>
          <a:prstGeom prst="rect">
            <a:avLst/>
          </a:prstGeom>
          <a:solidFill>
            <a:srgbClr val="E09F3E"/>
          </a:solidFill>
          <a:ln w="12700">
            <a:solidFill>
              <a:srgbClr val="E09F3E"/>
            </a:solidFill>
            <a:prstDash val="solid"/>
          </a:ln>
        </p:spPr>
      </p:sp>
      <p:sp>
        <p:nvSpPr>
          <p:cNvPr id="26" name="Text 24"/>
          <p:cNvSpPr/>
          <p:nvPr/>
        </p:nvSpPr>
        <p:spPr>
          <a:xfrm>
            <a:off x="5001768" y="324612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Mixing Stage 2 and Stage 3 training data</a:t>
            </a:r>
            <a:endParaRPr lang="en-US" sz="1050" dirty="0"/>
          </a:p>
        </p:txBody>
      </p:sp>
      <p:sp>
        <p:nvSpPr>
          <p:cNvPr id="27" name="Text 25"/>
          <p:cNvSpPr/>
          <p:nvPr/>
        </p:nvSpPr>
        <p:spPr>
          <a:xfrm>
            <a:off x="5001768" y="353872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Stage 2 teaches audit domain knowledge (AICPA, Yellow Book, Uniform Guidance). Stage 3 teaches HCLLP firm-specific style. Mixing them in one training run produces a model that knows neither well.</a:t>
            </a:r>
            <a:endParaRPr lang="en-US" sz="900" dirty="0"/>
          </a:p>
        </p:txBody>
      </p:sp>
      <p:sp>
        <p:nvSpPr>
          <p:cNvPr id="28" name="Shape 26"/>
          <p:cNvSpPr/>
          <p:nvPr/>
        </p:nvSpPr>
        <p:spPr>
          <a:xfrm>
            <a:off x="4937760" y="4251960"/>
            <a:ext cx="3977640" cy="411480"/>
          </a:xfrm>
          <a:prstGeom prst="rect">
            <a:avLst/>
          </a:prstGeom>
          <a:solidFill>
            <a:srgbClr val="FFF3CD"/>
          </a:solidFill>
          <a:ln w="12700">
            <a:solidFill>
              <a:srgbClr val="E09F3E"/>
            </a:solidFill>
            <a:prstDash val="solid"/>
          </a:ln>
        </p:spPr>
      </p:sp>
      <p:sp>
        <p:nvSpPr>
          <p:cNvPr id="29" name="Text 27"/>
          <p:cNvSpPr/>
          <p:nvPr/>
        </p:nvSpPr>
        <p:spPr>
          <a:xfrm>
            <a:off x="5001768" y="4251960"/>
            <a:ext cx="3886200" cy="411480"/>
          </a:xfrm>
          <a:prstGeom prst="rect">
            <a:avLst/>
          </a:prstGeom>
          <a:noFill/>
          <a:ln/>
        </p:spPr>
        <p:txBody>
          <a:bodyPr wrap="square" lIns="0" tIns="0" rIns="0" bIns="0" rtlCol="0" anchor="ctr"/>
          <a:lstStyle/>
          <a:p>
            <a:pPr indent="0" marL="0">
              <a:buNone/>
            </a:pPr>
            <a:r>
              <a:rPr lang="en-US" sz="900" dirty="0">
                <a:solidFill>
                  <a:srgbClr val="8B6914"/>
                </a:solidFill>
                <a:latin typeface="Calibri" pitchFamily="34" charset="0"/>
                <a:ea typeface="Calibri" pitchFamily="34" charset="-122"/>
                <a:cs typeface="Calibri" pitchFamily="34" charset="-120"/>
              </a:rPr>
              <a:t>FIX: Two separate JSONL files, two separate fine-tuning jobs, in sequence. Stage 2 model = base for Stage 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2450592" cy="256032"/>
          </a:xfrm>
          <a:prstGeom prst="rect">
            <a:avLst/>
          </a:prstGeom>
          <a:solidFill>
            <a:srgbClr val="0F7173"/>
          </a:solidFill>
          <a:ln w="12700">
            <a:solidFill>
              <a:srgbClr val="0F7173"/>
            </a:solidFill>
            <a:prstDash val="solid"/>
          </a:ln>
        </p:spPr>
      </p:sp>
      <p:sp>
        <p:nvSpPr>
          <p:cNvPr id="3" name="Text 1"/>
          <p:cNvSpPr/>
          <p:nvPr/>
        </p:nvSpPr>
        <p:spPr>
          <a:xfrm>
            <a:off x="365760" y="256032"/>
            <a:ext cx="2450592" cy="256032"/>
          </a:xfrm>
          <a:prstGeom prst="rect">
            <a:avLst/>
          </a:prstGeom>
          <a:noFill/>
          <a:ln/>
        </p:spPr>
        <p:txBody>
          <a:bodyPr wrap="square" lIns="0" tIns="0" rIns="0" bIns="0" rtlCol="0" anchor="ctr"/>
          <a:lstStyle/>
          <a:p>
            <a:pPr algn="ctr" indent="0" marL="0">
              <a:buNone/>
            </a:pPr>
            <a:r>
              <a:rPr lang="en-US" sz="900" b="1" dirty="0">
                <a:solidFill>
                  <a:srgbClr val="FFFFFF"/>
                </a:solidFill>
              </a:rPr>
              <a:t>10 · GOTCHAS — TRAINING DATA</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Training pair quality — silent fine-tuning failures</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The model learns exactly what you write. Bad examples produce a confidently wrong model.</a:t>
            </a:r>
            <a:endParaRPr lang="en-US" sz="1200" dirty="0"/>
          </a:p>
        </p:txBody>
      </p:sp>
      <p:sp>
        <p:nvSpPr>
          <p:cNvPr id="6" name="Shape 4"/>
          <p:cNvSpPr/>
          <p:nvPr/>
        </p:nvSpPr>
        <p:spPr>
          <a:xfrm>
            <a:off x="365760" y="141732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65760" y="1417320"/>
            <a:ext cx="64008" cy="1600200"/>
          </a:xfrm>
          <a:prstGeom prst="rect">
            <a:avLst/>
          </a:prstGeom>
          <a:solidFill>
            <a:srgbClr val="C0392B"/>
          </a:solidFill>
          <a:ln w="12700">
            <a:solidFill>
              <a:srgbClr val="C0392B"/>
            </a:solidFill>
            <a:prstDash val="solid"/>
          </a:ln>
        </p:spPr>
      </p:sp>
      <p:sp>
        <p:nvSpPr>
          <p:cNvPr id="8" name="Text 6"/>
          <p:cNvSpPr/>
          <p:nvPr/>
        </p:nvSpPr>
        <p:spPr>
          <a:xfrm>
            <a:off x="566928" y="150876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Completions don't cite SOP section numbers</a:t>
            </a:r>
            <a:endParaRPr lang="en-US" sz="1050" dirty="0"/>
          </a:p>
        </p:txBody>
      </p:sp>
      <p:sp>
        <p:nvSpPr>
          <p:cNvPr id="9" name="Text 7"/>
          <p:cNvSpPr/>
          <p:nvPr/>
        </p:nvSpPr>
        <p:spPr>
          <a:xfrm>
            <a:off x="566928" y="180136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If your training completions say 'this field is missing' without 'per SOP §2.1', the fine-tuned model learns to output findings with no traceability. Partners cannot verify findings and the audit trail breaks.</a:t>
            </a:r>
            <a:endParaRPr lang="en-US" sz="900" dirty="0"/>
          </a:p>
        </p:txBody>
      </p:sp>
      <p:sp>
        <p:nvSpPr>
          <p:cNvPr id="10" name="Shape 8"/>
          <p:cNvSpPr/>
          <p:nvPr/>
        </p:nvSpPr>
        <p:spPr>
          <a:xfrm>
            <a:off x="502920" y="2514600"/>
            <a:ext cx="3977640" cy="411480"/>
          </a:xfrm>
          <a:prstGeom prst="rect">
            <a:avLst/>
          </a:prstGeom>
          <a:solidFill>
            <a:srgbClr val="FDECEA"/>
          </a:solidFill>
          <a:ln w="12700">
            <a:solidFill>
              <a:srgbClr val="C0392B"/>
            </a:solidFill>
            <a:prstDash val="solid"/>
          </a:ln>
        </p:spPr>
      </p:sp>
      <p:sp>
        <p:nvSpPr>
          <p:cNvPr id="11" name="Text 9"/>
          <p:cNvSpPr/>
          <p:nvPr/>
        </p:nvSpPr>
        <p:spPr>
          <a:xfrm>
            <a:off x="566928" y="2514600"/>
            <a:ext cx="3886200" cy="41148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FIX: Make SOP citation a non-negotiable rule in your pair template. Every finding = one SOP reference. Review all pairs before upload.</a:t>
            </a:r>
            <a:endParaRPr lang="en-US" sz="900" dirty="0"/>
          </a:p>
        </p:txBody>
      </p:sp>
      <p:sp>
        <p:nvSpPr>
          <p:cNvPr id="12" name="Shape 10"/>
          <p:cNvSpPr/>
          <p:nvPr/>
        </p:nvSpPr>
        <p:spPr>
          <a:xfrm>
            <a:off x="4800600" y="141732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3" name="Shape 11"/>
          <p:cNvSpPr/>
          <p:nvPr/>
        </p:nvSpPr>
        <p:spPr>
          <a:xfrm>
            <a:off x="4800600" y="1417320"/>
            <a:ext cx="64008" cy="1600200"/>
          </a:xfrm>
          <a:prstGeom prst="rect">
            <a:avLst/>
          </a:prstGeom>
          <a:solidFill>
            <a:srgbClr val="C0392B"/>
          </a:solidFill>
          <a:ln w="12700">
            <a:solidFill>
              <a:srgbClr val="C0392B"/>
            </a:solidFill>
            <a:prstDash val="solid"/>
          </a:ln>
        </p:spPr>
      </p:sp>
      <p:sp>
        <p:nvSpPr>
          <p:cNvPr id="14" name="Text 12"/>
          <p:cNvSpPr/>
          <p:nvPr/>
        </p:nvSpPr>
        <p:spPr>
          <a:xfrm>
            <a:off x="5001768" y="150876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Not varying client_type across training pairs</a:t>
            </a:r>
            <a:endParaRPr lang="en-US" sz="1050" dirty="0"/>
          </a:p>
        </p:txBody>
      </p:sp>
      <p:sp>
        <p:nvSpPr>
          <p:cNvPr id="15" name="Text 13"/>
          <p:cNvSpPr/>
          <p:nvPr/>
        </p:nvSpPr>
        <p:spPr>
          <a:xfrm>
            <a:off x="5001768" y="180136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All your Engagement Acceptance Form examples use NPO-GAAS. The model never sees Govt-GAGAS+SA. At inference time it either hallucinates or copies the NPO response for a government engagement.</a:t>
            </a:r>
            <a:endParaRPr lang="en-US" sz="900" dirty="0"/>
          </a:p>
        </p:txBody>
      </p:sp>
      <p:sp>
        <p:nvSpPr>
          <p:cNvPr id="16" name="Shape 14"/>
          <p:cNvSpPr/>
          <p:nvPr/>
        </p:nvSpPr>
        <p:spPr>
          <a:xfrm>
            <a:off x="4937760" y="2514600"/>
            <a:ext cx="3977640" cy="411480"/>
          </a:xfrm>
          <a:prstGeom prst="rect">
            <a:avLst/>
          </a:prstGeom>
          <a:solidFill>
            <a:srgbClr val="FDECEA"/>
          </a:solidFill>
          <a:ln w="12700">
            <a:solidFill>
              <a:srgbClr val="C0392B"/>
            </a:solidFill>
            <a:prstDash val="solid"/>
          </a:ln>
        </p:spPr>
      </p:sp>
      <p:sp>
        <p:nvSpPr>
          <p:cNvPr id="17" name="Text 15"/>
          <p:cNvSpPr/>
          <p:nvPr/>
        </p:nvSpPr>
        <p:spPr>
          <a:xfrm>
            <a:off x="5001768" y="2514600"/>
            <a:ext cx="3886200" cy="411480"/>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FIX: For every workpaper, create at least one example per combination: NPO-GAAS, NPO-GAGAS+SA, Govt-GAGAS, Govt-GAGAS+SA.</a:t>
            </a:r>
            <a:endParaRPr lang="en-US" sz="900" dirty="0"/>
          </a:p>
        </p:txBody>
      </p:sp>
      <p:sp>
        <p:nvSpPr>
          <p:cNvPr id="18" name="Shape 16"/>
          <p:cNvSpPr/>
          <p:nvPr/>
        </p:nvSpPr>
        <p:spPr>
          <a:xfrm>
            <a:off x="365760" y="315468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365760" y="3154680"/>
            <a:ext cx="64008" cy="1600200"/>
          </a:xfrm>
          <a:prstGeom prst="rect">
            <a:avLst/>
          </a:prstGeom>
          <a:solidFill>
            <a:srgbClr val="E09F3E"/>
          </a:solidFill>
          <a:ln w="12700">
            <a:solidFill>
              <a:srgbClr val="E09F3E"/>
            </a:solidFill>
            <a:prstDash val="solid"/>
          </a:ln>
        </p:spPr>
      </p:sp>
      <p:sp>
        <p:nvSpPr>
          <p:cNvPr id="20" name="Text 18"/>
          <p:cNvSpPr/>
          <p:nvPr/>
        </p:nvSpPr>
        <p:spPr>
          <a:xfrm>
            <a:off x="566928" y="324612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Exact duplicate training examples</a:t>
            </a:r>
            <a:endParaRPr lang="en-US" sz="1050" dirty="0"/>
          </a:p>
        </p:txBody>
      </p:sp>
      <p:sp>
        <p:nvSpPr>
          <p:cNvPr id="21" name="Text 19"/>
          <p:cNvSpPr/>
          <p:nvPr/>
        </p:nvSpPr>
        <p:spPr>
          <a:xfrm>
            <a:off x="566928" y="353872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You accidentally add the same JSONL line twice. Or you generate from templates and two client types produce near-identical pairs. The model overfits on repeated patterns and generalizes poorly.</a:t>
            </a:r>
            <a:endParaRPr lang="en-US" sz="900" dirty="0"/>
          </a:p>
        </p:txBody>
      </p:sp>
      <p:sp>
        <p:nvSpPr>
          <p:cNvPr id="22" name="Shape 20"/>
          <p:cNvSpPr/>
          <p:nvPr/>
        </p:nvSpPr>
        <p:spPr>
          <a:xfrm>
            <a:off x="502920" y="4251960"/>
            <a:ext cx="3977640" cy="411480"/>
          </a:xfrm>
          <a:prstGeom prst="rect">
            <a:avLst/>
          </a:prstGeom>
          <a:solidFill>
            <a:srgbClr val="FFF3CD"/>
          </a:solidFill>
          <a:ln w="12700">
            <a:solidFill>
              <a:srgbClr val="E09F3E"/>
            </a:solidFill>
            <a:prstDash val="solid"/>
          </a:ln>
        </p:spPr>
      </p:sp>
      <p:sp>
        <p:nvSpPr>
          <p:cNvPr id="23" name="Text 21"/>
          <p:cNvSpPr/>
          <p:nvPr/>
        </p:nvSpPr>
        <p:spPr>
          <a:xfrm>
            <a:off x="566928" y="4251960"/>
            <a:ext cx="3886200" cy="411480"/>
          </a:xfrm>
          <a:prstGeom prst="rect">
            <a:avLst/>
          </a:prstGeom>
          <a:noFill/>
          <a:ln/>
        </p:spPr>
        <p:txBody>
          <a:bodyPr wrap="square" lIns="0" tIns="0" rIns="0" bIns="0" rtlCol="0" anchor="ctr"/>
          <a:lstStyle/>
          <a:p>
            <a:pPr indent="0" marL="0">
              <a:buNone/>
            </a:pPr>
            <a:r>
              <a:rPr lang="en-US" sz="900" dirty="0">
                <a:solidFill>
                  <a:srgbClr val="8B6914"/>
                </a:solidFill>
                <a:latin typeface="Calibri" pitchFamily="34" charset="0"/>
                <a:ea typeface="Calibri" pitchFamily="34" charset="-122"/>
                <a:cs typeface="Calibri" pitchFamily="34" charset="-120"/>
              </a:rPr>
              <a:t>FIX: Hash every example (sha256 of the full JSON string) before upload. Deduplicate on hash. Run this check programmatically.</a:t>
            </a:r>
            <a:endParaRPr lang="en-US" sz="900" dirty="0"/>
          </a:p>
        </p:txBody>
      </p:sp>
      <p:sp>
        <p:nvSpPr>
          <p:cNvPr id="24" name="Shape 22"/>
          <p:cNvSpPr/>
          <p:nvPr/>
        </p:nvSpPr>
        <p:spPr>
          <a:xfrm>
            <a:off x="4800600" y="3154680"/>
            <a:ext cx="425196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4800600" y="3154680"/>
            <a:ext cx="64008" cy="1600200"/>
          </a:xfrm>
          <a:prstGeom prst="rect">
            <a:avLst/>
          </a:prstGeom>
          <a:solidFill>
            <a:srgbClr val="E09F3E"/>
          </a:solidFill>
          <a:ln w="12700">
            <a:solidFill>
              <a:srgbClr val="E09F3E"/>
            </a:solidFill>
            <a:prstDash val="solid"/>
          </a:ln>
        </p:spPr>
      </p:sp>
      <p:sp>
        <p:nvSpPr>
          <p:cNvPr id="26" name="Text 24"/>
          <p:cNvSpPr/>
          <p:nvPr/>
        </p:nvSpPr>
        <p:spPr>
          <a:xfrm>
            <a:off x="5001768" y="3246120"/>
            <a:ext cx="3886200" cy="274320"/>
          </a:xfrm>
          <a:prstGeom prst="rect">
            <a:avLst/>
          </a:prstGeom>
          <a:noFill/>
          <a:ln/>
        </p:spPr>
        <p:txBody>
          <a:bodyPr wrap="square" lIns="0" tIns="0" rIns="0" bIns="0" rtlCol="0" anchor="ctr"/>
          <a:lstStyle/>
          <a:p>
            <a:pPr indent="0" marL="0">
              <a:buNone/>
            </a:pPr>
            <a:r>
              <a:rPr lang="en-US" sz="1050" b="1" dirty="0">
                <a:solidFill>
                  <a:srgbClr val="1A202C"/>
                </a:solidFill>
                <a:latin typeface="Calibri" pitchFamily="34" charset="0"/>
                <a:ea typeface="Calibri" pitchFamily="34" charset="-122"/>
                <a:cs typeface="Calibri" pitchFamily="34" charset="-120"/>
              </a:rPr>
              <a:t>Generic completions without house style</a:t>
            </a:r>
            <a:endParaRPr lang="en-US" sz="1050" dirty="0"/>
          </a:p>
        </p:txBody>
      </p:sp>
      <p:sp>
        <p:nvSpPr>
          <p:cNvPr id="27" name="Text 25"/>
          <p:cNvSpPr/>
          <p:nvPr/>
        </p:nvSpPr>
        <p:spPr>
          <a:xfrm>
            <a:off x="5001768" y="3538728"/>
            <a:ext cx="388620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Stage 3 should teach HCLLP house style. If completions say 'I recommend...' instead of 'RECOMMENDATION:' or omit the structured FINDINGS: header, the model learns generic audit language, not HCLLP format.</a:t>
            </a:r>
            <a:endParaRPr lang="en-US" sz="900" dirty="0"/>
          </a:p>
        </p:txBody>
      </p:sp>
      <p:sp>
        <p:nvSpPr>
          <p:cNvPr id="28" name="Shape 26"/>
          <p:cNvSpPr/>
          <p:nvPr/>
        </p:nvSpPr>
        <p:spPr>
          <a:xfrm>
            <a:off x="4937760" y="4251960"/>
            <a:ext cx="3977640" cy="411480"/>
          </a:xfrm>
          <a:prstGeom prst="rect">
            <a:avLst/>
          </a:prstGeom>
          <a:solidFill>
            <a:srgbClr val="FFF3CD"/>
          </a:solidFill>
          <a:ln w="12700">
            <a:solidFill>
              <a:srgbClr val="E09F3E"/>
            </a:solidFill>
            <a:prstDash val="solid"/>
          </a:ln>
        </p:spPr>
      </p:sp>
      <p:sp>
        <p:nvSpPr>
          <p:cNvPr id="29" name="Text 27"/>
          <p:cNvSpPr/>
          <p:nvPr/>
        </p:nvSpPr>
        <p:spPr>
          <a:xfrm>
            <a:off x="5001768" y="4251960"/>
            <a:ext cx="3886200" cy="411480"/>
          </a:xfrm>
          <a:prstGeom prst="rect">
            <a:avLst/>
          </a:prstGeom>
          <a:noFill/>
          <a:ln/>
        </p:spPr>
        <p:txBody>
          <a:bodyPr wrap="square" lIns="0" tIns="0" rIns="0" bIns="0" rtlCol="0" anchor="ctr"/>
          <a:lstStyle/>
          <a:p>
            <a:pPr indent="0" marL="0">
              <a:buNone/>
            </a:pPr>
            <a:r>
              <a:rPr lang="en-US" sz="900" dirty="0">
                <a:solidFill>
                  <a:srgbClr val="8B6914"/>
                </a:solidFill>
                <a:latin typeface="Calibri" pitchFamily="34" charset="0"/>
                <a:ea typeface="Calibri" pitchFamily="34" charset="-122"/>
                <a:cs typeface="Calibri" pitchFamily="34" charset="-120"/>
              </a:rPr>
              <a:t>FIX: Write a completion template with fixed structural headers: ENGAGEMENT TYPE → FINDINGS (numbered) → RECOMMENDATION → SIGN-OFF NOTE. Every completion follows it.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2372868" cy="256032"/>
          </a:xfrm>
          <a:prstGeom prst="rect">
            <a:avLst/>
          </a:prstGeom>
          <a:solidFill>
            <a:srgbClr val="0F7173"/>
          </a:solidFill>
          <a:ln w="12700">
            <a:solidFill>
              <a:srgbClr val="0F7173"/>
            </a:solidFill>
            <a:prstDash val="solid"/>
          </a:ln>
        </p:spPr>
      </p:sp>
      <p:sp>
        <p:nvSpPr>
          <p:cNvPr id="3" name="Text 1"/>
          <p:cNvSpPr/>
          <p:nvPr/>
        </p:nvSpPr>
        <p:spPr>
          <a:xfrm>
            <a:off x="365760" y="256032"/>
            <a:ext cx="2372868" cy="256032"/>
          </a:xfrm>
          <a:prstGeom prst="rect">
            <a:avLst/>
          </a:prstGeom>
          <a:noFill/>
          <a:ln/>
        </p:spPr>
        <p:txBody>
          <a:bodyPr wrap="square" lIns="0" tIns="0" rIns="0" bIns="0" rtlCol="0" anchor="ctr"/>
          <a:lstStyle/>
          <a:p>
            <a:pPr algn="ctr" indent="0" marL="0">
              <a:buNone/>
            </a:pPr>
            <a:r>
              <a:rPr lang="en-US" sz="900" b="1" dirty="0">
                <a:solidFill>
                  <a:srgbClr val="FFFFFF"/>
                </a:solidFill>
              </a:rPr>
              <a:t>11 · GOTCHAS — CONFIG &amp; OPS</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Config &amp; ops — the day-one mistakes that haunt you</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None of these produce errors. They silently corrupt your project or your data.</a:t>
            </a:r>
            <a:endParaRPr lang="en-US" sz="1200" dirty="0"/>
          </a:p>
        </p:txBody>
      </p:sp>
      <p:sp>
        <p:nvSpPr>
          <p:cNvPr id="6" name="Shape 4"/>
          <p:cNvSpPr/>
          <p:nvPr/>
        </p:nvSpPr>
        <p:spPr>
          <a:xfrm>
            <a:off x="365760" y="1417320"/>
            <a:ext cx="274320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65760" y="1417320"/>
            <a:ext cx="64008" cy="1627632"/>
          </a:xfrm>
          <a:prstGeom prst="rect">
            <a:avLst/>
          </a:prstGeom>
          <a:solidFill>
            <a:srgbClr val="C0392B"/>
          </a:solidFill>
          <a:ln w="12700">
            <a:solidFill>
              <a:srgbClr val="C0392B"/>
            </a:solidFill>
            <a:prstDash val="solid"/>
          </a:ln>
        </p:spPr>
      </p:sp>
      <p:sp>
        <p:nvSpPr>
          <p:cNvPr id="8" name="Text 6"/>
          <p:cNvSpPr/>
          <p:nvPr/>
        </p:nvSpPr>
        <p:spPr>
          <a:xfrm>
            <a:off x="548640" y="1508760"/>
            <a:ext cx="2423160" cy="31089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API keys hardcoded in scripts</a:t>
            </a:r>
            <a:endParaRPr lang="en-US" sz="950" dirty="0"/>
          </a:p>
        </p:txBody>
      </p:sp>
      <p:sp>
        <p:nvSpPr>
          <p:cNvPr id="9" name="Text 7"/>
          <p:cNvSpPr/>
          <p:nvPr/>
        </p:nvSpPr>
        <p:spPr>
          <a:xfrm>
            <a:off x="548640" y="1837944"/>
            <a:ext cx="2423160" cy="6583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The moment you share a script, paste it to Slack, or commit to a repo — keys are exposed. This happens on day one of every project.</a:t>
            </a:r>
            <a:endParaRPr lang="en-US" sz="850" dirty="0"/>
          </a:p>
        </p:txBody>
      </p:sp>
      <p:sp>
        <p:nvSpPr>
          <p:cNvPr id="10" name="Shape 8"/>
          <p:cNvSpPr/>
          <p:nvPr/>
        </p:nvSpPr>
        <p:spPr>
          <a:xfrm>
            <a:off x="475488" y="2551176"/>
            <a:ext cx="2523744" cy="402336"/>
          </a:xfrm>
          <a:prstGeom prst="rect">
            <a:avLst/>
          </a:prstGeom>
          <a:solidFill>
            <a:srgbClr val="FDECEA"/>
          </a:solidFill>
          <a:ln w="12700">
            <a:solidFill>
              <a:srgbClr val="C0392B"/>
            </a:solidFill>
            <a:prstDash val="solid"/>
          </a:ln>
        </p:spPr>
      </p:sp>
      <p:sp>
        <p:nvSpPr>
          <p:cNvPr id="11" name="Text 9"/>
          <p:cNvSpPr/>
          <p:nvPr/>
        </p:nvSpPr>
        <p:spPr>
          <a:xfrm>
            <a:off x="530352" y="2551176"/>
            <a:ext cx="2423160" cy="402336"/>
          </a:xfrm>
          <a:prstGeom prst="rect">
            <a:avLst/>
          </a:prstGeom>
          <a:noFill/>
          <a:ln/>
        </p:spPr>
        <p:txBody>
          <a:bodyPr wrap="square" lIns="0" tIns="0" rIns="0" bIns="0" rtlCol="0" anchor="ctr"/>
          <a:lstStyle/>
          <a:p>
            <a:pPr indent="0" marL="0">
              <a:buNone/>
            </a:pPr>
            <a:r>
              <a:rPr lang="en-US" sz="850" dirty="0">
                <a:solidFill>
                  <a:srgbClr val="C0392B"/>
                </a:solidFill>
                <a:latin typeface="Calibri" pitchFamily="34" charset="0"/>
                <a:ea typeface="Calibri" pitchFamily="34" charset="-122"/>
                <a:cs typeface="Calibri" pitchFamily="34" charset="-120"/>
              </a:rPr>
              <a:t>FIX: python-dotenv from line 1. .env in .gitignore immediately. Never pass keys as function arguments.</a:t>
            </a:r>
            <a:endParaRPr lang="en-US" sz="850" dirty="0"/>
          </a:p>
        </p:txBody>
      </p:sp>
      <p:sp>
        <p:nvSpPr>
          <p:cNvPr id="12" name="Shape 10"/>
          <p:cNvSpPr/>
          <p:nvPr/>
        </p:nvSpPr>
        <p:spPr>
          <a:xfrm>
            <a:off x="3291840" y="1417320"/>
            <a:ext cx="274320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3" name="Shape 11"/>
          <p:cNvSpPr/>
          <p:nvPr/>
        </p:nvSpPr>
        <p:spPr>
          <a:xfrm>
            <a:off x="3291840" y="1417320"/>
            <a:ext cx="64008" cy="1627632"/>
          </a:xfrm>
          <a:prstGeom prst="rect">
            <a:avLst/>
          </a:prstGeom>
          <a:solidFill>
            <a:srgbClr val="C0392B"/>
          </a:solidFill>
          <a:ln w="12700">
            <a:solidFill>
              <a:srgbClr val="C0392B"/>
            </a:solidFill>
            <a:prstDash val="solid"/>
          </a:ln>
        </p:spPr>
      </p:sp>
      <p:sp>
        <p:nvSpPr>
          <p:cNvPr id="14" name="Text 12"/>
          <p:cNvSpPr/>
          <p:nvPr/>
        </p:nvSpPr>
        <p:spPr>
          <a:xfrm>
            <a:off x="3474720" y="1508760"/>
            <a:ext cx="2423160" cy="31089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No versioning on chunk datasets</a:t>
            </a:r>
            <a:endParaRPr lang="en-US" sz="950" dirty="0"/>
          </a:p>
        </p:txBody>
      </p:sp>
      <p:sp>
        <p:nvSpPr>
          <p:cNvPr id="15" name="Text 13"/>
          <p:cNvSpPr/>
          <p:nvPr/>
        </p:nvSpPr>
        <p:spPr>
          <a:xfrm>
            <a:off x="3474720" y="1837944"/>
            <a:ext cx="2423160" cy="6583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SOP is updated. You re-chunk and re-embed. Now your fine-tuned model was trained on chunk version 1 but Qdrant serves version 2. Retrieval–training drift is invisible and untraceable.</a:t>
            </a:r>
            <a:endParaRPr lang="en-US" sz="850" dirty="0"/>
          </a:p>
        </p:txBody>
      </p:sp>
      <p:sp>
        <p:nvSpPr>
          <p:cNvPr id="16" name="Shape 14"/>
          <p:cNvSpPr/>
          <p:nvPr/>
        </p:nvSpPr>
        <p:spPr>
          <a:xfrm>
            <a:off x="3401568" y="2551176"/>
            <a:ext cx="2523744" cy="402336"/>
          </a:xfrm>
          <a:prstGeom prst="rect">
            <a:avLst/>
          </a:prstGeom>
          <a:solidFill>
            <a:srgbClr val="FDECEA"/>
          </a:solidFill>
          <a:ln w="12700">
            <a:solidFill>
              <a:srgbClr val="C0392B"/>
            </a:solidFill>
            <a:prstDash val="solid"/>
          </a:ln>
        </p:spPr>
      </p:sp>
      <p:sp>
        <p:nvSpPr>
          <p:cNvPr id="17" name="Text 15"/>
          <p:cNvSpPr/>
          <p:nvPr/>
        </p:nvSpPr>
        <p:spPr>
          <a:xfrm>
            <a:off x="3456432" y="2551176"/>
            <a:ext cx="2423160" cy="402336"/>
          </a:xfrm>
          <a:prstGeom prst="rect">
            <a:avLst/>
          </a:prstGeom>
          <a:noFill/>
          <a:ln/>
        </p:spPr>
        <p:txBody>
          <a:bodyPr wrap="square" lIns="0" tIns="0" rIns="0" bIns="0" rtlCol="0" anchor="ctr"/>
          <a:lstStyle/>
          <a:p>
            <a:pPr indent="0" marL="0">
              <a:buNone/>
            </a:pPr>
            <a:r>
              <a:rPr lang="en-US" sz="850" dirty="0">
                <a:solidFill>
                  <a:srgbClr val="C0392B"/>
                </a:solidFill>
                <a:latin typeface="Calibri" pitchFamily="34" charset="0"/>
                <a:ea typeface="Calibri" pitchFamily="34" charset="-122"/>
                <a:cs typeface="Calibri" pitchFamily="34" charset="-120"/>
              </a:rPr>
              <a:t>FIX: Store sop_version + chunks_hash in every Qdrant payload point. Git-tag every JSONL export. Log the model version alongside the dataset version.</a:t>
            </a:r>
            <a:endParaRPr lang="en-US" sz="850" dirty="0"/>
          </a:p>
        </p:txBody>
      </p:sp>
      <p:sp>
        <p:nvSpPr>
          <p:cNvPr id="18" name="Shape 16"/>
          <p:cNvSpPr/>
          <p:nvPr/>
        </p:nvSpPr>
        <p:spPr>
          <a:xfrm>
            <a:off x="6217920" y="1417320"/>
            <a:ext cx="274320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6217920" y="1417320"/>
            <a:ext cx="64008" cy="1627632"/>
          </a:xfrm>
          <a:prstGeom prst="rect">
            <a:avLst/>
          </a:prstGeom>
          <a:solidFill>
            <a:srgbClr val="E09F3E"/>
          </a:solidFill>
          <a:ln w="12700">
            <a:solidFill>
              <a:srgbClr val="E09F3E"/>
            </a:solidFill>
            <a:prstDash val="solid"/>
          </a:ln>
        </p:spPr>
      </p:sp>
      <p:sp>
        <p:nvSpPr>
          <p:cNvPr id="20" name="Text 18"/>
          <p:cNvSpPr/>
          <p:nvPr/>
        </p:nvSpPr>
        <p:spPr>
          <a:xfrm>
            <a:off x="6400800" y="1508760"/>
            <a:ext cx="2423160" cy="31089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No .gitignore for sensitive files</a:t>
            </a:r>
            <a:endParaRPr lang="en-US" sz="950" dirty="0"/>
          </a:p>
        </p:txBody>
      </p:sp>
      <p:sp>
        <p:nvSpPr>
          <p:cNvPr id="21" name="Text 19"/>
          <p:cNvSpPr/>
          <p:nvPr/>
        </p:nvSpPr>
        <p:spPr>
          <a:xfrm>
            <a:off x="6400800" y="1837944"/>
            <a:ext cx="2423160" cy="6583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thresholds.yaml, engagement_labels.csv, and the SOP itself are confidential. Without gitignore, one git push exposes client data and firm procedures.</a:t>
            </a:r>
            <a:endParaRPr lang="en-US" sz="850" dirty="0"/>
          </a:p>
        </p:txBody>
      </p:sp>
      <p:sp>
        <p:nvSpPr>
          <p:cNvPr id="22" name="Shape 20"/>
          <p:cNvSpPr/>
          <p:nvPr/>
        </p:nvSpPr>
        <p:spPr>
          <a:xfrm>
            <a:off x="6327648" y="2551176"/>
            <a:ext cx="2523744" cy="402336"/>
          </a:xfrm>
          <a:prstGeom prst="rect">
            <a:avLst/>
          </a:prstGeom>
          <a:solidFill>
            <a:srgbClr val="FFF3CD"/>
          </a:solidFill>
          <a:ln w="12700">
            <a:solidFill>
              <a:srgbClr val="E09F3E"/>
            </a:solidFill>
            <a:prstDash val="solid"/>
          </a:ln>
        </p:spPr>
      </p:sp>
      <p:sp>
        <p:nvSpPr>
          <p:cNvPr id="23" name="Text 21"/>
          <p:cNvSpPr/>
          <p:nvPr/>
        </p:nvSpPr>
        <p:spPr>
          <a:xfrm>
            <a:off x="6382512" y="2551176"/>
            <a:ext cx="2423160" cy="402336"/>
          </a:xfrm>
          <a:prstGeom prst="rect">
            <a:avLst/>
          </a:prstGeom>
          <a:noFill/>
          <a:ln/>
        </p:spPr>
        <p:txBody>
          <a:bodyPr wrap="square" lIns="0" tIns="0" rIns="0" bIns="0" rtlCol="0" anchor="ctr"/>
          <a:lstStyle/>
          <a:p>
            <a:pPr indent="0" marL="0">
              <a:buNone/>
            </a:pPr>
            <a:r>
              <a:rPr lang="en-US" sz="850" dirty="0">
                <a:solidFill>
                  <a:srgbClr val="8B6914"/>
                </a:solidFill>
                <a:latin typeface="Calibri" pitchFamily="34" charset="0"/>
                <a:ea typeface="Calibri" pitchFamily="34" charset="-122"/>
                <a:cs typeface="Calibri" pitchFamily="34" charset="-120"/>
              </a:rPr>
              <a:t>FIX: Add *.env, thresholds.yaml, /data/, /sop/, *.jsonl to .gitignore before first commit.</a:t>
            </a:r>
            <a:endParaRPr lang="en-US" sz="850" dirty="0"/>
          </a:p>
        </p:txBody>
      </p:sp>
      <p:sp>
        <p:nvSpPr>
          <p:cNvPr id="24" name="Shape 22"/>
          <p:cNvSpPr/>
          <p:nvPr/>
        </p:nvSpPr>
        <p:spPr>
          <a:xfrm>
            <a:off x="365760" y="3200400"/>
            <a:ext cx="274320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365760" y="3200400"/>
            <a:ext cx="64008" cy="1627632"/>
          </a:xfrm>
          <a:prstGeom prst="rect">
            <a:avLst/>
          </a:prstGeom>
          <a:solidFill>
            <a:srgbClr val="E09F3E"/>
          </a:solidFill>
          <a:ln w="12700">
            <a:solidFill>
              <a:srgbClr val="E09F3E"/>
            </a:solidFill>
            <a:prstDash val="solid"/>
          </a:ln>
        </p:spPr>
      </p:sp>
      <p:sp>
        <p:nvSpPr>
          <p:cNvPr id="26" name="Text 24"/>
          <p:cNvSpPr/>
          <p:nvPr/>
        </p:nvSpPr>
        <p:spPr>
          <a:xfrm>
            <a:off x="548640" y="3291840"/>
            <a:ext cx="2423160" cy="31089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Skipping eval loss monitoring during fine-tuning</a:t>
            </a:r>
            <a:endParaRPr lang="en-US" sz="950" dirty="0"/>
          </a:p>
        </p:txBody>
      </p:sp>
      <p:sp>
        <p:nvSpPr>
          <p:cNvPr id="27" name="Text 25"/>
          <p:cNvSpPr/>
          <p:nvPr/>
        </p:nvSpPr>
        <p:spPr>
          <a:xfrm>
            <a:off x="548640" y="3621024"/>
            <a:ext cx="2423160" cy="6583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You set epochs=10, walk away, and come back to an overfit model. Training loss reached 0.02 at epoch 4 but eval loss started rising at epoch 5. The model has memorized, not learned.</a:t>
            </a:r>
            <a:endParaRPr lang="en-US" sz="850" dirty="0"/>
          </a:p>
        </p:txBody>
      </p:sp>
      <p:sp>
        <p:nvSpPr>
          <p:cNvPr id="28" name="Shape 26"/>
          <p:cNvSpPr/>
          <p:nvPr/>
        </p:nvSpPr>
        <p:spPr>
          <a:xfrm>
            <a:off x="475488" y="4334256"/>
            <a:ext cx="2523744" cy="402336"/>
          </a:xfrm>
          <a:prstGeom prst="rect">
            <a:avLst/>
          </a:prstGeom>
          <a:solidFill>
            <a:srgbClr val="FFF3CD"/>
          </a:solidFill>
          <a:ln w="12700">
            <a:solidFill>
              <a:srgbClr val="E09F3E"/>
            </a:solidFill>
            <a:prstDash val="solid"/>
          </a:ln>
        </p:spPr>
      </p:sp>
      <p:sp>
        <p:nvSpPr>
          <p:cNvPr id="29" name="Text 27"/>
          <p:cNvSpPr/>
          <p:nvPr/>
        </p:nvSpPr>
        <p:spPr>
          <a:xfrm>
            <a:off x="530352" y="4334256"/>
            <a:ext cx="2423160" cy="402336"/>
          </a:xfrm>
          <a:prstGeom prst="rect">
            <a:avLst/>
          </a:prstGeom>
          <a:noFill/>
          <a:ln/>
        </p:spPr>
        <p:txBody>
          <a:bodyPr wrap="square" lIns="0" tIns="0" rIns="0" bIns="0" rtlCol="0" anchor="ctr"/>
          <a:lstStyle/>
          <a:p>
            <a:pPr indent="0" marL="0">
              <a:buNone/>
            </a:pPr>
            <a:r>
              <a:rPr lang="en-US" sz="850" dirty="0">
                <a:solidFill>
                  <a:srgbClr val="8B6914"/>
                </a:solidFill>
                <a:latin typeface="Calibri" pitchFamily="34" charset="0"/>
                <a:ea typeface="Calibri" pitchFamily="34" charset="-122"/>
                <a:cs typeface="Calibri" pitchFamily="34" charset="-120"/>
              </a:rPr>
              <a:t>FIX: Monitor eval loss after every epoch. Stop training when eval loss plateaus or rises for 2 consecutive epochs.</a:t>
            </a:r>
            <a:endParaRPr lang="en-US" sz="850" dirty="0"/>
          </a:p>
        </p:txBody>
      </p:sp>
      <p:sp>
        <p:nvSpPr>
          <p:cNvPr id="30" name="Shape 28"/>
          <p:cNvSpPr/>
          <p:nvPr/>
        </p:nvSpPr>
        <p:spPr>
          <a:xfrm>
            <a:off x="3291840" y="3200400"/>
            <a:ext cx="274320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1" name="Shape 29"/>
          <p:cNvSpPr/>
          <p:nvPr/>
        </p:nvSpPr>
        <p:spPr>
          <a:xfrm>
            <a:off x="3291840" y="3200400"/>
            <a:ext cx="64008" cy="1627632"/>
          </a:xfrm>
          <a:prstGeom prst="rect">
            <a:avLst/>
          </a:prstGeom>
          <a:solidFill>
            <a:srgbClr val="0F7173"/>
          </a:solidFill>
          <a:ln w="12700">
            <a:solidFill>
              <a:srgbClr val="0F7173"/>
            </a:solidFill>
            <a:prstDash val="solid"/>
          </a:ln>
        </p:spPr>
      </p:sp>
      <p:sp>
        <p:nvSpPr>
          <p:cNvPr id="32" name="Text 30"/>
          <p:cNvSpPr/>
          <p:nvPr/>
        </p:nvSpPr>
        <p:spPr>
          <a:xfrm>
            <a:off x="3474720" y="3291840"/>
            <a:ext cx="2423160" cy="31089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No smoke-test after Qdrant upsert</a:t>
            </a:r>
            <a:endParaRPr lang="en-US" sz="950" dirty="0"/>
          </a:p>
        </p:txBody>
      </p:sp>
      <p:sp>
        <p:nvSpPr>
          <p:cNvPr id="33" name="Text 31"/>
          <p:cNvSpPr/>
          <p:nvPr/>
        </p:nvSpPr>
        <p:spPr>
          <a:xfrm>
            <a:off x="3474720" y="3621024"/>
            <a:ext cx="2423160" cy="6583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You upsert 3,000 chunks. You assume it worked. You run the full pipeline. Every query returns 0 results because the payload filter field name has a typo ('workpaper_typ' vs 'workpaper_type').</a:t>
            </a:r>
            <a:endParaRPr lang="en-US" sz="850" dirty="0"/>
          </a:p>
        </p:txBody>
      </p:sp>
      <p:sp>
        <p:nvSpPr>
          <p:cNvPr id="34" name="Shape 32"/>
          <p:cNvSpPr/>
          <p:nvPr/>
        </p:nvSpPr>
        <p:spPr>
          <a:xfrm>
            <a:off x="3401568" y="4334256"/>
            <a:ext cx="2523744" cy="402336"/>
          </a:xfrm>
          <a:prstGeom prst="rect">
            <a:avLst/>
          </a:prstGeom>
          <a:solidFill>
            <a:srgbClr val="D8F3F3"/>
          </a:solidFill>
          <a:ln w="12700">
            <a:solidFill>
              <a:srgbClr val="0F7173"/>
            </a:solidFill>
            <a:prstDash val="solid"/>
          </a:ln>
        </p:spPr>
      </p:sp>
      <p:sp>
        <p:nvSpPr>
          <p:cNvPr id="35" name="Text 33"/>
          <p:cNvSpPr/>
          <p:nvPr/>
        </p:nvSpPr>
        <p:spPr>
          <a:xfrm>
            <a:off x="3456432" y="4334256"/>
            <a:ext cx="2423160" cy="402336"/>
          </a:xfrm>
          <a:prstGeom prst="rect">
            <a:avLst/>
          </a:prstGeom>
          <a:noFill/>
          <a:ln/>
        </p:spPr>
        <p:txBody>
          <a:bodyPr wrap="square" lIns="0" tIns="0" rIns="0" bIns="0" rtlCol="0" anchor="ctr"/>
          <a:lstStyle/>
          <a:p>
            <a:pPr indent="0" marL="0">
              <a:buNone/>
            </a:pPr>
            <a:r>
              <a:rPr lang="en-US" sz="850" dirty="0">
                <a:solidFill>
                  <a:srgbClr val="0F7173"/>
                </a:solidFill>
                <a:latin typeface="Calibri" pitchFamily="34" charset="0"/>
                <a:ea typeface="Calibri" pitchFamily="34" charset="-122"/>
                <a:cs typeface="Calibri" pitchFamily="34" charset="-120"/>
              </a:rPr>
              <a:t>FIX: After every upsert batch, run a test query with a known filter and assert the expected chunk is in the top-5 results.</a:t>
            </a:r>
            <a:endParaRPr lang="en-US" sz="850" dirty="0"/>
          </a:p>
        </p:txBody>
      </p:sp>
      <p:sp>
        <p:nvSpPr>
          <p:cNvPr id="36" name="Shape 34"/>
          <p:cNvSpPr/>
          <p:nvPr/>
        </p:nvSpPr>
        <p:spPr>
          <a:xfrm>
            <a:off x="6217920" y="3200400"/>
            <a:ext cx="274320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7" name="Shape 35"/>
          <p:cNvSpPr/>
          <p:nvPr/>
        </p:nvSpPr>
        <p:spPr>
          <a:xfrm>
            <a:off x="6217920" y="3200400"/>
            <a:ext cx="64008" cy="1627632"/>
          </a:xfrm>
          <a:prstGeom prst="rect">
            <a:avLst/>
          </a:prstGeom>
          <a:solidFill>
            <a:srgbClr val="0F7173"/>
          </a:solidFill>
          <a:ln w="12700">
            <a:solidFill>
              <a:srgbClr val="0F7173"/>
            </a:solidFill>
            <a:prstDash val="solid"/>
          </a:ln>
        </p:spPr>
      </p:sp>
      <p:sp>
        <p:nvSpPr>
          <p:cNvPr id="38" name="Text 36"/>
          <p:cNvSpPr/>
          <p:nvPr/>
        </p:nvSpPr>
        <p:spPr>
          <a:xfrm>
            <a:off x="6400800" y="3291840"/>
            <a:ext cx="2423160" cy="31089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Running pipeline as root in Docker</a:t>
            </a:r>
            <a:endParaRPr lang="en-US" sz="950" dirty="0"/>
          </a:p>
        </p:txBody>
      </p:sp>
      <p:sp>
        <p:nvSpPr>
          <p:cNvPr id="39" name="Text 37"/>
          <p:cNvSpPr/>
          <p:nvPr/>
        </p:nvSpPr>
        <p:spPr>
          <a:xfrm>
            <a:off x="6400800" y="3621024"/>
            <a:ext cx="2423160" cy="658368"/>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Running as root means a path traversal bug in PDF parsing can read or overwrite any file in the container. Client PBC documents are high-value targets.</a:t>
            </a:r>
            <a:endParaRPr lang="en-US" sz="850" dirty="0"/>
          </a:p>
        </p:txBody>
      </p:sp>
      <p:sp>
        <p:nvSpPr>
          <p:cNvPr id="40" name="Shape 38"/>
          <p:cNvSpPr/>
          <p:nvPr/>
        </p:nvSpPr>
        <p:spPr>
          <a:xfrm>
            <a:off x="6327648" y="4334256"/>
            <a:ext cx="2523744" cy="402336"/>
          </a:xfrm>
          <a:prstGeom prst="rect">
            <a:avLst/>
          </a:prstGeom>
          <a:solidFill>
            <a:srgbClr val="D8F3F3"/>
          </a:solidFill>
          <a:ln w="12700">
            <a:solidFill>
              <a:srgbClr val="0F7173"/>
            </a:solidFill>
            <a:prstDash val="solid"/>
          </a:ln>
        </p:spPr>
      </p:sp>
      <p:sp>
        <p:nvSpPr>
          <p:cNvPr id="41" name="Text 39"/>
          <p:cNvSpPr/>
          <p:nvPr/>
        </p:nvSpPr>
        <p:spPr>
          <a:xfrm>
            <a:off x="6382512" y="4334256"/>
            <a:ext cx="2423160" cy="402336"/>
          </a:xfrm>
          <a:prstGeom prst="rect">
            <a:avLst/>
          </a:prstGeom>
          <a:noFill/>
          <a:ln/>
        </p:spPr>
        <p:txBody>
          <a:bodyPr wrap="square" lIns="0" tIns="0" rIns="0" bIns="0" rtlCol="0" anchor="ctr"/>
          <a:lstStyle/>
          <a:p>
            <a:pPr indent="0" marL="0">
              <a:buNone/>
            </a:pPr>
            <a:r>
              <a:rPr lang="en-US" sz="850" dirty="0">
                <a:solidFill>
                  <a:srgbClr val="0F7173"/>
                </a:solidFill>
                <a:latin typeface="Calibri" pitchFamily="34" charset="0"/>
                <a:ea typeface="Calibri" pitchFamily="34" charset="-122"/>
                <a:cs typeface="Calibri" pitchFamily="34" charset="-120"/>
              </a:rPr>
              <a:t>FIX: Add USER 1000 to your Dockerfile. Run all pipeline processes as a non-root user from day one.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365760" y="256032"/>
            <a:ext cx="2217420" cy="256032"/>
          </a:xfrm>
          <a:prstGeom prst="rect">
            <a:avLst/>
          </a:prstGeom>
          <a:solidFill>
            <a:srgbClr val="0F7173"/>
          </a:solidFill>
          <a:ln w="12700">
            <a:solidFill>
              <a:srgbClr val="0F7173"/>
            </a:solidFill>
            <a:prstDash val="solid"/>
          </a:ln>
        </p:spPr>
      </p:sp>
      <p:sp>
        <p:nvSpPr>
          <p:cNvPr id="3" name="Text 1"/>
          <p:cNvSpPr/>
          <p:nvPr/>
        </p:nvSpPr>
        <p:spPr>
          <a:xfrm>
            <a:off x="365760" y="256032"/>
            <a:ext cx="2217420" cy="256032"/>
          </a:xfrm>
          <a:prstGeom prst="rect">
            <a:avLst/>
          </a:prstGeom>
          <a:noFill/>
          <a:ln/>
        </p:spPr>
        <p:txBody>
          <a:bodyPr wrap="square" lIns="0" tIns="0" rIns="0" bIns="0" rtlCol="0" anchor="ctr"/>
          <a:lstStyle/>
          <a:p>
            <a:pPr algn="ctr" indent="0" marL="0">
              <a:buNone/>
            </a:pPr>
            <a:r>
              <a:rPr lang="en-US" sz="900" b="1" dirty="0">
                <a:solidFill>
                  <a:srgbClr val="FFFFFF"/>
                </a:solidFill>
              </a:rPr>
              <a:t>12 · PRE-FLIGHT CHECKLIST</a:t>
            </a:r>
            <a:endParaRPr lang="en-US" sz="9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Before writing a single line of pipeline code</a:t>
            </a:r>
            <a:endParaRPr lang="en-US" sz="2600" dirty="0"/>
          </a:p>
        </p:txBody>
      </p:sp>
      <p:sp>
        <p:nvSpPr>
          <p:cNvPr id="5" name="Text 3"/>
          <p:cNvSpPr/>
          <p:nvPr/>
        </p:nvSpPr>
        <p:spPr>
          <a:xfrm>
            <a:off x="365760" y="1051560"/>
            <a:ext cx="8412480" cy="256032"/>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Run through this list top-to-bottom. Do not skip items to 'come back to it later'.</a:t>
            </a:r>
            <a:endParaRPr lang="en-US" sz="1200" dirty="0"/>
          </a:p>
        </p:txBody>
      </p:sp>
      <p:sp>
        <p:nvSpPr>
          <p:cNvPr id="6" name="Shape 4"/>
          <p:cNvSpPr/>
          <p:nvPr/>
        </p:nvSpPr>
        <p:spPr>
          <a:xfrm>
            <a:off x="365760" y="1371600"/>
            <a:ext cx="4251960" cy="16642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65760" y="1371600"/>
            <a:ext cx="64008" cy="1664208"/>
          </a:xfrm>
          <a:prstGeom prst="rect">
            <a:avLst/>
          </a:prstGeom>
          <a:solidFill>
            <a:srgbClr val="0F7173"/>
          </a:solidFill>
          <a:ln w="12700">
            <a:solidFill>
              <a:srgbClr val="0F7173"/>
            </a:solidFill>
            <a:prstDash val="solid"/>
          </a:ln>
        </p:spPr>
      </p:sp>
      <p:sp>
        <p:nvSpPr>
          <p:cNvPr id="8" name="Text 6"/>
          <p:cNvSpPr/>
          <p:nvPr/>
        </p:nvSpPr>
        <p:spPr>
          <a:xfrm>
            <a:off x="548640" y="1463040"/>
            <a:ext cx="3840480" cy="256032"/>
          </a:xfrm>
          <a:prstGeom prst="rect">
            <a:avLst/>
          </a:prstGeom>
          <a:noFill/>
          <a:ln/>
        </p:spPr>
        <p:txBody>
          <a:bodyPr wrap="square" lIns="0" tIns="0" rIns="0" bIns="0" rtlCol="0" anchor="ctr"/>
          <a:lstStyle/>
          <a:p>
            <a:pPr indent="0" marL="0">
              <a:buNone/>
            </a:pPr>
            <a:r>
              <a:rPr lang="en-US" sz="1100" b="1" dirty="0">
                <a:solidFill>
                  <a:srgbClr val="0F7173"/>
                </a:solidFill>
                <a:latin typeface="Calibri" pitchFamily="34" charset="0"/>
                <a:ea typeface="Calibri" pitchFamily="34" charset="-122"/>
                <a:cs typeface="Calibri" pitchFamily="34" charset="-120"/>
              </a:rPr>
              <a:t>Infrastructure</a:t>
            </a:r>
            <a:endParaRPr lang="en-US" sz="1100" dirty="0"/>
          </a:p>
        </p:txBody>
      </p:sp>
      <p:sp>
        <p:nvSpPr>
          <p:cNvPr id="9" name="Text 7"/>
          <p:cNvSpPr/>
          <p:nvPr/>
        </p:nvSpPr>
        <p:spPr>
          <a:xfrm>
            <a:off x="548640" y="1773936"/>
            <a:ext cx="3931920" cy="274320"/>
          </a:xfrm>
          <a:prstGeom prst="rect">
            <a:avLst/>
          </a:prstGeom>
          <a:noFill/>
          <a:ln/>
        </p:spPr>
        <p:txBody>
          <a:bodyPr wrap="square" lIns="0" tIns="0" rIns="0" bIns="0" rtlCol="0" anchor="ctr"/>
          <a:lstStyle/>
          <a:p>
            <a:pPr indent="0" marL="0">
              <a:buNone/>
            </a:pPr>
            <a:r>
              <a:rPr lang="en-US" sz="900" b="1" dirty="0">
                <a:solidFill>
                  <a:srgbClr val="0F7173"/>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Qdrant running locally (Docker) — collection NOT yet created</a:t>
            </a:r>
            <a:endParaRPr lang="en-US" sz="900" dirty="0"/>
          </a:p>
        </p:txBody>
      </p:sp>
      <p:sp>
        <p:nvSpPr>
          <p:cNvPr id="10" name="Text 8"/>
          <p:cNvSpPr/>
          <p:nvPr/>
        </p:nvSpPr>
        <p:spPr>
          <a:xfrm>
            <a:off x="548640" y="2066544"/>
            <a:ext cx="3931920" cy="274320"/>
          </a:xfrm>
          <a:prstGeom prst="rect">
            <a:avLst/>
          </a:prstGeom>
          <a:noFill/>
          <a:ln/>
        </p:spPr>
        <p:txBody>
          <a:bodyPr wrap="square" lIns="0" tIns="0" rIns="0" bIns="0" rtlCol="0" anchor="ctr"/>
          <a:lstStyle/>
          <a:p>
            <a:pPr indent="0" marL="0">
              <a:buNone/>
            </a:pPr>
            <a:r>
              <a:rPr lang="en-US" sz="900" b="1" dirty="0">
                <a:solidFill>
                  <a:srgbClr val="0F7173"/>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Postgres running — engagements, workpapers, sop_chunks, findings tables created</a:t>
            </a:r>
            <a:endParaRPr lang="en-US" sz="900" dirty="0"/>
          </a:p>
        </p:txBody>
      </p:sp>
      <p:sp>
        <p:nvSpPr>
          <p:cNvPr id="11" name="Text 9"/>
          <p:cNvSpPr/>
          <p:nvPr/>
        </p:nvSpPr>
        <p:spPr>
          <a:xfrm>
            <a:off x="548640" y="2359152"/>
            <a:ext cx="3931920" cy="274320"/>
          </a:xfrm>
          <a:prstGeom prst="rect">
            <a:avLst/>
          </a:prstGeom>
          <a:noFill/>
          <a:ln/>
        </p:spPr>
        <p:txBody>
          <a:bodyPr wrap="square" lIns="0" tIns="0" rIns="0" bIns="0" rtlCol="0" anchor="ctr"/>
          <a:lstStyle/>
          <a:p>
            <a:pPr indent="0" marL="0">
              <a:buNone/>
            </a:pPr>
            <a:r>
              <a:rPr lang="en-US" sz="900" b="1" dirty="0">
                <a:solidFill>
                  <a:srgbClr val="0F7173"/>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.env file created, .gitignore includes .env and /data/</a:t>
            </a:r>
            <a:endParaRPr lang="en-US" sz="900" dirty="0"/>
          </a:p>
        </p:txBody>
      </p:sp>
      <p:sp>
        <p:nvSpPr>
          <p:cNvPr id="12" name="Shape 10"/>
          <p:cNvSpPr/>
          <p:nvPr/>
        </p:nvSpPr>
        <p:spPr>
          <a:xfrm>
            <a:off x="4800600" y="1371600"/>
            <a:ext cx="4251960" cy="16642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3" name="Shape 11"/>
          <p:cNvSpPr/>
          <p:nvPr/>
        </p:nvSpPr>
        <p:spPr>
          <a:xfrm>
            <a:off x="4800600" y="1371600"/>
            <a:ext cx="64008" cy="1664208"/>
          </a:xfrm>
          <a:prstGeom prst="rect">
            <a:avLst/>
          </a:prstGeom>
          <a:solidFill>
            <a:srgbClr val="4C3B8A"/>
          </a:solidFill>
          <a:ln w="12700">
            <a:solidFill>
              <a:srgbClr val="4C3B8A"/>
            </a:solidFill>
            <a:prstDash val="solid"/>
          </a:ln>
        </p:spPr>
      </p:sp>
      <p:sp>
        <p:nvSpPr>
          <p:cNvPr id="14" name="Text 12"/>
          <p:cNvSpPr/>
          <p:nvPr/>
        </p:nvSpPr>
        <p:spPr>
          <a:xfrm>
            <a:off x="4983480" y="1463040"/>
            <a:ext cx="3840480" cy="256032"/>
          </a:xfrm>
          <a:prstGeom prst="rect">
            <a:avLst/>
          </a:prstGeom>
          <a:noFill/>
          <a:ln/>
        </p:spPr>
        <p:txBody>
          <a:bodyPr wrap="square" lIns="0" tIns="0" rIns="0" bIns="0" rtlCol="0" anchor="ctr"/>
          <a:lstStyle/>
          <a:p>
            <a:pPr indent="0" marL="0">
              <a:buNone/>
            </a:pPr>
            <a:r>
              <a:rPr lang="en-US" sz="1100" b="1" dirty="0">
                <a:solidFill>
                  <a:srgbClr val="4C3B8A"/>
                </a:solidFill>
                <a:latin typeface="Calibri" pitchFamily="34" charset="0"/>
                <a:ea typeface="Calibri" pitchFamily="34" charset="-122"/>
                <a:cs typeface="Calibri" pitchFamily="34" charset="-120"/>
              </a:rPr>
              <a:t>Embedding model</a:t>
            </a:r>
            <a:endParaRPr lang="en-US" sz="1100" dirty="0"/>
          </a:p>
        </p:txBody>
      </p:sp>
      <p:sp>
        <p:nvSpPr>
          <p:cNvPr id="15" name="Text 13"/>
          <p:cNvSpPr/>
          <p:nvPr/>
        </p:nvSpPr>
        <p:spPr>
          <a:xfrm>
            <a:off x="4983480" y="1773936"/>
            <a:ext cx="3931920" cy="274320"/>
          </a:xfrm>
          <a:prstGeom prst="rect">
            <a:avLst/>
          </a:prstGeom>
          <a:noFill/>
          <a:ln/>
        </p:spPr>
        <p:txBody>
          <a:bodyPr wrap="square" lIns="0" tIns="0" rIns="0" bIns="0" rtlCol="0" anchor="ctr"/>
          <a:lstStyle/>
          <a:p>
            <a:pPr indent="0" marL="0">
              <a:buNone/>
            </a:pPr>
            <a:r>
              <a:rPr lang="en-US" sz="900" b="1" dirty="0">
                <a:solidFill>
                  <a:srgbClr val="4C3B8A"/>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Model chosen and pinned: text-embedding-3-small v1  OR  bge-large-en-v1.5</a:t>
            </a:r>
            <a:endParaRPr lang="en-US" sz="900" dirty="0"/>
          </a:p>
        </p:txBody>
      </p:sp>
      <p:sp>
        <p:nvSpPr>
          <p:cNvPr id="16" name="Text 14"/>
          <p:cNvSpPr/>
          <p:nvPr/>
        </p:nvSpPr>
        <p:spPr>
          <a:xfrm>
            <a:off x="4983480" y="2066544"/>
            <a:ext cx="3931920" cy="274320"/>
          </a:xfrm>
          <a:prstGeom prst="rect">
            <a:avLst/>
          </a:prstGeom>
          <a:noFill/>
          <a:ln/>
        </p:spPr>
        <p:txBody>
          <a:bodyPr wrap="square" lIns="0" tIns="0" rIns="0" bIns="0" rtlCol="0" anchor="ctr"/>
          <a:lstStyle/>
          <a:p>
            <a:pPr indent="0" marL="0">
              <a:buNone/>
            </a:pPr>
            <a:r>
              <a:rPr lang="en-US" sz="900" b="1" dirty="0">
                <a:solidFill>
                  <a:srgbClr val="4C3B8A"/>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Vector size written to config.yaml: vector_size: 1536</a:t>
            </a:r>
            <a:endParaRPr lang="en-US" sz="900" dirty="0"/>
          </a:p>
        </p:txBody>
      </p:sp>
      <p:sp>
        <p:nvSpPr>
          <p:cNvPr id="17" name="Text 15"/>
          <p:cNvSpPr/>
          <p:nvPr/>
        </p:nvSpPr>
        <p:spPr>
          <a:xfrm>
            <a:off x="4983480" y="2359152"/>
            <a:ext cx="3931920" cy="274320"/>
          </a:xfrm>
          <a:prstGeom prst="rect">
            <a:avLst/>
          </a:prstGeom>
          <a:noFill/>
          <a:ln/>
        </p:spPr>
        <p:txBody>
          <a:bodyPr wrap="square" lIns="0" tIns="0" rIns="0" bIns="0" rtlCol="0" anchor="ctr"/>
          <a:lstStyle/>
          <a:p>
            <a:pPr indent="0" marL="0">
              <a:buNone/>
            </a:pPr>
            <a:r>
              <a:rPr lang="en-US" sz="900" b="1" dirty="0">
                <a:solidFill>
                  <a:srgbClr val="4C3B8A"/>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Qdrant collection created with correct vector_size and distance: cosine</a:t>
            </a:r>
            <a:endParaRPr lang="en-US" sz="900" dirty="0"/>
          </a:p>
        </p:txBody>
      </p:sp>
      <p:sp>
        <p:nvSpPr>
          <p:cNvPr id="18" name="Text 16"/>
          <p:cNvSpPr/>
          <p:nvPr/>
        </p:nvSpPr>
        <p:spPr>
          <a:xfrm>
            <a:off x="4983480" y="2651760"/>
            <a:ext cx="3931920" cy="274320"/>
          </a:xfrm>
          <a:prstGeom prst="rect">
            <a:avLst/>
          </a:prstGeom>
          <a:noFill/>
          <a:ln/>
        </p:spPr>
        <p:txBody>
          <a:bodyPr wrap="square" lIns="0" tIns="0" rIns="0" bIns="0" rtlCol="0" anchor="ctr"/>
          <a:lstStyle/>
          <a:p>
            <a:pPr indent="0" marL="0">
              <a:buNone/>
            </a:pPr>
            <a:r>
              <a:rPr lang="en-US" sz="900" b="1" dirty="0">
                <a:solidFill>
                  <a:srgbClr val="4C3B8A"/>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Payload indexes created: workpaper_type (keyword), year (integer)</a:t>
            </a:r>
            <a:endParaRPr lang="en-US" sz="900" dirty="0"/>
          </a:p>
        </p:txBody>
      </p:sp>
      <p:sp>
        <p:nvSpPr>
          <p:cNvPr id="19" name="Shape 17"/>
          <p:cNvSpPr/>
          <p:nvPr/>
        </p:nvSpPr>
        <p:spPr>
          <a:xfrm>
            <a:off x="365760" y="3182112"/>
            <a:ext cx="4251960" cy="16642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365760" y="3182112"/>
            <a:ext cx="64008" cy="1664208"/>
          </a:xfrm>
          <a:prstGeom prst="rect">
            <a:avLst/>
          </a:prstGeom>
          <a:solidFill>
            <a:srgbClr val="E09F3E"/>
          </a:solidFill>
          <a:ln w="12700">
            <a:solidFill>
              <a:srgbClr val="E09F3E"/>
            </a:solidFill>
            <a:prstDash val="solid"/>
          </a:ln>
        </p:spPr>
      </p:sp>
      <p:sp>
        <p:nvSpPr>
          <p:cNvPr id="21" name="Text 19"/>
          <p:cNvSpPr/>
          <p:nvPr/>
        </p:nvSpPr>
        <p:spPr>
          <a:xfrm>
            <a:off x="548640" y="3273552"/>
            <a:ext cx="3840480" cy="256032"/>
          </a:xfrm>
          <a:prstGeom prst="rect">
            <a:avLst/>
          </a:prstGeom>
          <a:noFill/>
          <a:ln/>
        </p:spPr>
        <p:txBody>
          <a:bodyPr wrap="square" lIns="0" tIns="0" rIns="0" bIns="0" rtlCol="0" anchor="ctr"/>
          <a:lstStyle/>
          <a:p>
            <a:pPr indent="0" marL="0">
              <a:buNone/>
            </a:pPr>
            <a:r>
              <a:rPr lang="en-US" sz="1100" b="1" dirty="0">
                <a:solidFill>
                  <a:srgbClr val="E09F3E"/>
                </a:solidFill>
                <a:latin typeface="Calibri" pitchFamily="34" charset="0"/>
                <a:ea typeface="Calibri" pitchFamily="34" charset="-122"/>
                <a:cs typeface="Calibri" pitchFamily="34" charset="-120"/>
              </a:rPr>
              <a:t>SOP preparation</a:t>
            </a:r>
            <a:endParaRPr lang="en-US" sz="1100" dirty="0"/>
          </a:p>
        </p:txBody>
      </p:sp>
      <p:sp>
        <p:nvSpPr>
          <p:cNvPr id="22" name="Text 20"/>
          <p:cNvSpPr/>
          <p:nvPr/>
        </p:nvSpPr>
        <p:spPr>
          <a:xfrm>
            <a:off x="548640" y="3584448"/>
            <a:ext cx="3931920" cy="274320"/>
          </a:xfrm>
          <a:prstGeom prst="rect">
            <a:avLst/>
          </a:prstGeom>
          <a:noFill/>
          <a:ln/>
        </p:spPr>
        <p:txBody>
          <a:bodyPr wrap="square" lIns="0" tIns="0" rIns="0" bIns="0" rtlCol="0" anchor="ctr"/>
          <a:lstStyle/>
          <a:p>
            <a:pPr indent="0" marL="0">
              <a:buNone/>
            </a:pPr>
            <a:r>
              <a:rPr lang="en-US" sz="900" b="1" dirty="0">
                <a:solidFill>
                  <a:srgbClr val="E09F3E"/>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SOP PDF stripped of headers, footers, and page numbers</a:t>
            </a:r>
            <a:endParaRPr lang="en-US" sz="900" dirty="0"/>
          </a:p>
        </p:txBody>
      </p:sp>
      <p:sp>
        <p:nvSpPr>
          <p:cNvPr id="23" name="Text 21"/>
          <p:cNvSpPr/>
          <p:nvPr/>
        </p:nvSpPr>
        <p:spPr>
          <a:xfrm>
            <a:off x="548640" y="3877056"/>
            <a:ext cx="3931920" cy="274320"/>
          </a:xfrm>
          <a:prstGeom prst="rect">
            <a:avLst/>
          </a:prstGeom>
          <a:noFill/>
          <a:ln/>
        </p:spPr>
        <p:txBody>
          <a:bodyPr wrap="square" lIns="0" tIns="0" rIns="0" bIns="0" rtlCol="0" anchor="ctr"/>
          <a:lstStyle/>
          <a:p>
            <a:pPr indent="0" marL="0">
              <a:buNone/>
            </a:pPr>
            <a:r>
              <a:rPr lang="en-US" sz="900" b="1" dirty="0">
                <a:solidFill>
                  <a:srgbClr val="E09F3E"/>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Chunking tested: chunk_size=400 tokens, overlap=50 tokens, measured with tiktoken</a:t>
            </a:r>
            <a:endParaRPr lang="en-US" sz="900" dirty="0"/>
          </a:p>
        </p:txBody>
      </p:sp>
      <p:sp>
        <p:nvSpPr>
          <p:cNvPr id="24" name="Text 22"/>
          <p:cNvSpPr/>
          <p:nvPr/>
        </p:nvSpPr>
        <p:spPr>
          <a:xfrm>
            <a:off x="548640" y="4169664"/>
            <a:ext cx="3931920" cy="274320"/>
          </a:xfrm>
          <a:prstGeom prst="rect">
            <a:avLst/>
          </a:prstGeom>
          <a:noFill/>
          <a:ln/>
        </p:spPr>
        <p:txBody>
          <a:bodyPr wrap="square" lIns="0" tIns="0" rIns="0" bIns="0" rtlCol="0" anchor="ctr"/>
          <a:lstStyle/>
          <a:p>
            <a:pPr indent="0" marL="0">
              <a:buNone/>
            </a:pPr>
            <a:r>
              <a:rPr lang="en-US" sz="900" b="1" dirty="0">
                <a:solidFill>
                  <a:srgbClr val="E09F3E"/>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Test chunk created, embedded, and upserted — smoke-test query returns it</a:t>
            </a:r>
            <a:endParaRPr lang="en-US" sz="900" dirty="0"/>
          </a:p>
        </p:txBody>
      </p:sp>
      <p:sp>
        <p:nvSpPr>
          <p:cNvPr id="25" name="Text 23"/>
          <p:cNvSpPr/>
          <p:nvPr/>
        </p:nvSpPr>
        <p:spPr>
          <a:xfrm>
            <a:off x="548640" y="4462272"/>
            <a:ext cx="3931920" cy="274320"/>
          </a:xfrm>
          <a:prstGeom prst="rect">
            <a:avLst/>
          </a:prstGeom>
          <a:noFill/>
          <a:ln/>
        </p:spPr>
        <p:txBody>
          <a:bodyPr wrap="square" lIns="0" tIns="0" rIns="0" bIns="0" rtlCol="0" anchor="ctr"/>
          <a:lstStyle/>
          <a:p>
            <a:pPr indent="0" marL="0">
              <a:buNone/>
            </a:pPr>
            <a:r>
              <a:rPr lang="en-US" sz="900" b="1" dirty="0">
                <a:solidFill>
                  <a:srgbClr val="E09F3E"/>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chunk_id = sha256(source_doc + char_start) — confirmed idempotent on rerun</a:t>
            </a:r>
            <a:endParaRPr lang="en-US" sz="900" dirty="0"/>
          </a:p>
        </p:txBody>
      </p:sp>
      <p:sp>
        <p:nvSpPr>
          <p:cNvPr id="26" name="Shape 24"/>
          <p:cNvSpPr/>
          <p:nvPr/>
        </p:nvSpPr>
        <p:spPr>
          <a:xfrm>
            <a:off x="4800600" y="3182112"/>
            <a:ext cx="4251960" cy="16642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4800600" y="3182112"/>
            <a:ext cx="64008" cy="1664208"/>
          </a:xfrm>
          <a:prstGeom prst="rect">
            <a:avLst/>
          </a:prstGeom>
          <a:solidFill>
            <a:srgbClr val="C0392B"/>
          </a:solidFill>
          <a:ln w="12700">
            <a:solidFill>
              <a:srgbClr val="C0392B"/>
            </a:solidFill>
            <a:prstDash val="solid"/>
          </a:ln>
        </p:spPr>
      </p:sp>
      <p:sp>
        <p:nvSpPr>
          <p:cNvPr id="28" name="Text 26"/>
          <p:cNvSpPr/>
          <p:nvPr/>
        </p:nvSpPr>
        <p:spPr>
          <a:xfrm>
            <a:off x="4983480" y="3273552"/>
            <a:ext cx="3840480" cy="256032"/>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Training data</a:t>
            </a:r>
            <a:endParaRPr lang="en-US" sz="1100" dirty="0"/>
          </a:p>
        </p:txBody>
      </p:sp>
      <p:sp>
        <p:nvSpPr>
          <p:cNvPr id="29" name="Text 27"/>
          <p:cNvSpPr/>
          <p:nvPr/>
        </p:nvSpPr>
        <p:spPr>
          <a:xfrm>
            <a:off x="4983480" y="3584448"/>
            <a:ext cx="3931920" cy="274320"/>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Completion template written with fixed structural headers (FINDINGS / RECOMMENDATION)</a:t>
            </a:r>
            <a:endParaRPr lang="en-US" sz="900" dirty="0"/>
          </a:p>
        </p:txBody>
      </p:sp>
      <p:sp>
        <p:nvSpPr>
          <p:cNvPr id="30" name="Text 28"/>
          <p:cNvSpPr/>
          <p:nvPr/>
        </p:nvSpPr>
        <p:spPr>
          <a:xfrm>
            <a:off x="4983480" y="3877056"/>
            <a:ext cx="3931920" cy="274320"/>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At least one training pair written per client_type combination per workpaper type</a:t>
            </a:r>
            <a:endParaRPr lang="en-US" sz="900" dirty="0"/>
          </a:p>
        </p:txBody>
      </p:sp>
      <p:sp>
        <p:nvSpPr>
          <p:cNvPr id="31" name="Text 29"/>
          <p:cNvSpPr/>
          <p:nvPr/>
        </p:nvSpPr>
        <p:spPr>
          <a:xfrm>
            <a:off x="4983480" y="4169664"/>
            <a:ext cx="3931920" cy="274320"/>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All pairs hashed and deduplicated before JSONL export</a:t>
            </a:r>
            <a:endParaRPr lang="en-US" sz="900" dirty="0"/>
          </a:p>
        </p:txBody>
      </p:sp>
      <p:sp>
        <p:nvSpPr>
          <p:cNvPr id="32" name="Text 30"/>
          <p:cNvSpPr/>
          <p:nvPr/>
        </p:nvSpPr>
        <p:spPr>
          <a:xfrm>
            <a:off x="4983480" y="4462272"/>
            <a:ext cx="3931920" cy="274320"/>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  </a:t>
            </a:r>
            <a:pPr indent="0" marL="0">
              <a:buNone/>
            </a:pPr>
            <a:r>
              <a:rPr lang="en-US" sz="900" dirty="0">
                <a:solidFill>
                  <a:srgbClr val="1A202C"/>
                </a:solidFill>
                <a:latin typeface="Calibri" pitchFamily="34" charset="0"/>
                <a:ea typeface="Calibri" pitchFamily="34" charset="-122"/>
                <a:cs typeface="Calibri" pitchFamily="34" charset="-120"/>
              </a:rPr>
              <a:t>Stage 2 (domain) and Stage 3 (firm) datasets kept in separate files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7173"/>
          </a:solidFill>
          <a:ln w="12700">
            <a:solidFill>
              <a:srgbClr val="0F7173"/>
            </a:solidFill>
            <a:prstDash val="solid"/>
          </a:ln>
        </p:spPr>
      </p:sp>
      <p:sp>
        <p:nvSpPr>
          <p:cNvPr id="3" name="Text 1"/>
          <p:cNvSpPr/>
          <p:nvPr/>
        </p:nvSpPr>
        <p:spPr>
          <a:xfrm>
            <a:off x="502920" y="822960"/>
            <a:ext cx="8229600" cy="6400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Start here. In this order.</a:t>
            </a:r>
            <a:endParaRPr lang="en-US" sz="3800" dirty="0"/>
          </a:p>
        </p:txBody>
      </p:sp>
      <p:sp>
        <p:nvSpPr>
          <p:cNvPr id="4" name="Text 2"/>
          <p:cNvSpPr/>
          <p:nvPr/>
        </p:nvSpPr>
        <p:spPr>
          <a:xfrm>
            <a:off x="502920" y="1463040"/>
            <a:ext cx="8229600" cy="365760"/>
          </a:xfrm>
          <a:prstGeom prst="rect">
            <a:avLst/>
          </a:prstGeom>
          <a:noFill/>
          <a:ln/>
        </p:spPr>
        <p:txBody>
          <a:bodyPr wrap="square" lIns="0" tIns="0" rIns="0" bIns="0" rtlCol="0" anchor="ctr"/>
          <a:lstStyle/>
          <a:p>
            <a:pPr indent="0" marL="0">
              <a:buNone/>
            </a:pPr>
            <a:r>
              <a:rPr lang="en-US" sz="1600" i="1" dirty="0">
                <a:solidFill>
                  <a:srgbClr val="0F7173"/>
                </a:solidFill>
                <a:latin typeface="Calibri" pitchFamily="34" charset="0"/>
                <a:ea typeface="Calibri" pitchFamily="34" charset="-122"/>
                <a:cs typeface="Calibri" pitchFamily="34" charset="-120"/>
              </a:rPr>
              <a:t>The sequence is the methodology.</a:t>
            </a:r>
            <a:endParaRPr lang="en-US" sz="1600" dirty="0"/>
          </a:p>
        </p:txBody>
      </p:sp>
      <p:sp>
        <p:nvSpPr>
          <p:cNvPr id="5" name="Shape 3"/>
          <p:cNvSpPr/>
          <p:nvPr/>
        </p:nvSpPr>
        <p:spPr>
          <a:xfrm>
            <a:off x="502920" y="1920240"/>
            <a:ext cx="7772400" cy="13716"/>
          </a:xfrm>
          <a:prstGeom prst="rect">
            <a:avLst/>
          </a:prstGeom>
          <a:solidFill>
            <a:srgbClr val="0F7173"/>
          </a:solidFill>
          <a:ln w="12700">
            <a:solidFill>
              <a:srgbClr val="0F7173"/>
            </a:solidFill>
            <a:prstDash val="solid"/>
          </a:ln>
        </p:spPr>
      </p:sp>
      <p:sp>
        <p:nvSpPr>
          <p:cNvPr id="6" name="Shape 4"/>
          <p:cNvSpPr/>
          <p:nvPr/>
        </p:nvSpPr>
        <p:spPr>
          <a:xfrm>
            <a:off x="502920" y="2057400"/>
            <a:ext cx="329184" cy="329184"/>
          </a:xfrm>
          <a:prstGeom prst="rect">
            <a:avLst/>
          </a:prstGeom>
          <a:solidFill>
            <a:srgbClr val="0F7173"/>
          </a:solidFill>
          <a:ln w="12700">
            <a:solidFill>
              <a:srgbClr val="0F7173"/>
            </a:solidFill>
            <a:prstDash val="solid"/>
          </a:ln>
        </p:spPr>
      </p:sp>
      <p:sp>
        <p:nvSpPr>
          <p:cNvPr id="7" name="Text 5"/>
          <p:cNvSpPr/>
          <p:nvPr/>
        </p:nvSpPr>
        <p:spPr>
          <a:xfrm>
            <a:off x="502920" y="2057400"/>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01</a:t>
            </a:r>
            <a:endParaRPr lang="en-US" sz="1000" dirty="0"/>
          </a:p>
        </p:txBody>
      </p:sp>
      <p:sp>
        <p:nvSpPr>
          <p:cNvPr id="8" name="Text 6"/>
          <p:cNvSpPr/>
          <p:nvPr/>
        </p:nvSpPr>
        <p:spPr>
          <a:xfrm>
            <a:off x="960120" y="2103120"/>
            <a:ext cx="7315200" cy="274320"/>
          </a:xfrm>
          <a:prstGeom prst="rect">
            <a:avLst/>
          </a:prstGeom>
          <a:noFill/>
          <a:ln/>
        </p:spPr>
        <p:txBody>
          <a:bodyPr wrap="square" lIns="0" tIns="0" rIns="0" bIns="0" rtlCol="0" anchor="ctr"/>
          <a:lstStyle/>
          <a:p>
            <a:pPr indent="0" marL="0">
              <a:buNone/>
            </a:pPr>
            <a:r>
              <a:rPr lang="en-US" sz="1200" dirty="0">
                <a:solidFill>
                  <a:srgbClr val="D0DDE8"/>
                </a:solidFill>
                <a:latin typeface="Calibri" pitchFamily="34" charset="0"/>
                <a:ea typeface="Calibri" pitchFamily="34" charset="-122"/>
                <a:cs typeface="Calibri" pitchFamily="34" charset="-120"/>
              </a:rPr>
              <a:t>Lock embedding model → write to config.yaml</a:t>
            </a:r>
            <a:endParaRPr lang="en-US" sz="1200" dirty="0"/>
          </a:p>
        </p:txBody>
      </p:sp>
      <p:sp>
        <p:nvSpPr>
          <p:cNvPr id="9" name="Shape 7"/>
          <p:cNvSpPr/>
          <p:nvPr/>
        </p:nvSpPr>
        <p:spPr>
          <a:xfrm>
            <a:off x="502920" y="2496312"/>
            <a:ext cx="329184" cy="329184"/>
          </a:xfrm>
          <a:prstGeom prst="rect">
            <a:avLst/>
          </a:prstGeom>
          <a:solidFill>
            <a:srgbClr val="0F7173"/>
          </a:solidFill>
          <a:ln w="12700">
            <a:solidFill>
              <a:srgbClr val="0F7173"/>
            </a:solidFill>
            <a:prstDash val="solid"/>
          </a:ln>
        </p:spPr>
      </p:sp>
      <p:sp>
        <p:nvSpPr>
          <p:cNvPr id="10" name="Text 8"/>
          <p:cNvSpPr/>
          <p:nvPr/>
        </p:nvSpPr>
        <p:spPr>
          <a:xfrm>
            <a:off x="502920" y="2496312"/>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02</a:t>
            </a:r>
            <a:endParaRPr lang="en-US" sz="1000" dirty="0"/>
          </a:p>
        </p:txBody>
      </p:sp>
      <p:sp>
        <p:nvSpPr>
          <p:cNvPr id="11" name="Text 9"/>
          <p:cNvSpPr/>
          <p:nvPr/>
        </p:nvSpPr>
        <p:spPr>
          <a:xfrm>
            <a:off x="960120" y="2542032"/>
            <a:ext cx="7315200" cy="274320"/>
          </a:xfrm>
          <a:prstGeom prst="rect">
            <a:avLst/>
          </a:prstGeom>
          <a:noFill/>
          <a:ln/>
        </p:spPr>
        <p:txBody>
          <a:bodyPr wrap="square" lIns="0" tIns="0" rIns="0" bIns="0" rtlCol="0" anchor="ctr"/>
          <a:lstStyle/>
          <a:p>
            <a:pPr indent="0" marL="0">
              <a:buNone/>
            </a:pPr>
            <a:r>
              <a:rPr lang="en-US" sz="1200" dirty="0">
                <a:solidFill>
                  <a:srgbClr val="D0DDE8"/>
                </a:solidFill>
                <a:latin typeface="Calibri" pitchFamily="34" charset="0"/>
                <a:ea typeface="Calibri" pitchFamily="34" charset="-122"/>
                <a:cs typeface="Calibri" pitchFamily="34" charset="-120"/>
              </a:rPr>
              <a:t>Create Qdrant collection with exact vector_size → create payload indexes</a:t>
            </a:r>
            <a:endParaRPr lang="en-US" sz="1200" dirty="0"/>
          </a:p>
        </p:txBody>
      </p:sp>
      <p:sp>
        <p:nvSpPr>
          <p:cNvPr id="12" name="Shape 10"/>
          <p:cNvSpPr/>
          <p:nvPr/>
        </p:nvSpPr>
        <p:spPr>
          <a:xfrm>
            <a:off x="502920" y="2935224"/>
            <a:ext cx="329184" cy="329184"/>
          </a:xfrm>
          <a:prstGeom prst="rect">
            <a:avLst/>
          </a:prstGeom>
          <a:solidFill>
            <a:srgbClr val="0F7173"/>
          </a:solidFill>
          <a:ln w="12700">
            <a:solidFill>
              <a:srgbClr val="0F7173"/>
            </a:solidFill>
            <a:prstDash val="solid"/>
          </a:ln>
        </p:spPr>
      </p:sp>
      <p:sp>
        <p:nvSpPr>
          <p:cNvPr id="13" name="Text 11"/>
          <p:cNvSpPr/>
          <p:nvPr/>
        </p:nvSpPr>
        <p:spPr>
          <a:xfrm>
            <a:off x="502920" y="2935224"/>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03</a:t>
            </a:r>
            <a:endParaRPr lang="en-US" sz="1000" dirty="0"/>
          </a:p>
        </p:txBody>
      </p:sp>
      <p:sp>
        <p:nvSpPr>
          <p:cNvPr id="14" name="Text 12"/>
          <p:cNvSpPr/>
          <p:nvPr/>
        </p:nvSpPr>
        <p:spPr>
          <a:xfrm>
            <a:off x="960120" y="2980944"/>
            <a:ext cx="7315200" cy="274320"/>
          </a:xfrm>
          <a:prstGeom prst="rect">
            <a:avLst/>
          </a:prstGeom>
          <a:noFill/>
          <a:ln/>
        </p:spPr>
        <p:txBody>
          <a:bodyPr wrap="square" lIns="0" tIns="0" rIns="0" bIns="0" rtlCol="0" anchor="ctr"/>
          <a:lstStyle/>
          <a:p>
            <a:pPr indent="0" marL="0">
              <a:buNone/>
            </a:pPr>
            <a:r>
              <a:rPr lang="en-US" sz="1200" dirty="0">
                <a:solidFill>
                  <a:srgbClr val="D0DDE8"/>
                </a:solidFill>
                <a:latin typeface="Calibri" pitchFamily="34" charset="0"/>
                <a:ea typeface="Calibri" pitchFamily="34" charset="-122"/>
                <a:cs typeface="Calibri" pitchFamily="34" charset="-120"/>
              </a:rPr>
              <a:t>Create Postgres tables including sop_chunks with chunks_version</a:t>
            </a:r>
            <a:endParaRPr lang="en-US" sz="1200" dirty="0"/>
          </a:p>
        </p:txBody>
      </p:sp>
      <p:sp>
        <p:nvSpPr>
          <p:cNvPr id="15" name="Shape 13"/>
          <p:cNvSpPr/>
          <p:nvPr/>
        </p:nvSpPr>
        <p:spPr>
          <a:xfrm>
            <a:off x="502920" y="3374136"/>
            <a:ext cx="329184" cy="329184"/>
          </a:xfrm>
          <a:prstGeom prst="rect">
            <a:avLst/>
          </a:prstGeom>
          <a:solidFill>
            <a:srgbClr val="0F7173"/>
          </a:solidFill>
          <a:ln w="12700">
            <a:solidFill>
              <a:srgbClr val="0F7173"/>
            </a:solidFill>
            <a:prstDash val="solid"/>
          </a:ln>
        </p:spPr>
      </p:sp>
      <p:sp>
        <p:nvSpPr>
          <p:cNvPr id="16" name="Text 14"/>
          <p:cNvSpPr/>
          <p:nvPr/>
        </p:nvSpPr>
        <p:spPr>
          <a:xfrm>
            <a:off x="502920" y="3374136"/>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04</a:t>
            </a:r>
            <a:endParaRPr lang="en-US" sz="1000" dirty="0"/>
          </a:p>
        </p:txBody>
      </p:sp>
      <p:sp>
        <p:nvSpPr>
          <p:cNvPr id="17" name="Text 15"/>
          <p:cNvSpPr/>
          <p:nvPr/>
        </p:nvSpPr>
        <p:spPr>
          <a:xfrm>
            <a:off x="960120" y="3419856"/>
            <a:ext cx="7315200" cy="274320"/>
          </a:xfrm>
          <a:prstGeom prst="rect">
            <a:avLst/>
          </a:prstGeom>
          <a:noFill/>
          <a:ln/>
        </p:spPr>
        <p:txBody>
          <a:bodyPr wrap="square" lIns="0" tIns="0" rIns="0" bIns="0" rtlCol="0" anchor="ctr"/>
          <a:lstStyle/>
          <a:p>
            <a:pPr indent="0" marL="0">
              <a:buNone/>
            </a:pPr>
            <a:r>
              <a:rPr lang="en-US" sz="1200" dirty="0">
                <a:solidFill>
                  <a:srgbClr val="D0DDE8"/>
                </a:solidFill>
                <a:latin typeface="Calibri" pitchFamily="34" charset="0"/>
                <a:ea typeface="Calibri" pitchFamily="34" charset="-122"/>
                <a:cs typeface="Calibri" pitchFamily="34" charset="-120"/>
              </a:rPr>
              <a:t>Clean SOP → chunk with tiktoken → embed → upsert → smoke-test retrieval</a:t>
            </a:r>
            <a:endParaRPr lang="en-US" sz="1200" dirty="0"/>
          </a:p>
        </p:txBody>
      </p:sp>
      <p:sp>
        <p:nvSpPr>
          <p:cNvPr id="18" name="Shape 16"/>
          <p:cNvSpPr/>
          <p:nvPr/>
        </p:nvSpPr>
        <p:spPr>
          <a:xfrm>
            <a:off x="502920" y="3813048"/>
            <a:ext cx="329184" cy="329184"/>
          </a:xfrm>
          <a:prstGeom prst="rect">
            <a:avLst/>
          </a:prstGeom>
          <a:solidFill>
            <a:srgbClr val="0F7173"/>
          </a:solidFill>
          <a:ln w="12700">
            <a:solidFill>
              <a:srgbClr val="0F7173"/>
            </a:solidFill>
            <a:prstDash val="solid"/>
          </a:ln>
        </p:spPr>
      </p:sp>
      <p:sp>
        <p:nvSpPr>
          <p:cNvPr id="19" name="Text 17"/>
          <p:cNvSpPr/>
          <p:nvPr/>
        </p:nvSpPr>
        <p:spPr>
          <a:xfrm>
            <a:off x="502920" y="3813048"/>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05</a:t>
            </a:r>
            <a:endParaRPr lang="en-US" sz="1000" dirty="0"/>
          </a:p>
        </p:txBody>
      </p:sp>
      <p:sp>
        <p:nvSpPr>
          <p:cNvPr id="20" name="Text 18"/>
          <p:cNvSpPr/>
          <p:nvPr/>
        </p:nvSpPr>
        <p:spPr>
          <a:xfrm>
            <a:off x="960120" y="3858768"/>
            <a:ext cx="7315200" cy="274320"/>
          </a:xfrm>
          <a:prstGeom prst="rect">
            <a:avLst/>
          </a:prstGeom>
          <a:noFill/>
          <a:ln/>
        </p:spPr>
        <p:txBody>
          <a:bodyPr wrap="square" lIns="0" tIns="0" rIns="0" bIns="0" rtlCol="0" anchor="ctr"/>
          <a:lstStyle/>
          <a:p>
            <a:pPr indent="0" marL="0">
              <a:buNone/>
            </a:pPr>
            <a:r>
              <a:rPr lang="en-US" sz="1200" dirty="0">
                <a:solidFill>
                  <a:srgbClr val="D0DDE8"/>
                </a:solidFill>
                <a:latin typeface="Calibri" pitchFamily="34" charset="0"/>
                <a:ea typeface="Calibri" pitchFamily="34" charset="-122"/>
                <a:cs typeface="Calibri" pitchFamily="34" charset="-120"/>
              </a:rPr>
              <a:t>Write training pairs per workpaper type → vary client_type → dedup → export JSONL</a:t>
            </a:r>
            <a:endParaRPr lang="en-US" sz="1200" dirty="0"/>
          </a:p>
        </p:txBody>
      </p:sp>
      <p:sp>
        <p:nvSpPr>
          <p:cNvPr id="21" name="Shape 19"/>
          <p:cNvSpPr/>
          <p:nvPr/>
        </p:nvSpPr>
        <p:spPr>
          <a:xfrm>
            <a:off x="502920" y="4251960"/>
            <a:ext cx="329184" cy="329184"/>
          </a:xfrm>
          <a:prstGeom prst="rect">
            <a:avLst/>
          </a:prstGeom>
          <a:solidFill>
            <a:srgbClr val="0F7173"/>
          </a:solidFill>
          <a:ln w="12700">
            <a:solidFill>
              <a:srgbClr val="0F7173"/>
            </a:solidFill>
            <a:prstDash val="solid"/>
          </a:ln>
        </p:spPr>
      </p:sp>
      <p:sp>
        <p:nvSpPr>
          <p:cNvPr id="22" name="Text 20"/>
          <p:cNvSpPr/>
          <p:nvPr/>
        </p:nvSpPr>
        <p:spPr>
          <a:xfrm>
            <a:off x="502920" y="4251960"/>
            <a:ext cx="329184" cy="329184"/>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06</a:t>
            </a:r>
            <a:endParaRPr lang="en-US" sz="1000" dirty="0"/>
          </a:p>
        </p:txBody>
      </p:sp>
      <p:sp>
        <p:nvSpPr>
          <p:cNvPr id="23" name="Text 21"/>
          <p:cNvSpPr/>
          <p:nvPr/>
        </p:nvSpPr>
        <p:spPr>
          <a:xfrm>
            <a:off x="960120" y="4297680"/>
            <a:ext cx="7315200" cy="274320"/>
          </a:xfrm>
          <a:prstGeom prst="rect">
            <a:avLst/>
          </a:prstGeom>
          <a:noFill/>
          <a:ln/>
        </p:spPr>
        <p:txBody>
          <a:bodyPr wrap="square" lIns="0" tIns="0" rIns="0" bIns="0" rtlCol="0" anchor="ctr"/>
          <a:lstStyle/>
          <a:p>
            <a:pPr indent="0" marL="0">
              <a:buNone/>
            </a:pPr>
            <a:r>
              <a:rPr lang="en-US" sz="1200" dirty="0">
                <a:solidFill>
                  <a:srgbClr val="D0DDE8"/>
                </a:solidFill>
                <a:latin typeface="Calibri" pitchFamily="34" charset="0"/>
                <a:ea typeface="Calibri" pitchFamily="34" charset="-122"/>
                <a:cs typeface="Calibri" pitchFamily="34" charset="-120"/>
              </a:rPr>
              <a:t>Fine-tune Stage 2 (domain) → evaluate → fine-tune Stage 3 (firm-specific)</a:t>
            </a:r>
            <a:endParaRPr lang="en-US" sz="1200" dirty="0"/>
          </a:p>
        </p:txBody>
      </p:sp>
      <p:sp>
        <p:nvSpPr>
          <p:cNvPr id="24" name="Text 22"/>
          <p:cNvSpPr/>
          <p:nvPr/>
        </p:nvSpPr>
        <p:spPr>
          <a:xfrm>
            <a:off x="502920" y="4800600"/>
            <a:ext cx="8229600" cy="201168"/>
          </a:xfrm>
          <a:prstGeom prst="rect">
            <a:avLst/>
          </a:prstGeom>
          <a:noFill/>
          <a:ln/>
        </p:spPr>
        <p:txBody>
          <a:bodyPr wrap="square" lIns="0" tIns="0" rIns="0" bIns="0" rtlCol="0" anchor="ctr"/>
          <a:lstStyle/>
          <a:p>
            <a:pPr indent="0" marL="0">
              <a:buNone/>
            </a:pPr>
            <a:r>
              <a:rPr lang="en-US" sz="900" dirty="0">
                <a:solidFill>
                  <a:srgbClr val="506070"/>
                </a:solidFill>
                <a:latin typeface="Calibri" pitchFamily="34" charset="0"/>
                <a:ea typeface="Calibri" pitchFamily="34" charset="-122"/>
                <a:cs typeface="Calibri" pitchFamily="34" charset="-120"/>
              </a:rPr>
              <a:t>Harshwal &amp; Company LLP  ·  AuditAI Engineering Reference  ·  Internal &amp; 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AuditAI — Engineering Pre-Flight Benchmark</dc:title>
  <dc:subject>PptxGenJS Presentation</dc:subject>
  <dc:creator>Harshwal &amp; Company LLP</dc:creator>
  <cp:lastModifiedBy>Harshwal &amp; Company LLP</cp:lastModifiedBy>
  <cp:revision>1</cp:revision>
  <dcterms:created xsi:type="dcterms:W3CDTF">2026-05-06T04:40:55Z</dcterms:created>
  <dcterms:modified xsi:type="dcterms:W3CDTF">2026-05-06T04:40:55Z</dcterms:modified>
</cp:coreProperties>
</file>